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3"/>
    <p:sldMasterId id="2147483840" r:id="rId4"/>
  </p:sldMasterIdLst>
  <p:notesMasterIdLst>
    <p:notesMasterId r:id="rId107"/>
  </p:notesMasterIdLst>
  <p:sldIdLst>
    <p:sldId id="264" r:id="rId5"/>
    <p:sldId id="265" r:id="rId6"/>
    <p:sldId id="266" r:id="rId7"/>
    <p:sldId id="267" r:id="rId8"/>
    <p:sldId id="268" r:id="rId9"/>
    <p:sldId id="269" r:id="rId10"/>
    <p:sldId id="270" r:id="rId11"/>
    <p:sldId id="398" r:id="rId12"/>
    <p:sldId id="372" r:id="rId13"/>
    <p:sldId id="311" r:id="rId14"/>
    <p:sldId id="312" r:id="rId15"/>
    <p:sldId id="273" r:id="rId16"/>
    <p:sldId id="318" r:id="rId17"/>
    <p:sldId id="319" r:id="rId18"/>
    <p:sldId id="320" r:id="rId19"/>
    <p:sldId id="321" r:id="rId20"/>
    <p:sldId id="323" r:id="rId21"/>
    <p:sldId id="322" r:id="rId22"/>
    <p:sldId id="399" r:id="rId23"/>
    <p:sldId id="373" r:id="rId24"/>
    <p:sldId id="403" r:id="rId25"/>
    <p:sldId id="404" r:id="rId26"/>
    <p:sldId id="402" r:id="rId27"/>
    <p:sldId id="401" r:id="rId28"/>
    <p:sldId id="375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3" r:id="rId40"/>
    <p:sldId id="297" r:id="rId41"/>
    <p:sldId id="294" r:id="rId42"/>
    <p:sldId id="291" r:id="rId43"/>
    <p:sldId id="295" r:id="rId44"/>
    <p:sldId id="296" r:id="rId45"/>
    <p:sldId id="299" r:id="rId46"/>
    <p:sldId id="298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24" r:id="rId57"/>
    <p:sldId id="325" r:id="rId58"/>
    <p:sldId id="326" r:id="rId59"/>
    <p:sldId id="409" r:id="rId60"/>
    <p:sldId id="327" r:id="rId61"/>
    <p:sldId id="328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6" r:id="rId70"/>
    <p:sldId id="337" r:id="rId71"/>
    <p:sldId id="338" r:id="rId72"/>
    <p:sldId id="339" r:id="rId73"/>
    <p:sldId id="340" r:id="rId74"/>
    <p:sldId id="341" r:id="rId75"/>
    <p:sldId id="342" r:id="rId76"/>
    <p:sldId id="377" r:id="rId77"/>
    <p:sldId id="343" r:id="rId78"/>
    <p:sldId id="344" r:id="rId79"/>
    <p:sldId id="347" r:id="rId80"/>
    <p:sldId id="345" r:id="rId81"/>
    <p:sldId id="346" r:id="rId82"/>
    <p:sldId id="348" r:id="rId83"/>
    <p:sldId id="349" r:id="rId84"/>
    <p:sldId id="350" r:id="rId85"/>
    <p:sldId id="351" r:id="rId86"/>
    <p:sldId id="352" r:id="rId87"/>
    <p:sldId id="354" r:id="rId88"/>
    <p:sldId id="355" r:id="rId89"/>
    <p:sldId id="405" r:id="rId90"/>
    <p:sldId id="356" r:id="rId91"/>
    <p:sldId id="357" r:id="rId92"/>
    <p:sldId id="358" r:id="rId93"/>
    <p:sldId id="406" r:id="rId94"/>
    <p:sldId id="407" r:id="rId95"/>
    <p:sldId id="362" r:id="rId96"/>
    <p:sldId id="408" r:id="rId97"/>
    <p:sldId id="364" r:id="rId98"/>
    <p:sldId id="365" r:id="rId99"/>
    <p:sldId id="367" r:id="rId100"/>
    <p:sldId id="366" r:id="rId101"/>
    <p:sldId id="368" r:id="rId102"/>
    <p:sldId id="369" r:id="rId103"/>
    <p:sldId id="370" r:id="rId104"/>
    <p:sldId id="371" r:id="rId105"/>
    <p:sldId id="378" r:id="rId10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53325"/>
    <a:srgbClr val="A23847"/>
    <a:srgbClr val="A41304"/>
    <a:srgbClr val="6F2731"/>
    <a:srgbClr val="9D3D88"/>
    <a:srgbClr val="4B0096"/>
    <a:srgbClr val="6C2A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92832" autoAdjust="0"/>
  </p:normalViewPr>
  <p:slideViewPr>
    <p:cSldViewPr>
      <p:cViewPr>
        <p:scale>
          <a:sx n="60" d="100"/>
          <a:sy n="60" d="100"/>
        </p:scale>
        <p:origin x="1412" y="-1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presProps" Target="pres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viewProps" Target="view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1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8CE8DDD9-673C-5064-386B-F28BB3E986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AB84364-CF20-0995-E99C-6AB43DC4A78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1815194-5620-4098-9974-F14B03700635}" type="datetimeFigureOut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FD3CE561-B00D-104D-1DAD-CC627D6EC802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441DD35C-0D5E-7DA0-CABE-B2B3A734550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736C2048-8950-8762-BF91-2C90D0E0D53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B06182B3-3F45-2776-188F-6D3A9FF6C3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/>
            </a:lvl1pPr>
          </a:lstStyle>
          <a:p>
            <a:pPr>
              <a:defRPr/>
            </a:pPr>
            <a:fld id="{5ECF8018-26DD-474D-9457-2AD806FAAE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5D5F72D-F859-D273-637F-4FF183BD3FF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80FA298-2AFB-4B9A-1C81-FE0930A9A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7202318-032E-CA89-3E00-D742B4A7636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5E97074-294D-4ADA-7EDD-603AD9578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A8237C4-F04B-7AB2-8575-4E109A7E9BA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5B25ACE-661B-374F-D0CB-0E4C20C284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B18487E-F470-48F2-CC6D-937AC7BE353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58F7B3B-FAFD-E595-C87C-5A6EAEAF00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244B99B-6E9D-9CD6-0D92-A119E953D58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8A13551-3CC3-71A5-DD20-23EC0F1419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192DA14-F54D-54D3-E2BC-61FF6AEA530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7B914F5-3D49-12DB-7876-F90DB106B5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CE6D34C-93C4-266C-C6BC-A62A83B634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12BD310-7A66-BFEF-C9A1-6C5DE98C7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8D62A8E-6E08-3F8A-E580-084D33FCF05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EC79021-A1F2-762D-3F18-134D92C6BB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C9E23C1-A7B0-601D-BDD5-8A97C995172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DEBD7A9-B2D3-710C-6E59-EF4732A96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0E4593C-9706-C949-7A9F-E877307055E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4B16DCF-5B3B-25AC-42F7-46CE4C5DAE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997A6A6-E1BE-BA7E-A8D7-A684E1123F8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7331F9B-2494-285B-A0D4-9AFA522EB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CD8203A-B237-7488-3057-B0B4C98DF6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83142F7-DE37-F35E-F318-FC817560A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A52CBA7-4E08-9F01-C9D5-487EE237300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CD1EEA1B-ED04-FDA6-E63F-54F326F29D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933D6D5-3936-68A7-3947-61BB767A7F0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8A14A2A-5D07-D563-C5C4-7BFA67F0F5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A4D4656-31BD-08EF-B0B3-D9084D2C955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D2FCC57-3BC5-988F-52A3-9D089269A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C833A13-F74A-C8B9-03CE-73347B7BA64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D52EC8A-FE46-42E3-308D-6C6915344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5D0F671-B846-5CD7-FB07-DC500C5550C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A90238D-105A-1ABC-C3A6-98AFC68C2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8D5ECB3-1B79-35C5-E01F-73FE4E177C3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70EAF62-5077-979B-119C-25A7D460F1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6E7E7EB-214E-5E73-1D9E-BFFD1EDDD76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B203DDE-555C-25A3-C489-0BE4C7A3AF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6FCC8E54-0468-595B-8F13-4698BC00C6D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D44FEF9-8CEF-6327-9A40-C9AED4CE9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11DDE369-BD58-EC4F-9100-CA22FF54152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CC02356-542F-558B-E09F-7092E55E1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ACB140E5-6067-3884-C81F-14823B62458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023F619B-FDE4-E6D5-9FFA-EFF73DD3F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53FD413F-E5C9-1CCF-4F37-45C74B78A5F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F51389A-DA47-474F-70DA-E13725287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BFD581E-0F42-BB62-A9F1-CDFEBBF4561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32A9062-F31E-B469-565A-D67E8D11E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0F03B6B-168C-2A44-8534-B8F247AB51B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9024DB1-37AE-EB91-1C1D-4F706A878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43E2B143-EC06-F429-ECFA-CF6DFBA55F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741996D9-FCAA-4D96-93FC-15C0743478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3E1D81F-171D-B0DF-E301-013D43C0C3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56338CC8-2D83-B399-5F94-D596B5EA9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22D3DC4-BE73-A5C4-2AE7-E055EC568FE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58B5CADE-11C5-90DC-6EED-9A0442010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28B07571-C309-8BA9-8E11-B9189BE30A7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D7C9FA1F-ADE4-4A61-448A-7EABD47028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DD67AD9E-BA9E-FEAE-7564-AB3A3FFD0A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0E8FCC0-9E7D-9DDB-22AB-500A420F3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494A1873-314E-86FB-F1EF-A61C12973C1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65E952B-827C-14CB-5B03-F5DE049A16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1EE6391-AB32-5A48-725E-EBF85E34D47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070D158C-B02D-FACB-96EF-BDC3C9126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C27BF78B-1A20-3188-6C06-B1B4B7E7BA3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273CC9F5-6895-4CDE-8D0A-5ADABA0314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D84712C4-2D1B-DA3D-4C96-12259813742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3E40866-A9D1-2DF0-6A8D-2C6705642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4C0838AA-7980-619E-49F5-3F5E5EA9C72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FFD2FF62-A17D-4B2E-9954-98385B6EE1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C48C4CAE-C52C-EBE4-1FAF-DD460521BF5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9E3343-94A0-0523-6013-D6725FC78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5A57F99C-45DE-DD8B-AC4B-ABD50B8EA9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0519A30-AFB7-CAF9-7BED-D202D53D05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50AF687-429F-CC46-4524-C0E2A837380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87B5B31-D7D1-6E35-B59F-57DC89B3B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FDE80610-B146-665F-F690-83FE89B9B39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0D0D2CCE-BE32-D150-3086-18CCCFC5F9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CE4AD8C-4CAD-9801-CA57-ABB2E35BBD2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E46F506-57BC-EA69-24C1-8C41F6466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2285F0F6-7AC1-1670-2C45-E76C5AF75B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7E76791B-9ABA-20B2-A6C7-2691C78001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619106E9-5310-9D51-F054-BA4E0EB2297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3831FEB-FC88-B1DE-A7A3-09E6D6F6AA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A01D30A2-39AF-BC0F-0D57-71D37034594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67E024A5-9E5B-9244-7687-072A8F80D9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47E64965-0193-EC1D-4D0E-4455BC99CE2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A0DAFE96-6C5E-70DC-5AC9-E2A8ADB4E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1BE0BEEE-0D22-A680-BA9B-2BA108CC51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349946A0-B180-771A-BB45-A0C8FA9BF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374CCC59-4A70-ECF0-7B6E-C1C2F6AB473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004DBBA9-97D0-EF58-8112-CDCCEF7E80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222F9470-6DBB-05C6-6FCD-2DB49B2BDC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2A8B9FD-25EF-5A8D-8808-200258E85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75744B0B-CC7C-0EFB-ECFF-B535DFD8F8A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3D6B5BD4-444C-439E-C755-66ED9E688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433B7793-8FB1-B264-2351-0A60CFC2A68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F39935D5-FBAB-3115-66EC-136FEDD33E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A56A8D2F-21E7-BBC3-AF03-D2E0860C4AD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70716198-8B42-68F8-167E-07CFBAF301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A850C507-86DC-868E-4BA8-FD64CC84DA2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BE937D3C-C79D-0217-0F49-AE4697175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8C6113C-8265-8FCF-B14F-DEBB6B3BB4A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69C16C18-0D57-02B4-86CE-2B448632AA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B49705D4-64C8-DD4F-A55D-9476EFFA8FC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43491F76-6DA8-1A25-6B69-6F9BB872D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E7C3F1EA-4DCF-E28A-90C7-C1F2FA7455A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6086F611-DF3F-652A-CC55-F367F95DD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ADD2448F-5906-2867-450B-77DF36896B0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F2558C81-4178-5F53-9831-045FD44733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E16474AF-85F0-A10C-D525-A64C6E42DD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655681A4-8921-D0DD-2AB5-D568AD203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4D8AF827-2227-4B9A-2ECA-58E313D0B3B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48A2FD6-37A0-C3D6-A1FE-AF5246CFC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EF470F7D-F177-D723-E38E-4FCAF2CEF50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92A192AE-C25F-461A-77F7-A2BC3B429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A6B15B43-8B7A-CAB9-FCCF-AAC1C354EF0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B846B7EE-0983-4F24-5700-B07A619F51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C2A8499B-5D34-DEEB-9FD3-BEA4A0803D0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095C4545-B515-55C6-E45C-05774C9B3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A2D78A09-50D6-1F87-6BCA-FFA4DA620F2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14771222-1975-1A50-7CA3-EBD680836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B85D6D3B-DE22-4D50-5A25-4028003F74A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336CFE5E-446B-4925-A746-056324C41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AB25B872-92A6-8D1B-A766-A3CF05E78A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CF627850-4732-7A09-3F98-F9C2E9E3E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6E95D275-28D5-6419-B91C-CD41E6B3ACF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B19F2C8D-434B-8639-4E0B-B249288FC1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1ACA5A33-9109-6B8B-6BA7-2CDEF1054F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53648471-712F-21C3-F7FF-AD39B82DF0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6F5F11AC-7D93-2DE1-7C86-C59684EF607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AF78D76D-E95A-0876-FBF3-A071F8F622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C76A45FB-FAC8-96A7-009E-A4F9B867CA8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EF942F23-B273-162D-9B90-B0045593CD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7ED1D90C-12C1-83A8-DB4D-A7A5A34E3EA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9D5FE30F-B6F1-D48A-A06D-B28A6063B8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F408DE1A-B9BA-D0CA-8BDC-DBAD985A271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1D143CEB-5EA8-5EB2-42CD-4E36C3A9C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0A319924-A69C-9E72-86C2-55A48CFF4BA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6597609E-6E42-520E-B0E7-786B8DBDE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7B415B94-9F46-DA3B-4C52-DA5439F850C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079EAEB2-FE94-77B0-74E5-E3F7C083E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56315F09-B97F-6435-736F-5F84D221BF2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397F6C41-EFAA-12C4-DAD5-58328CFC0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23F28A6D-31FE-A815-F69C-D9C2617A539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54B49FCE-E7EC-CD04-C61E-1DB83F1F8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EA412AA7-24B0-4898-7AEE-F8DFCAB2092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1B287AA6-4F8F-3E0C-B6CE-C18D9EC047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44167B94-06B9-44CA-2478-FC60348F2ED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324ED89F-AAA0-22C2-9F54-B1499495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39228BA1-1570-80C3-409B-12C050712FD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ADC4C387-AE8B-3F18-06AF-2CF1288E48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D2F4158E-6C64-892F-210F-EC09378158B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9AFF6FC9-565A-5DDF-5A86-4083D069E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A4C24E31-9ED1-4B8C-FBE3-34102661777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FE073304-B10C-F3EA-1DB4-506651387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2EDA5549-0E22-BDA2-64A9-03493D50589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19E2E86C-EDD5-A615-8E13-0A49F0B9F4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865DEB4F-D9F3-03D1-EBD8-C540EAA1639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D29EC87E-C68F-2C24-CC1E-9DA609FCB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678B5C87-15C7-8F00-561B-784C0CBEC06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2D80512E-DDEA-DD99-0F21-8EFA5B06B9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B651ED1B-3FF7-056A-C173-9FC46B06B69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ADB5023E-2218-08BC-F74F-A5E9891B9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947AA1C0-AC35-0A28-8B00-9B6EE5D27D0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B78E739E-D92C-647F-B6D0-1D73B1BB1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86A6FC0-EFE1-E447-3D2D-A50950DDDDD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3FB3FE1A-8B68-279D-FFCC-C404B37080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A27D4E1A-7874-1F64-8481-54FD034B916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046159C5-F27A-7D20-8341-060336033A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1EB69A33-4526-F518-CFD3-9D8D11D4E11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2AA592BB-D846-F438-AA68-F2041BBEA7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72CD031C-8A73-4142-1102-8F4389CC0CF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62AEAD1C-D8DC-C353-5AB7-DD99E0F1C4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2AB006F1-DEEE-9B54-5075-A20489A5775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80AA70B9-1D09-4B06-7864-5C93EF89F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33ACDD16-06F6-D795-1571-109B33E60CE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F19C92FD-7573-25A3-764B-BAE549AB0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CC77F792-C268-C0FC-526E-4B395082337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A2240372-0DAE-5F3A-D39F-C082028F9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738F19AB-A06F-A705-E39C-658DE7BE6C8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33496C45-8FA6-1498-81B0-0D5A17133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2E220F0B-9A72-AE02-F553-7D936359019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D4D927F3-FFAF-D83B-FE28-02301DFFD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E3523C46-3C67-4238-71C1-6BE50D9B23F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B197B8AF-3FF5-28AF-2D73-D17DE32B34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B72BD026-6575-01AC-4FF7-1A4789359C7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E13CA3A3-F361-C062-74C0-46A1F8C316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7BA98712-4F6C-4774-63A5-70834332340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E3BF71CE-AFAD-5579-667C-C1A072EB8F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609BA3A3-6836-8A89-34F9-ABAAF35CEDD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1D1880D9-01D7-4822-31AE-D4122CBFD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>
            <a:extLst>
              <a:ext uri="{FF2B5EF4-FFF2-40B4-BE49-F238E27FC236}">
                <a16:creationId xmlns:a16="http://schemas.microsoft.com/office/drawing/2014/main" id="{16D771BF-6EBC-3BFF-7F61-F7703A1BBE1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7" name="Rectangle 3">
            <a:extLst>
              <a:ext uri="{FF2B5EF4-FFF2-40B4-BE49-F238E27FC236}">
                <a16:creationId xmlns:a16="http://schemas.microsoft.com/office/drawing/2014/main" id="{48A3FF03-A566-5894-36AC-27F2C09499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6565C552-ECD5-767A-C67B-7886BB801E2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53CEBB22-BEEC-14C7-00A5-BE9D3E333B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7A40C92D-CD71-890F-EF42-79E3845FD4C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3" name="Rectangle 3">
            <a:extLst>
              <a:ext uri="{FF2B5EF4-FFF2-40B4-BE49-F238E27FC236}">
                <a16:creationId xmlns:a16="http://schemas.microsoft.com/office/drawing/2014/main" id="{EC42C81F-B1F2-90AF-49BF-9040FDB0AF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>
            <a:extLst>
              <a:ext uri="{FF2B5EF4-FFF2-40B4-BE49-F238E27FC236}">
                <a16:creationId xmlns:a16="http://schemas.microsoft.com/office/drawing/2014/main" id="{49FFDE11-B8F6-64C9-7F2A-51F4927007E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>
            <a:extLst>
              <a:ext uri="{FF2B5EF4-FFF2-40B4-BE49-F238E27FC236}">
                <a16:creationId xmlns:a16="http://schemas.microsoft.com/office/drawing/2014/main" id="{146EB5E1-F598-CFCC-E657-BA6685F83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BBBFAA75-ABEE-F7AB-296C-8E7CB9B19C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D9D16A4C-3BE6-3217-F445-D55180C2DB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A20B56-EA6B-D64A-FA1F-F29627A7A251}"/>
              </a:ext>
            </a:extLst>
          </p:cNvPr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anchor="t"/>
          <a:lstStyle>
            <a:lvl1pPr algn="r">
              <a:buNone/>
              <a:defRPr sz="42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2379A1-BBA4-755E-EA36-1D53AA42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556375"/>
            <a:ext cx="2001838" cy="22701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fld id="{46A634F3-87D3-4B18-9DA2-C6939EB441F9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80FA77C-8AA6-5901-B6FB-14FFDE6C7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5138" y="6556375"/>
            <a:ext cx="2895600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29B970F-8D87-2A9B-7805-E6C82D4D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34175" y="6554788"/>
            <a:ext cx="587375" cy="2286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4FA3EEB-29EB-45AF-9F3A-BC4FE4221C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7912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0E7231B-9E9F-C3A6-57EE-25CF1CBB3A55}"/>
              </a:ext>
            </a:extLst>
          </p:cNvPr>
          <p:cNvSpPr/>
          <p:nvPr/>
        </p:nvSpPr>
        <p:spPr>
          <a:xfrm rot="21240000">
            <a:off x="598488" y="1004888"/>
            <a:ext cx="4319587" cy="431165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C32EF2-02DD-EBF0-F12A-3847136CBF09}"/>
              </a:ext>
            </a:extLst>
          </p:cNvPr>
          <p:cNvSpPr/>
          <p:nvPr/>
        </p:nvSpPr>
        <p:spPr>
          <a:xfrm rot="21420000">
            <a:off x="596900" y="998538"/>
            <a:ext cx="4319588" cy="4313237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lIns="82296" tIns="0" rIns="0" bIns="0" spcCol="0" rtlCol="0" fromWordArt="0" forceAA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3EE86E38-936B-C795-696C-CE4B28B5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46563" y="6557963"/>
            <a:ext cx="2001837" cy="227012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0DA8C1F-BD7B-4D01-88E9-1670718FC6D4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A8BF4CB-BC29-2FBC-C933-15CF18F9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557963"/>
            <a:ext cx="3657600" cy="228600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F64A908-4A11-0374-8205-DD6D3AD77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51575" y="6556375"/>
            <a:ext cx="588963" cy="2286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658CC37-EC72-4EC1-9DF3-71AB0BEB65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6078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7B9A71-37C5-0B7B-11EA-636B42772C3C}"/>
              </a:ext>
            </a:extLst>
          </p:cNvPr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AACF4FC-195B-90CA-911A-F8D6656DD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C29EAAA-82EC-4A72-B8E1-1F28B398D652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2DB49DB-4747-2266-162B-A853231B7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CF42EAF-0254-19B8-3533-05D47835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828AC05-4DA1-4154-96AC-F47986E04D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6307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4213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6356F-6BA0-6195-A289-AAD49A9FA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5E4BB-7DF4-4888-9994-DC1840F451ED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3914-AE01-0CB2-E8CE-298DE76C7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094DC-8BD8-BB41-3C71-E69B2813C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9EF53-910B-4C50-BE48-4F72F2FF92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106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E952F-8122-B9C9-2769-E7D15F89B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2FCA66-8533-43B6-8C44-B75652DE34FE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068CE-C759-C2DA-E20D-E2EED2A4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58FDC-ED7D-3230-C4C3-6241910A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A74076-E4F9-4002-9131-0C0EFB2FD0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5693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5DE1F-C761-C6F5-46DE-168BFCD95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E2EEB-EDC5-4A2B-8D5C-708203185846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6488A-F605-D6C1-5B6B-FD114061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DC180-37DD-26FE-F8BD-B0C99355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58E78E-9F03-40FC-9A83-A5536555AC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216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D93BD50-E56A-7F79-B4AE-985A9BF4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ED8E8-6ACF-40FB-B497-FDAFCAB03E12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4E581A7-1C36-E46B-BE57-C1CFA432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276D20-2D67-9BCD-F76E-2DD3A208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30E70-445F-45FE-97E6-EC3BE75090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647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4AC18DD-8A86-879E-ADA4-BC4E6681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95E6B5-4BFD-45A9-A6C1-20D104415781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266AAD-90B3-999D-E56A-276E0C27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F677A5D-A3AB-F63A-4FBF-F81BB5E3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44A892-D39A-435C-825F-4F36E9A209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413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048C80F-ACBE-F8A4-51A4-EAF8994D1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531CA-4BC9-4FF7-B30A-D6FC56DD2FE5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10492A-313F-2CBF-B5CB-078D5E5D6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1CBB8E5-C93A-78CF-ACC5-5790501B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27E42-5A7B-4BD5-A7DE-C075DFE4BC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298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F98D4B9-7984-7ABC-6710-59F853BB9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787C2-E636-47EF-839C-7EC07FEA74B2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80156E2-E065-607C-7A25-8233E793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9B03F7E-BA91-5F4C-4D01-B4F08DB2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41A5D-8233-4D66-8FAD-9310DD8796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4234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467732-2842-0E77-BF4A-0573224C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42F44-A826-4167-B881-60F68425A97D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CA2731E-5A0B-234D-BBAA-0383A333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10A82E6-DC5E-BB01-3181-A1B67FD1A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06957-BE9A-44D6-9F62-6ADCC6F21E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5242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FDFFA7-008A-71D7-059A-DB6D1063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A62BF-6038-4354-91B9-ADBE8A1CD725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44B4AC-6169-164A-0EA4-5AD466D76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820F31-A8B3-BDF5-F54C-5E86D5A1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1D2B4-9F86-4781-B173-2C3D5EABD7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67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733CD-422C-7798-7DC3-FBD08A422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03A2A-7489-47B0-9221-BB01F9840893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C33F5-81F2-FCD3-CBAA-32DE2F35B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13FA5-89C2-B905-BB64-C60C6B2A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CE1F6-12EE-4A10-8740-5F5CC92798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644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2CDA1-5539-F602-E27E-F12799AE5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4810-1CFE-4FB9-A176-169F00B28332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7C70D-BFC3-66C3-EF58-A1B57086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18620-2321-B084-8922-4D34687F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5633B-805A-4194-8698-8F6795F71A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470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9A93EE8-48B8-3015-E61A-854FB6A5A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7" name="Text Placeholder 30">
            <a:extLst>
              <a:ext uri="{FF2B5EF4-FFF2-40B4-BE49-F238E27FC236}">
                <a16:creationId xmlns:a16="http://schemas.microsoft.com/office/drawing/2014/main" id="{E7EE22C3-5AFA-F0D5-36D2-CF86546E30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9725"/>
            <a:ext cx="7239000" cy="484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9676E05-044C-0E24-1D63-D41F896EB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97463" y="6557963"/>
            <a:ext cx="2001837" cy="227012"/>
          </a:xfrm>
          <a:prstGeom prst="rect">
            <a:avLst/>
          </a:prstGeom>
        </p:spPr>
        <p:txBody>
          <a:bodyPr vert="horz" tIns="0" bIns="0" anchor="b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2D2F9003-0FA8-4B30-9559-A272F7424C04}" type="datetime1">
              <a:rPr lang="en-US"/>
              <a:pPr>
                <a:defRPr/>
              </a:pPr>
              <a:t>10/18/2025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A10B2E1-5F34-D1E2-0D68-592472651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53200"/>
            <a:ext cx="4419600" cy="231775"/>
          </a:xfrm>
          <a:prstGeom prst="rect">
            <a:avLst/>
          </a:prstGeom>
        </p:spPr>
        <p:txBody>
          <a:bodyPr vert="horz" tIns="0" bIns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2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EF22B92-4153-91BB-311D-750977F6A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8825" y="6553200"/>
            <a:ext cx="587375" cy="228600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1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B54E4FD-3605-41B2-B4C4-A7629CE239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5" r:id="rId1"/>
    <p:sldLayoutId id="2147484286" r:id="rId2"/>
    <p:sldLayoutId id="2147484287" r:id="rId3"/>
    <p:sldLayoutId id="2147484288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 kern="1200" cap="all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latin typeface="Arial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Trebuchet MS" pitchFamily="34" charset="0"/>
        </a:defRPr>
      </a:lvl9pPr>
      <a:extLst/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SzPct val="73000"/>
        <a:buFont typeface="Wingdings 2" panose="05020102010507070707" pitchFamily="18" charset="2"/>
        <a:buChar char=""/>
        <a:defRPr sz="26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520700" indent="-228600" algn="l" rtl="0" eaLnBrk="0" fontAlgn="base" hangingPunct="0">
        <a:spcBef>
          <a:spcPts val="500"/>
        </a:spcBef>
        <a:spcAft>
          <a:spcPct val="0"/>
        </a:spcAft>
        <a:buClr>
          <a:srgbClr val="F9B639"/>
        </a:buClr>
        <a:buSzPct val="80000"/>
        <a:buFont typeface="Wingdings 2" panose="05020102010507070707" pitchFamily="18" charset="2"/>
        <a:buChar char=""/>
        <a:defRPr sz="2300" kern="1200">
          <a:solidFill>
            <a:srgbClr val="6C6C6C"/>
          </a:solidFill>
          <a:latin typeface="Arial" pitchFamily="34" charset="0"/>
          <a:ea typeface="+mn-ea"/>
          <a:cs typeface="+mn-cs"/>
        </a:defRPr>
      </a:lvl2pPr>
      <a:lvl3pPr marL="758825" indent="-228600" algn="l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004888" indent="-228600" algn="l" rtl="0" eaLnBrk="0" fontAlgn="base" hangingPunct="0">
        <a:spcBef>
          <a:spcPct val="20000"/>
        </a:spcBef>
        <a:spcAft>
          <a:spcPct val="0"/>
        </a:spcAft>
        <a:buClr>
          <a:srgbClr val="F9B639"/>
        </a:buClr>
        <a:buSzPct val="80000"/>
        <a:buFont typeface="Wingdings 2" panose="05020102010507070707" pitchFamily="18" charset="2"/>
        <a:buChar char=""/>
        <a:defRPr sz="2000" kern="1200">
          <a:solidFill>
            <a:srgbClr val="6C6C6C"/>
          </a:solidFill>
          <a:latin typeface="Arial" pitchFamily="34" charset="0"/>
          <a:ea typeface="+mn-ea"/>
          <a:cs typeface="+mn-cs"/>
        </a:defRPr>
      </a:lvl4pPr>
      <a:lvl5pPr marL="1279525" indent="-228600" algn="l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anose="05000000000000000000" pitchFamily="2" charset="2"/>
        <a:buChar char="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796894B4-3CD6-8926-B649-7700A3E1115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F24747B5-5FE4-CAD5-EFCA-01E31B9461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FA1E-E274-DE3F-DA73-97A8A0BA8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15B9685-6212-459A-B69D-84B0B034607E}" type="datetime1">
              <a:rPr lang="en-US"/>
              <a:pPr>
                <a:defRPr/>
              </a:pPr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F19F6-A0A0-C423-B0B8-B7814068E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2566A-F2E4-E90D-A3F4-3A77C737C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2E83FE3-8934-4AA5-891F-7857131635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4" r:id="rId1"/>
    <p:sldLayoutId id="2147484275" r:id="rId2"/>
    <p:sldLayoutId id="2147484276" r:id="rId3"/>
    <p:sldLayoutId id="2147484277" r:id="rId4"/>
    <p:sldLayoutId id="2147484278" r:id="rId5"/>
    <p:sldLayoutId id="2147484279" r:id="rId6"/>
    <p:sldLayoutId id="2147484280" r:id="rId7"/>
    <p:sldLayoutId id="2147484281" r:id="rId8"/>
    <p:sldLayoutId id="2147484282" r:id="rId9"/>
    <p:sldLayoutId id="2147484283" r:id="rId10"/>
    <p:sldLayoutId id="2147484284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170D7E6C-7B00-E1B2-3A1D-53DEF1015DA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 bwMode="auto">
          <a:xfrm>
            <a:off x="685800" y="2130425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z="50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Sorting</a:t>
            </a:r>
          </a:p>
        </p:txBody>
      </p:sp>
      <p:sp>
        <p:nvSpPr>
          <p:cNvPr id="8195" name="Rectangle 5">
            <a:extLst>
              <a:ext uri="{FF2B5EF4-FFF2-40B4-BE49-F238E27FC236}">
                <a16:creationId xmlns:a16="http://schemas.microsoft.com/office/drawing/2014/main" id="{EE3C45A7-4E47-C5F1-5C34-FC7679DEDDE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marL="0" indent="0" algn="ctr">
              <a:buFont typeface="Wingdings 2" panose="05020102010507070707" pitchFamily="18" charset="2"/>
              <a:buNone/>
            </a:pPr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D9029-1916-F2D1-134E-16409CD64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  <a:endParaRPr lang="en-US" dirty="0"/>
          </a:p>
        </p:txBody>
      </p:sp>
      <p:sp>
        <p:nvSpPr>
          <p:cNvPr id="8197" name="Slide Number Placeholder 4">
            <a:extLst>
              <a:ext uri="{FF2B5EF4-FFF2-40B4-BE49-F238E27FC236}">
                <a16:creationId xmlns:a16="http://schemas.microsoft.com/office/drawing/2014/main" id="{DAFEBB68-D905-BF80-3CDA-86FDEE2FB6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7E5471-078D-4AAC-95D4-769339BEB56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4C529B7-D06B-C634-5649-3E12973A282D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DD08195-4CE9-2B22-E483-835BC1A919DC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>
                <a:latin typeface="Trebuchet MS" panose="020B0603020202020204" pitchFamily="34" charset="0"/>
              </a:rPr>
              <a:t>Sorting is the process of ordering a list of objects, according to some linear order, such as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 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 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 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 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5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 </a:t>
            </a:r>
            <a:r>
              <a:rPr lang="en-US" altLang="en-US" sz="2000" i="1">
                <a:latin typeface="Trebuchet MS" panose="020B0603020202020204" pitchFamily="34" charset="0"/>
                <a:sym typeface="Symbol" panose="05050102010706020507" pitchFamily="18" charset="2"/>
              </a:rPr>
              <a:t>a</a:t>
            </a:r>
            <a:r>
              <a:rPr lang="en-US" altLang="en-US" sz="2000" baseline="-25000">
                <a:latin typeface="Trebuchet MS" panose="020B0603020202020204" pitchFamily="34" charset="0"/>
                <a:sym typeface="Symbol" panose="05050102010706020507" pitchFamily="18" charset="2"/>
              </a:rPr>
              <a:t>6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80000"/>
              </a:lnSpc>
            </a:pPr>
            <a:endParaRPr lang="en-US" altLang="en-US" sz="2000">
              <a:latin typeface="Trebuchet MS" panose="020B0603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Sorting can be divided into two parts i.e. 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>
                <a:latin typeface="Trebuchet MS" panose="020B0603020202020204" pitchFamily="34" charset="0"/>
                <a:sym typeface="Symbol" panose="05050102010706020507" pitchFamily="18" charset="2"/>
              </a:rPr>
              <a:t>Internal, </a:t>
            </a: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and </a:t>
            </a:r>
          </a:p>
          <a:p>
            <a:pPr lvl="1">
              <a:lnSpc>
                <a:spcPct val="80000"/>
              </a:lnSpc>
            </a:pPr>
            <a:r>
              <a:rPr lang="en-US" altLang="en-US" sz="1800" b="1">
                <a:latin typeface="Trebuchet MS" panose="020B0603020202020204" pitchFamily="34" charset="0"/>
                <a:sym typeface="Symbol" panose="05050102010706020507" pitchFamily="18" charset="2"/>
              </a:rPr>
              <a:t>external</a:t>
            </a: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80000"/>
              </a:lnSpc>
            </a:pPr>
            <a:endParaRPr lang="en-US" altLang="en-US" sz="2000">
              <a:latin typeface="Trebuchet MS" panose="020B0603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</a:pPr>
            <a:r>
              <a:rPr lang="en-US" altLang="en-US" sz="2000" b="1">
                <a:latin typeface="Trebuchet MS" panose="020B0603020202020204" pitchFamily="34" charset="0"/>
                <a:sym typeface="Symbol" panose="05050102010706020507" pitchFamily="18" charset="2"/>
              </a:rPr>
              <a:t>Internal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sorting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When all the data is stored in the main memory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The random access nature of the memory can be utilized</a:t>
            </a:r>
          </a:p>
          <a:p>
            <a:pPr>
              <a:lnSpc>
                <a:spcPct val="80000"/>
              </a:lnSpc>
            </a:pPr>
            <a:r>
              <a:rPr lang="en-US" altLang="en-US" sz="2000" b="1">
                <a:latin typeface="Trebuchet MS" panose="020B0603020202020204" pitchFamily="34" charset="0"/>
                <a:sym typeface="Symbol" panose="05050102010706020507" pitchFamily="18" charset="2"/>
              </a:rPr>
              <a:t>External</a:t>
            </a:r>
            <a:r>
              <a:rPr lang="en-US" altLang="en-US" sz="2000">
                <a:latin typeface="Trebuchet MS" panose="020B0603020202020204" pitchFamily="34" charset="0"/>
                <a:sym typeface="Symbol" panose="05050102010706020507" pitchFamily="18" charset="2"/>
              </a:rPr>
              <a:t> sorting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When the size of data too large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The main memory cannot accommodate all the data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Trebuchet MS" panose="020B0603020202020204" pitchFamily="34" charset="0"/>
                <a:sym typeface="Symbol" panose="05050102010706020507" pitchFamily="18" charset="2"/>
              </a:rPr>
              <a:t>Virtual memory (swapping the data in/out of the memory) is thus used</a:t>
            </a:r>
            <a:endParaRPr lang="en-US" altLang="en-US" sz="18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D090B-1E81-061F-81E3-3764582C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F61172E0-2AEC-BC67-6034-45A89C2621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A25F17-0427-45BD-A4B7-E71FAB66FC07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92292C5-023B-CB69-2842-8B6A62B5CF7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72CF2E0-45A3-5F3D-443D-45DC94B85CCA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b="1">
                <a:latin typeface="Trebuchet MS" panose="020B0603020202020204" pitchFamily="34" charset="0"/>
                <a:sym typeface="Symbol" panose="05050102010706020507" pitchFamily="18" charset="2"/>
              </a:rPr>
              <a:t>External</a:t>
            </a:r>
            <a:r>
              <a:rPr lang="en-US" altLang="en-US">
                <a:latin typeface="Trebuchet MS" panose="020B0603020202020204" pitchFamily="34" charset="0"/>
                <a:sym typeface="Symbol" panose="05050102010706020507" pitchFamily="18" charset="2"/>
              </a:rPr>
              <a:t> sorting</a:t>
            </a:r>
          </a:p>
          <a:p>
            <a:pPr lvl="1"/>
            <a:r>
              <a:rPr lang="en-US" altLang="en-US">
                <a:latin typeface="Trebuchet MS" panose="020B0603020202020204" pitchFamily="34" charset="0"/>
                <a:sym typeface="Symbol" panose="05050102010706020507" pitchFamily="18" charset="2"/>
              </a:rPr>
              <a:t>The bottleneck is usually the data movement between the secondary storage and the main memory.</a:t>
            </a:r>
          </a:p>
          <a:p>
            <a:pPr lvl="1"/>
            <a:r>
              <a:rPr lang="en-US" altLang="en-US">
                <a:latin typeface="Trebuchet MS" panose="020B0603020202020204" pitchFamily="34" charset="0"/>
                <a:sym typeface="Symbol" panose="05050102010706020507" pitchFamily="18" charset="2"/>
              </a:rPr>
              <a:t>Data movement is efficient if it is moved in the form of large blocks.</a:t>
            </a:r>
          </a:p>
          <a:p>
            <a:pPr lvl="1"/>
            <a:r>
              <a:rPr lang="en-US" altLang="en-US">
                <a:latin typeface="Trebuchet MS" panose="020B0603020202020204" pitchFamily="34" charset="0"/>
                <a:sym typeface="Symbol" panose="05050102010706020507" pitchFamily="18" charset="2"/>
              </a:rPr>
              <a:t>However, moving large blocks of data is efficient only if it is physically located in contiguous locations.</a:t>
            </a:r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9C2AF3-8BB4-BDF4-EAFC-BC1F8903A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2293" name="Slide Number Placeholder 4">
            <a:extLst>
              <a:ext uri="{FF2B5EF4-FFF2-40B4-BE49-F238E27FC236}">
                <a16:creationId xmlns:a16="http://schemas.microsoft.com/office/drawing/2014/main" id="{0F498933-EB65-DE1A-DCC5-531AD12E92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B2150E-4935-48F2-ADAC-7B425241F536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27A1D2-CEFD-08FF-E295-14967585D37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BD8C59F-C755-AEA9-1826-D0A858A72D4B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latin typeface="Trebuchet MS" panose="020B0603020202020204" pitchFamily="34" charset="0"/>
              </a:rPr>
              <a:t>The simplest algorithms usually take </a:t>
            </a:r>
            <a:r>
              <a:rPr lang="en-US" altLang="en-US" i="1">
                <a:latin typeface="Trebuchet MS" panose="020B0603020202020204" pitchFamily="34" charset="0"/>
              </a:rPr>
              <a:t>O(n</a:t>
            </a:r>
            <a:r>
              <a:rPr lang="en-US" altLang="en-US" baseline="30000">
                <a:latin typeface="Trebuchet MS" panose="020B0603020202020204" pitchFamily="34" charset="0"/>
              </a:rPr>
              <a:t>2</a:t>
            </a:r>
            <a:r>
              <a:rPr lang="en-US" altLang="en-US" i="1">
                <a:latin typeface="Trebuchet MS" panose="020B0603020202020204" pitchFamily="34" charset="0"/>
              </a:rPr>
              <a:t>)</a:t>
            </a:r>
            <a:r>
              <a:rPr lang="en-US" altLang="en-US">
                <a:latin typeface="Trebuchet MS" panose="020B0603020202020204" pitchFamily="34" charset="0"/>
              </a:rPr>
              <a:t> time to sort </a:t>
            </a:r>
            <a:r>
              <a:rPr lang="en-US" altLang="en-US" i="1">
                <a:latin typeface="Trebuchet MS" panose="020B0603020202020204" pitchFamily="34" charset="0"/>
              </a:rPr>
              <a:t>n</a:t>
            </a:r>
            <a:r>
              <a:rPr lang="en-US" altLang="en-US">
                <a:latin typeface="Trebuchet MS" panose="020B0603020202020204" pitchFamily="34" charset="0"/>
              </a:rPr>
              <a:t> objects, and suited for sorting short lists.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One of the most popular algorithms is Quick-Sort takes </a:t>
            </a:r>
            <a:r>
              <a:rPr lang="en-US" altLang="en-US" i="1">
                <a:latin typeface="Trebuchet MS" panose="020B0603020202020204" pitchFamily="34" charset="0"/>
              </a:rPr>
              <a:t>O(n</a:t>
            </a:r>
            <a:r>
              <a:rPr lang="en-US" altLang="en-US">
                <a:latin typeface="Trebuchet MS" panose="020B0603020202020204" pitchFamily="34" charset="0"/>
              </a:rPr>
              <a:t>log</a:t>
            </a:r>
            <a:r>
              <a:rPr lang="en-US" altLang="en-US" i="1">
                <a:latin typeface="Trebuchet MS" panose="020B0603020202020204" pitchFamily="34" charset="0"/>
              </a:rPr>
              <a:t>n)</a:t>
            </a:r>
            <a:r>
              <a:rPr lang="en-US" altLang="en-US">
                <a:latin typeface="Trebuchet MS" panose="020B0603020202020204" pitchFamily="34" charset="0"/>
              </a:rPr>
              <a:t> time on average.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Quick-Sort works for most common applications, although in worst case it can take </a:t>
            </a:r>
            <a:r>
              <a:rPr lang="en-US" altLang="en-US" i="1">
                <a:latin typeface="Trebuchet MS" panose="020B0603020202020204" pitchFamily="34" charset="0"/>
              </a:rPr>
              <a:t>O(n</a:t>
            </a:r>
            <a:r>
              <a:rPr lang="en-US" altLang="en-US" baseline="30000">
                <a:latin typeface="Trebuchet MS" panose="020B0603020202020204" pitchFamily="34" charset="0"/>
              </a:rPr>
              <a:t>2</a:t>
            </a:r>
            <a:r>
              <a:rPr lang="en-US" altLang="en-US" i="1">
                <a:latin typeface="Trebuchet MS" panose="020B0603020202020204" pitchFamily="34" charset="0"/>
              </a:rPr>
              <a:t>)</a:t>
            </a:r>
            <a:r>
              <a:rPr lang="en-US" altLang="en-US">
                <a:latin typeface="Trebuchet MS" panose="020B0603020202020204" pitchFamily="34" charset="0"/>
              </a:rPr>
              <a:t> time.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FDE796-060C-878D-1C05-5D58D8CA0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341" name="Slide Number Placeholder 4">
            <a:extLst>
              <a:ext uri="{FF2B5EF4-FFF2-40B4-BE49-F238E27FC236}">
                <a16:creationId xmlns:a16="http://schemas.microsoft.com/office/drawing/2014/main" id="{FD091D55-BC50-328B-4C67-24FB6FCBE1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C178C3-9503-4D72-AF0B-33509A03A44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A44974-0087-AB81-80EB-61BF38E0E880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4EDDB6A-E843-7807-F97B-2BAD6402223F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latin typeface="Trebuchet MS" panose="020B0603020202020204" pitchFamily="34" charset="0"/>
              </a:rPr>
              <a:t>There are other sorting techniques, such as Merge-Sort and Heap-Sort that take time </a:t>
            </a:r>
            <a:r>
              <a:rPr lang="en-US" altLang="en-US" i="1">
                <a:latin typeface="Trebuchet MS" panose="020B0603020202020204" pitchFamily="34" charset="0"/>
              </a:rPr>
              <a:t>O(n</a:t>
            </a:r>
            <a:r>
              <a:rPr lang="en-US" altLang="en-US">
                <a:latin typeface="Trebuchet MS" panose="020B0603020202020204" pitchFamily="34" charset="0"/>
              </a:rPr>
              <a:t>log</a:t>
            </a:r>
            <a:r>
              <a:rPr lang="en-US" altLang="en-US" i="1">
                <a:latin typeface="Trebuchet MS" panose="020B0603020202020204" pitchFamily="34" charset="0"/>
              </a:rPr>
              <a:t>n)</a:t>
            </a:r>
            <a:r>
              <a:rPr lang="en-US" altLang="en-US">
                <a:latin typeface="Trebuchet MS" panose="020B0603020202020204" pitchFamily="34" charset="0"/>
              </a:rPr>
              <a:t> in worst case.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Merge-Sort however, is well suited for external sorting.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There are other algorithms such as “bucket” and “radix” sort when the keys are integers of known range. They take time O(</a:t>
            </a:r>
            <a:r>
              <a:rPr lang="en-US" altLang="en-US" i="1">
                <a:latin typeface="Trebuchet MS" panose="020B0603020202020204" pitchFamily="34" charset="0"/>
              </a:rPr>
              <a:t>n</a:t>
            </a:r>
            <a:r>
              <a:rPr lang="en-US" altLang="en-US">
                <a:latin typeface="Trebuchet MS" panose="020B0603020202020204" pitchFamily="34" charset="0"/>
              </a:rPr>
              <a:t>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518C84-D3F2-A428-4B6E-9BC27949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6389" name="Slide Number Placeholder 4">
            <a:extLst>
              <a:ext uri="{FF2B5EF4-FFF2-40B4-BE49-F238E27FC236}">
                <a16:creationId xmlns:a16="http://schemas.microsoft.com/office/drawing/2014/main" id="{1F193C44-51EC-93F8-A879-6E29DC7524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EFDBC3-4123-4352-8F6A-682B882DB6D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9A10DA6-CF71-4938-623C-ECB7ED98FE5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Introduction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AB1174B-1E6E-C7A6-FAC7-187F9643BB86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The sorting problem is to arrange a sequence of records so that the values of their key fields form a non-decreasing sequence.</a:t>
            </a:r>
          </a:p>
          <a:p>
            <a:pPr>
              <a:lnSpc>
                <a:spcPct val="80000"/>
              </a:lnSpc>
            </a:pPr>
            <a:endParaRPr lang="en-US" altLang="en-US" sz="1700">
              <a:latin typeface="Trebuchet MS" panose="020B0603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Given records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….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n</a:t>
            </a:r>
            <a:r>
              <a:rPr lang="en-US" altLang="en-US" sz="1700">
                <a:latin typeface="Trebuchet MS" panose="020B0603020202020204" pitchFamily="34" charset="0"/>
              </a:rPr>
              <a:t> with key values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….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k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n</a:t>
            </a:r>
            <a:r>
              <a:rPr lang="en-US" altLang="en-US" sz="1700">
                <a:latin typeface="Trebuchet MS" panose="020B0603020202020204" pitchFamily="34" charset="0"/>
              </a:rPr>
              <a:t>, respectively we must produce the same records in an order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2</a:t>
            </a:r>
            <a:r>
              <a:rPr lang="en-US" altLang="en-US" sz="1700">
                <a:solidFill>
                  <a:srgbClr val="0000CC"/>
                </a:solidFill>
                <a:latin typeface="Trebuchet MS" panose="020B0603020202020204" pitchFamily="34" charset="0"/>
              </a:rPr>
              <a:t>, …. </a:t>
            </a:r>
            <a:r>
              <a:rPr lang="en-US" altLang="en-US" sz="17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7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7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n</a:t>
            </a:r>
            <a:r>
              <a:rPr lang="en-US" altLang="en-US" sz="1700">
                <a:latin typeface="Trebuchet MS" panose="020B0603020202020204" pitchFamily="34" charset="0"/>
              </a:rPr>
              <a:t> such that the keys are in the corresponding non-decreasing order.</a:t>
            </a:r>
          </a:p>
          <a:p>
            <a:pPr lvl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>
                <a:latin typeface="Trebuchet MS" panose="020B0603020202020204" pitchFamily="34" charset="0"/>
                <a:sym typeface="Symbol" panose="05050102010706020507" pitchFamily="18" charset="2"/>
              </a:rPr>
              <a:t>		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key(</a:t>
            </a:r>
            <a:r>
              <a:rPr lang="en-US" altLang="en-US" sz="1600" i="1">
                <a:solidFill>
                  <a:srgbClr val="0000CC"/>
                </a:solidFill>
                <a:latin typeface="Trebuchet MS" panose="020B0603020202020204" pitchFamily="34" charset="0"/>
              </a:rPr>
              <a:t>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6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5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  key(r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6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>
                <a:latin typeface="Trebuchet MS" panose="020B0603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1600">
                <a:latin typeface="Trebuchet MS" panose="020B0603020202020204" pitchFamily="34" charset="0"/>
                <a:sym typeface="Wingdings" panose="05000000000000000000" pitchFamily="2" charset="2"/>
              </a:rPr>
              <a:t> 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600" baseline="-25000">
                <a:solidFill>
                  <a:srgbClr val="0000CC"/>
                </a:solidFill>
                <a:latin typeface="Trebuchet MS" panose="020B0603020202020204" pitchFamily="34" charset="0"/>
              </a:rPr>
              <a:t>1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4 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5</a:t>
            </a:r>
            <a:r>
              <a:rPr lang="en-US" altLang="en-US" sz="18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   </a:t>
            </a:r>
            <a:r>
              <a:rPr lang="en-US" altLang="en-US" sz="1800" i="1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k</a:t>
            </a:r>
            <a:r>
              <a:rPr lang="en-US" altLang="en-US" sz="1600" i="1" baseline="-5000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 sz="1800" baseline="-25000">
                <a:solidFill>
                  <a:srgbClr val="0000CC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6</a:t>
            </a:r>
            <a:endParaRPr lang="en-US" altLang="en-US" sz="1800">
              <a:solidFill>
                <a:srgbClr val="0000CC"/>
              </a:solidFill>
              <a:latin typeface="Trebuchet MS" panose="020B0603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The records may NOT have distinct values, and can appear in any order.</a:t>
            </a:r>
          </a:p>
          <a:p>
            <a:pPr>
              <a:lnSpc>
                <a:spcPct val="80000"/>
              </a:lnSpc>
            </a:pPr>
            <a:endParaRPr lang="en-US" altLang="en-US" sz="1700">
              <a:latin typeface="Trebuchet MS" panose="020B0603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sz="1700">
                <a:latin typeface="Trebuchet MS" panose="020B0603020202020204" pitchFamily="34" charset="0"/>
              </a:rPr>
              <a:t>Different criteria to evaluate the running time, as follows:</a:t>
            </a:r>
          </a:p>
          <a:p>
            <a:pPr lvl="1">
              <a:lnSpc>
                <a:spcPct val="80000"/>
              </a:lnSpc>
            </a:pPr>
            <a:r>
              <a:rPr lang="en-US" altLang="en-US" sz="1600">
                <a:solidFill>
                  <a:schemeClr val="tx1"/>
                </a:solidFill>
                <a:latin typeface="Trebuchet MS" panose="020B0603020202020204" pitchFamily="34" charset="0"/>
              </a:rPr>
              <a:t>Number of algorithm steps.</a:t>
            </a:r>
          </a:p>
          <a:p>
            <a:pPr lvl="1">
              <a:lnSpc>
                <a:spcPct val="80000"/>
              </a:lnSpc>
            </a:pPr>
            <a:r>
              <a:rPr lang="en-US" altLang="en-US" sz="1600">
                <a:solidFill>
                  <a:schemeClr val="tx1"/>
                </a:solidFill>
                <a:latin typeface="Trebuchet MS" panose="020B0603020202020204" pitchFamily="34" charset="0"/>
              </a:rPr>
              <a:t>Number of comparisons between the keys (for expensive comparisons).</a:t>
            </a:r>
          </a:p>
          <a:p>
            <a:pPr lvl="1">
              <a:lnSpc>
                <a:spcPct val="80000"/>
              </a:lnSpc>
            </a:pPr>
            <a:r>
              <a:rPr lang="en-US" altLang="en-US" sz="1600">
                <a:solidFill>
                  <a:schemeClr val="tx1"/>
                </a:solidFill>
                <a:latin typeface="Trebuchet MS" panose="020B0603020202020204" pitchFamily="34" charset="0"/>
              </a:rPr>
              <a:t>The number of times a record is moved (for large records).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endParaRPr lang="en-US" altLang="en-US" sz="17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72B43-8E9B-C6B3-5522-E49C514E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9C77021A-5EAD-4B69-7729-AC4CC3B6A8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AD6413-73F4-4E0F-B773-70B3EE5CC8D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5CCD3D2-2FB7-B59B-0C49-EB9EA36C7518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79B0A0E-740E-EB78-930A-8722A9D079FA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One of the simplest sorting methods.</a:t>
            </a:r>
          </a:p>
          <a:p>
            <a:pPr>
              <a:lnSpc>
                <a:spcPct val="90000"/>
              </a:lnSpc>
            </a:pPr>
            <a:endParaRPr lang="en-US" altLang="en-US" sz="22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The basic idea is the “weight” of the record.</a:t>
            </a:r>
          </a:p>
          <a:p>
            <a:pPr>
              <a:lnSpc>
                <a:spcPct val="90000"/>
              </a:lnSpc>
            </a:pPr>
            <a:endParaRPr lang="en-US" altLang="en-US" sz="22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The records are kept in an array held vertically.</a:t>
            </a:r>
          </a:p>
          <a:p>
            <a:pPr>
              <a:lnSpc>
                <a:spcPct val="90000"/>
              </a:lnSpc>
            </a:pPr>
            <a:endParaRPr lang="en-US" altLang="en-US" sz="22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“light” records bubbling up to the top.</a:t>
            </a:r>
          </a:p>
          <a:p>
            <a:pPr>
              <a:lnSpc>
                <a:spcPct val="90000"/>
              </a:lnSpc>
            </a:pPr>
            <a:endParaRPr lang="en-US" altLang="en-US" sz="22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We make repeated passes over the array from bottom to top.</a:t>
            </a:r>
          </a:p>
          <a:p>
            <a:pPr>
              <a:lnSpc>
                <a:spcPct val="90000"/>
              </a:lnSpc>
            </a:pPr>
            <a:endParaRPr lang="en-US" altLang="en-US" sz="2200">
              <a:latin typeface="Trebuchet MS" panose="020B06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200">
                <a:latin typeface="Trebuchet MS" panose="020B0603020202020204" pitchFamily="34" charset="0"/>
              </a:rPr>
              <a:t>If two adjacent elements are out of order i.e. “lighter” one is below, we reverse the order.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FB22F-6D1D-735C-FE06-EEB247ED9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0485" name="Slide Number Placeholder 4">
            <a:extLst>
              <a:ext uri="{FF2B5EF4-FFF2-40B4-BE49-F238E27FC236}">
                <a16:creationId xmlns:a16="http://schemas.microsoft.com/office/drawing/2014/main" id="{6EBFA578-61B5-3926-C6AA-92D03823D5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7D9E77-EE39-4D92-B84C-D2542967BE3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CD10015-28F8-B909-1585-D07186335B00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7D82F26-FAAA-89A6-24AF-6D7C341280E1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latin typeface="Trebuchet MS" panose="020B0603020202020204" pitchFamily="34" charset="0"/>
              </a:rPr>
              <a:t> The overall effect, is that after the first pass the “lightest” record will bubble all the way to the top.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 On the second top pass, the second lowest rises to the second position, and so on.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 On second pass we need not try bubbling to the top position, because we know that the lightest record is already there.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D05D31-C454-3678-FD29-AC5B4BADC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2533" name="Slide Number Placeholder 4">
            <a:extLst>
              <a:ext uri="{FF2B5EF4-FFF2-40B4-BE49-F238E27FC236}">
                <a16:creationId xmlns:a16="http://schemas.microsoft.com/office/drawing/2014/main" id="{E85CCC86-120E-D070-D046-87BE5941C7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E11A08-5B07-4379-A787-3E4D9CDC0028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975FB8B-012B-0923-0E77-C155BB68772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8F48EF03-A340-570F-24AB-CBFEA449211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762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n =N;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 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j = 1; j &lt;  n; j++)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}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36B02-64E1-9847-64B9-834C83B1D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4581" name="Slide Number Placeholder 4">
            <a:extLst>
              <a:ext uri="{FF2B5EF4-FFF2-40B4-BE49-F238E27FC236}">
                <a16:creationId xmlns:a16="http://schemas.microsoft.com/office/drawing/2014/main" id="{089BB5EE-0F79-3588-BCC0-02CE1C85EA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C1B43E-38BE-45E0-99AA-8B5FA5407C70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D6225D-0FB9-BCE1-2208-DB1689FC3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295400"/>
            <a:ext cx="3883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does not exit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until all the data is checked</a:t>
            </a:r>
          </a:p>
        </p:txBody>
      </p:sp>
      <p:sp>
        <p:nvSpPr>
          <p:cNvPr id="24583" name="TextBox 3">
            <a:extLst>
              <a:ext uri="{FF2B5EF4-FFF2-40B4-BE49-F238E27FC236}">
                <a16:creationId xmlns:a16="http://schemas.microsoft.com/office/drawing/2014/main" id="{85AA1739-3A9E-9F6E-438C-6ECE3B1CE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352800"/>
            <a:ext cx="3944938" cy="22352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swap ( x , y</a:t>
            </a:r>
            <a:r>
              <a:rPr lang="en-US" altLang="en-US" sz="20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CC"/>
                </a:solidFill>
              </a:rPr>
              <a:t> int </a:t>
            </a:r>
            <a:r>
              <a:rPr lang="en-US" altLang="en-US" sz="2000"/>
              <a:t>temp = 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 = 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 = temp;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1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1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1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DFD06A5-87AE-709D-9042-DDE84E71E87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A10956E-BE83-B4E2-BB79-FCFC4D919DA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762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n =N;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j = 1; j &lt;  n; j++)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}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break;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120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	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684DF-E8B7-9A61-4FCE-BFB3F2541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6629" name="Slide Number Placeholder 4">
            <a:extLst>
              <a:ext uri="{FF2B5EF4-FFF2-40B4-BE49-F238E27FC236}">
                <a16:creationId xmlns:a16="http://schemas.microsoft.com/office/drawing/2014/main" id="{EA87E011-4973-56ED-110C-5BAAEF7380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136220-FA35-4D99-A854-041ACDC6980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48385E-E13E-828B-4BD2-3F0E4728C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413" y="4267200"/>
            <a:ext cx="44465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exits if no swap done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 in previous (outer loop) step</a:t>
            </a:r>
          </a:p>
        </p:txBody>
      </p:sp>
      <p:sp>
        <p:nvSpPr>
          <p:cNvPr id="26631" name="TextBox 3">
            <a:extLst>
              <a:ext uri="{FF2B5EF4-FFF2-40B4-BE49-F238E27FC236}">
                <a16:creationId xmlns:a16="http://schemas.microsoft.com/office/drawing/2014/main" id="{10DB40EF-2571-B6C8-6E8C-49FCA2304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828800"/>
            <a:ext cx="3944938" cy="22352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swap ( x , y</a:t>
            </a:r>
            <a:r>
              <a:rPr lang="en-US" altLang="en-US" sz="20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CC"/>
                </a:solidFill>
              </a:rPr>
              <a:t> int </a:t>
            </a:r>
            <a:r>
              <a:rPr lang="en-US" altLang="en-US" sz="2000"/>
              <a:t>temp = 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 = 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 = temp;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E3A6EFF-6AD5-3D30-823E-DB6E75A5F325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52FCEA9C-B344-FC97-81F1-50E4C3B5E63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762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n =N;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j = 1; j &lt;  n; j++)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}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break;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	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F7B5C-A6AF-0AAF-A559-624AAA624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8677" name="Slide Number Placeholder 4">
            <a:extLst>
              <a:ext uri="{FF2B5EF4-FFF2-40B4-BE49-F238E27FC236}">
                <a16:creationId xmlns:a16="http://schemas.microsoft.com/office/drawing/2014/main" id="{4ECA7305-B26D-2494-2214-7794D1CCAA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B77B50-F045-48C0-BE31-3583464C591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28678" name="TextBox 5">
            <a:extLst>
              <a:ext uri="{FF2B5EF4-FFF2-40B4-BE49-F238E27FC236}">
                <a16:creationId xmlns:a16="http://schemas.microsoft.com/office/drawing/2014/main" id="{F81EACB5-99DA-EF10-1D11-5B2AAD37C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495800"/>
            <a:ext cx="44465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exits if no swap done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 in previous (outer loop) step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54F223-A180-A3DC-949D-25908490B38F}"/>
              </a:ext>
            </a:extLst>
          </p:cNvPr>
          <p:cNvSpPr/>
          <p:nvPr/>
        </p:nvSpPr>
        <p:spPr>
          <a:xfrm>
            <a:off x="820738" y="4132263"/>
            <a:ext cx="10668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56B90E-C0B8-C779-B00D-08DA0B1C2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403600"/>
            <a:ext cx="4953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A41304"/>
                </a:solidFill>
                <a:latin typeface="Trebuchet MS" panose="020B0603020202020204" pitchFamily="34" charset="0"/>
              </a:rPr>
              <a:t>No bubbling to the top position, because the lightest record is already there.</a:t>
            </a:r>
            <a:endParaRPr lang="en-US" altLang="en-US" sz="2000">
              <a:solidFill>
                <a:srgbClr val="A41304"/>
              </a:solidFill>
            </a:endParaRPr>
          </a:p>
        </p:txBody>
      </p:sp>
      <p:sp>
        <p:nvSpPr>
          <p:cNvPr id="28681" name="TextBox 3">
            <a:extLst>
              <a:ext uri="{FF2B5EF4-FFF2-40B4-BE49-F238E27FC236}">
                <a16:creationId xmlns:a16="http://schemas.microsoft.com/office/drawing/2014/main" id="{F412F645-DEAC-6896-AB77-1D217AE07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1143000"/>
            <a:ext cx="3582987" cy="20320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swap ( x , y</a:t>
            </a:r>
            <a:r>
              <a:rPr lang="en-US" altLang="en-US" sz="18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CC"/>
                </a:solidFill>
              </a:rPr>
              <a:t> int </a:t>
            </a:r>
            <a:r>
              <a:rPr lang="en-US" altLang="en-US" sz="1800"/>
              <a:t>temp = A[</a:t>
            </a:r>
            <a:r>
              <a:rPr lang="en-US" altLang="en-US" sz="700"/>
              <a:t> </a:t>
            </a:r>
            <a:r>
              <a:rPr lang="en-US" altLang="en-US" sz="1800"/>
              <a:t>x</a:t>
            </a:r>
            <a:r>
              <a:rPr lang="en-US" altLang="en-US" sz="700"/>
              <a:t> </a:t>
            </a:r>
            <a:r>
              <a:rPr lang="en-US" altLang="en-US" sz="18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A[</a:t>
            </a:r>
            <a:r>
              <a:rPr lang="en-US" altLang="en-US" sz="700"/>
              <a:t> </a:t>
            </a:r>
            <a:r>
              <a:rPr lang="en-US" altLang="en-US" sz="1800"/>
              <a:t>x</a:t>
            </a:r>
            <a:r>
              <a:rPr lang="en-US" altLang="en-US" sz="700"/>
              <a:t> </a:t>
            </a:r>
            <a:r>
              <a:rPr lang="en-US" altLang="en-US" sz="1800"/>
              <a:t>] = A[</a:t>
            </a:r>
            <a:r>
              <a:rPr lang="en-US" altLang="en-US" sz="700"/>
              <a:t> </a:t>
            </a:r>
            <a:r>
              <a:rPr lang="en-US" altLang="en-US" sz="1800"/>
              <a:t>y</a:t>
            </a:r>
            <a:r>
              <a:rPr lang="en-US" altLang="en-US" sz="700"/>
              <a:t> </a:t>
            </a:r>
            <a:r>
              <a:rPr lang="en-US" altLang="en-US" sz="1800"/>
              <a:t>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A[</a:t>
            </a:r>
            <a:r>
              <a:rPr lang="en-US" altLang="en-US" sz="700"/>
              <a:t> </a:t>
            </a:r>
            <a:r>
              <a:rPr lang="en-US" altLang="en-US" sz="1800"/>
              <a:t>y</a:t>
            </a:r>
            <a:r>
              <a:rPr lang="en-US" altLang="en-US" sz="700"/>
              <a:t> </a:t>
            </a:r>
            <a:r>
              <a:rPr lang="en-US" altLang="en-US" sz="1800"/>
              <a:t>] = temp;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3360433-3B85-381E-6F5B-235F186E103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(First Pass)</a:t>
            </a:r>
          </a:p>
        </p:txBody>
      </p:sp>
      <p:graphicFrame>
        <p:nvGraphicFramePr>
          <p:cNvPr id="153782" name="Group 182">
            <a:extLst>
              <a:ext uri="{FF2B5EF4-FFF2-40B4-BE49-F238E27FC236}">
                <a16:creationId xmlns:a16="http://schemas.microsoft.com/office/drawing/2014/main" id="{A08A4F29-E44A-6869-072C-9A024B4252E1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143000" y="7620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743" name="Text Box 32">
            <a:extLst>
              <a:ext uri="{FF2B5EF4-FFF2-40B4-BE49-F238E27FC236}">
                <a16:creationId xmlns:a16="http://schemas.microsoft.com/office/drawing/2014/main" id="{F2660108-D2F4-330E-ADCD-FA8AC8D69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30744" name="Text Box 34">
            <a:extLst>
              <a:ext uri="{FF2B5EF4-FFF2-40B4-BE49-F238E27FC236}">
                <a16:creationId xmlns:a16="http://schemas.microsoft.com/office/drawing/2014/main" id="{79761419-3ADA-1CBC-E768-F5D986F32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53656" name="Group 56">
            <a:extLst>
              <a:ext uri="{FF2B5EF4-FFF2-40B4-BE49-F238E27FC236}">
                <a16:creationId xmlns:a16="http://schemas.microsoft.com/office/drawing/2014/main" id="{8F6242E4-00AE-A287-2434-3BD7111C7BA1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143000" y="135731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658" name="Group 58">
            <a:extLst>
              <a:ext uri="{FF2B5EF4-FFF2-40B4-BE49-F238E27FC236}">
                <a16:creationId xmlns:a16="http://schemas.microsoft.com/office/drawing/2014/main" id="{7D2B3B76-866E-64CD-85D3-22B42E722573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181451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785" name="Text Box 183">
            <a:extLst>
              <a:ext uri="{FF2B5EF4-FFF2-40B4-BE49-F238E27FC236}">
                <a16:creationId xmlns:a16="http://schemas.microsoft.com/office/drawing/2014/main" id="{6C8907AD-0DD7-395E-E050-030DA68E2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19522" name="Freeform 184">
            <a:extLst>
              <a:ext uri="{FF2B5EF4-FFF2-40B4-BE49-F238E27FC236}">
                <a16:creationId xmlns:a16="http://schemas.microsoft.com/office/drawing/2014/main" id="{47462C7E-5DFB-8DAD-FD1D-D9BC89C3D69E}"/>
              </a:ext>
            </a:extLst>
          </p:cNvPr>
          <p:cNvSpPr>
            <a:spLocks/>
          </p:cNvSpPr>
          <p:nvPr/>
        </p:nvSpPr>
        <p:spPr bwMode="auto">
          <a:xfrm flipV="1">
            <a:off x="1438275" y="11572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23" name="Freeform 185">
            <a:extLst>
              <a:ext uri="{FF2B5EF4-FFF2-40B4-BE49-F238E27FC236}">
                <a16:creationId xmlns:a16="http://schemas.microsoft.com/office/drawing/2014/main" id="{CAC7E0C2-EC10-1B57-0AFD-4D768305A4A1}"/>
              </a:ext>
            </a:extLst>
          </p:cNvPr>
          <p:cNvSpPr>
            <a:spLocks/>
          </p:cNvSpPr>
          <p:nvPr/>
        </p:nvSpPr>
        <p:spPr bwMode="auto">
          <a:xfrm flipV="1">
            <a:off x="2209800" y="1662113"/>
            <a:ext cx="55245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787" name="Group 187">
            <a:extLst>
              <a:ext uri="{FF2B5EF4-FFF2-40B4-BE49-F238E27FC236}">
                <a16:creationId xmlns:a16="http://schemas.microsoft.com/office/drawing/2014/main" id="{3F515CAA-19E1-974E-6A7F-2D548C95941F}"/>
              </a:ext>
            </a:extLst>
          </p:cNvPr>
          <p:cNvGraphicFramePr>
            <a:graphicFrameLocks noGrp="1"/>
          </p:cNvGraphicFramePr>
          <p:nvPr/>
        </p:nvGraphicFramePr>
        <p:xfrm>
          <a:off x="1119188" y="2286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808" name="Text Box 207">
            <a:extLst>
              <a:ext uri="{FF2B5EF4-FFF2-40B4-BE49-F238E27FC236}">
                <a16:creationId xmlns:a16="http://schemas.microsoft.com/office/drawing/2014/main" id="{7E38C590-6F60-A68C-C5B5-55898C1E0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19545" name="Freeform 208">
            <a:extLst>
              <a:ext uri="{FF2B5EF4-FFF2-40B4-BE49-F238E27FC236}">
                <a16:creationId xmlns:a16="http://schemas.microsoft.com/office/drawing/2014/main" id="{C28522F4-46F7-2419-8FC0-9EC9D6A559E4}"/>
              </a:ext>
            </a:extLst>
          </p:cNvPr>
          <p:cNvSpPr>
            <a:spLocks/>
          </p:cNvSpPr>
          <p:nvPr/>
        </p:nvSpPr>
        <p:spPr bwMode="auto">
          <a:xfrm flipV="1">
            <a:off x="2819400" y="2119313"/>
            <a:ext cx="671513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09" name="Group 209">
            <a:extLst>
              <a:ext uri="{FF2B5EF4-FFF2-40B4-BE49-F238E27FC236}">
                <a16:creationId xmlns:a16="http://schemas.microsoft.com/office/drawing/2014/main" id="{57265A62-1DEA-663D-5BCB-BEDED616164A}"/>
              </a:ext>
            </a:extLst>
          </p:cNvPr>
          <p:cNvGraphicFramePr>
            <a:graphicFrameLocks noGrp="1"/>
          </p:cNvGraphicFramePr>
          <p:nvPr/>
        </p:nvGraphicFramePr>
        <p:xfrm>
          <a:off x="1100138" y="27479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830" name="Text Box 229">
            <a:extLst>
              <a:ext uri="{FF2B5EF4-FFF2-40B4-BE49-F238E27FC236}">
                <a16:creationId xmlns:a16="http://schemas.microsoft.com/office/drawing/2014/main" id="{E966FD2B-E4A7-9804-23F4-38209296F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19567" name="Freeform 230">
            <a:extLst>
              <a:ext uri="{FF2B5EF4-FFF2-40B4-BE49-F238E27FC236}">
                <a16:creationId xmlns:a16="http://schemas.microsoft.com/office/drawing/2014/main" id="{4D9B3794-B4F0-A85E-A3E0-D10E391C3869}"/>
              </a:ext>
            </a:extLst>
          </p:cNvPr>
          <p:cNvSpPr>
            <a:spLocks/>
          </p:cNvSpPr>
          <p:nvPr/>
        </p:nvSpPr>
        <p:spPr bwMode="auto">
          <a:xfrm flipV="1">
            <a:off x="3657600" y="2590800"/>
            <a:ext cx="523875" cy="20002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31" name="Group 231">
            <a:extLst>
              <a:ext uri="{FF2B5EF4-FFF2-40B4-BE49-F238E27FC236}">
                <a16:creationId xmlns:a16="http://schemas.microsoft.com/office/drawing/2014/main" id="{6384331D-4A78-E0FD-1F39-E3F2CBD6D1ED}"/>
              </a:ext>
            </a:extLst>
          </p:cNvPr>
          <p:cNvGraphicFramePr>
            <a:graphicFrameLocks noGrp="1"/>
          </p:cNvGraphicFramePr>
          <p:nvPr/>
        </p:nvGraphicFramePr>
        <p:xfrm>
          <a:off x="1109663" y="31956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852" name="Text Box 251">
            <a:extLst>
              <a:ext uri="{FF2B5EF4-FFF2-40B4-BE49-F238E27FC236}">
                <a16:creationId xmlns:a16="http://schemas.microsoft.com/office/drawing/2014/main" id="{9627D6CE-5CCB-2880-37FC-5B39548A1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1480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19589" name="Freeform 252">
            <a:extLst>
              <a:ext uri="{FF2B5EF4-FFF2-40B4-BE49-F238E27FC236}">
                <a16:creationId xmlns:a16="http://schemas.microsoft.com/office/drawing/2014/main" id="{FA63E141-3EB3-C474-ED66-FBDD999FD31F}"/>
              </a:ext>
            </a:extLst>
          </p:cNvPr>
          <p:cNvSpPr>
            <a:spLocks/>
          </p:cNvSpPr>
          <p:nvPr/>
        </p:nvSpPr>
        <p:spPr bwMode="auto">
          <a:xfrm flipV="1">
            <a:off x="4343400" y="2986088"/>
            <a:ext cx="609600" cy="26193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53" name="Group 253">
            <a:extLst>
              <a:ext uri="{FF2B5EF4-FFF2-40B4-BE49-F238E27FC236}">
                <a16:creationId xmlns:a16="http://schemas.microsoft.com/office/drawing/2014/main" id="{3199A179-A824-63A8-23D4-91DF10726400}"/>
              </a:ext>
            </a:extLst>
          </p:cNvPr>
          <p:cNvGraphicFramePr>
            <a:graphicFrameLocks noGrp="1"/>
          </p:cNvGraphicFramePr>
          <p:nvPr/>
        </p:nvGraphicFramePr>
        <p:xfrm>
          <a:off x="1109663" y="366712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874" name="Text Box 273">
            <a:extLst>
              <a:ext uri="{FF2B5EF4-FFF2-40B4-BE49-F238E27FC236}">
                <a16:creationId xmlns:a16="http://schemas.microsoft.com/office/drawing/2014/main" id="{0F18A624-3EFB-178E-7D90-BD3D24A7D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6195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19611" name="Freeform 274">
            <a:extLst>
              <a:ext uri="{FF2B5EF4-FFF2-40B4-BE49-F238E27FC236}">
                <a16:creationId xmlns:a16="http://schemas.microsoft.com/office/drawing/2014/main" id="{185E2D3C-C201-E31F-2500-F69F70ED33E1}"/>
              </a:ext>
            </a:extLst>
          </p:cNvPr>
          <p:cNvSpPr>
            <a:spLocks/>
          </p:cNvSpPr>
          <p:nvPr/>
        </p:nvSpPr>
        <p:spPr bwMode="auto">
          <a:xfrm flipV="1">
            <a:off x="5029200" y="3490913"/>
            <a:ext cx="657225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3897" name="Group 297">
            <a:extLst>
              <a:ext uri="{FF2B5EF4-FFF2-40B4-BE49-F238E27FC236}">
                <a16:creationId xmlns:a16="http://schemas.microsoft.com/office/drawing/2014/main" id="{849344B8-2D9C-19F2-E2EA-E724E73B684F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41671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90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896" name="Text Box 295">
            <a:extLst>
              <a:ext uri="{FF2B5EF4-FFF2-40B4-BE49-F238E27FC236}">
                <a16:creationId xmlns:a16="http://schemas.microsoft.com/office/drawing/2014/main" id="{B8C6C531-3207-9DC7-8B11-AFD5FE0BF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413385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7</a:t>
            </a:r>
          </a:p>
        </p:txBody>
      </p:sp>
      <p:sp>
        <p:nvSpPr>
          <p:cNvPr id="19633" name="Rectangle 298">
            <a:extLst>
              <a:ext uri="{FF2B5EF4-FFF2-40B4-BE49-F238E27FC236}">
                <a16:creationId xmlns:a16="http://schemas.microsoft.com/office/drawing/2014/main" id="{86C8628F-FD05-52A9-EFC0-5B20B9021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281113"/>
            <a:ext cx="1987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[1])</a:t>
            </a:r>
          </a:p>
        </p:txBody>
      </p:sp>
      <p:sp>
        <p:nvSpPr>
          <p:cNvPr id="19634" name="Rectangle 299">
            <a:extLst>
              <a:ext uri="{FF2B5EF4-FFF2-40B4-BE49-F238E27FC236}">
                <a16:creationId xmlns:a16="http://schemas.microsoft.com/office/drawing/2014/main" id="{67828B01-0B51-0C09-0408-967197017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1766888"/>
            <a:ext cx="2005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[2])</a:t>
            </a:r>
          </a:p>
        </p:txBody>
      </p:sp>
      <p:sp>
        <p:nvSpPr>
          <p:cNvPr id="19635" name="Rectangle 300">
            <a:extLst>
              <a:ext uri="{FF2B5EF4-FFF2-40B4-BE49-F238E27FC236}">
                <a16:creationId xmlns:a16="http://schemas.microsoft.com/office/drawing/2014/main" id="{B193F32E-6599-32EF-43D3-0AA3E400C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763" y="2271713"/>
            <a:ext cx="2005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[3])</a:t>
            </a:r>
          </a:p>
        </p:txBody>
      </p:sp>
      <p:sp>
        <p:nvSpPr>
          <p:cNvPr id="19636" name="Rectangle 301">
            <a:extLst>
              <a:ext uri="{FF2B5EF4-FFF2-40B4-BE49-F238E27FC236}">
                <a16:creationId xmlns:a16="http://schemas.microsoft.com/office/drawing/2014/main" id="{8E587815-7DA6-BEC9-156F-A3EA93C14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600450"/>
            <a:ext cx="2005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[6])</a:t>
            </a:r>
          </a:p>
        </p:txBody>
      </p:sp>
      <p:sp>
        <p:nvSpPr>
          <p:cNvPr id="19637" name="Rectangle 300">
            <a:extLst>
              <a:ext uri="{FF2B5EF4-FFF2-40B4-BE49-F238E27FC236}">
                <a16:creationId xmlns:a16="http://schemas.microsoft.com/office/drawing/2014/main" id="{0E1D8749-1BA5-43E2-A150-AA0041939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725738"/>
            <a:ext cx="2005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[4])</a:t>
            </a:r>
          </a:p>
        </p:txBody>
      </p:sp>
      <p:sp>
        <p:nvSpPr>
          <p:cNvPr id="19638" name="Rectangle 300">
            <a:extLst>
              <a:ext uri="{FF2B5EF4-FFF2-40B4-BE49-F238E27FC236}">
                <a16:creationId xmlns:a16="http://schemas.microsoft.com/office/drawing/2014/main" id="{5DADE094-069B-58ED-02A3-AF97F68A0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3121025"/>
            <a:ext cx="2005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[5])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CC4F03DC-BC39-7A57-FA02-2CCBE4BC81D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44958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 err="1">
                <a:solidFill>
                  <a:srgbClr val="0000CC"/>
                </a:solidFill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n =N; </a:t>
            </a:r>
            <a:r>
              <a:rPr lang="en-US" sz="1050" b="1" dirty="0">
                <a:solidFill>
                  <a:srgbClr val="FF0000"/>
                </a:solidFill>
                <a:latin typeface="Times New Roman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for</a:t>
            </a:r>
            <a:r>
              <a:rPr lang="en-US" sz="1050" b="1" dirty="0">
                <a:latin typeface="Times New Roman" pitchFamily="18" charset="0"/>
              </a:rPr>
              <a:t> (</a:t>
            </a:r>
            <a:r>
              <a:rPr lang="en-US" sz="1050" b="1" dirty="0" err="1"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</a:t>
            </a:r>
            <a:r>
              <a:rPr lang="en-US" sz="1050" b="1" dirty="0" err="1">
                <a:latin typeface="Times New Roman" pitchFamily="18" charset="0"/>
              </a:rPr>
              <a:t>i</a:t>
            </a:r>
            <a:r>
              <a:rPr lang="en-US" sz="1050" b="1" dirty="0">
                <a:latin typeface="Times New Roman" pitchFamily="18" charset="0"/>
              </a:rPr>
              <a:t> = 0; </a:t>
            </a:r>
            <a:r>
              <a:rPr lang="en-US" sz="1050" b="1" dirty="0" err="1">
                <a:latin typeface="Times New Roman" pitchFamily="18" charset="0"/>
              </a:rPr>
              <a:t>i</a:t>
            </a:r>
            <a:r>
              <a:rPr lang="en-US" sz="1050" b="1" dirty="0">
                <a:latin typeface="Times New Roman" pitchFamily="18" charset="0"/>
              </a:rPr>
              <a:t> &lt; N; </a:t>
            </a:r>
            <a:r>
              <a:rPr lang="en-US" sz="1050" b="1" dirty="0" err="1">
                <a:latin typeface="Times New Roman" pitchFamily="18" charset="0"/>
              </a:rPr>
              <a:t>i</a:t>
            </a:r>
            <a:r>
              <a:rPr lang="en-US" sz="1050" b="1" dirty="0">
                <a:latin typeface="Times New Roman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</a:t>
            </a:r>
            <a:r>
              <a:rPr lang="en-US" sz="1050" b="1" dirty="0" err="1">
                <a:solidFill>
                  <a:srgbClr val="0000CC"/>
                </a:solidFill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for</a:t>
            </a:r>
            <a:r>
              <a:rPr lang="en-US" sz="1050" b="1" dirty="0">
                <a:latin typeface="Times New Roman" pitchFamily="18" charset="0"/>
              </a:rPr>
              <a:t> (</a:t>
            </a:r>
            <a:r>
              <a:rPr lang="en-US" sz="1050" b="1" dirty="0" err="1">
                <a:solidFill>
                  <a:srgbClr val="0000CC"/>
                </a:solidFill>
                <a:latin typeface="Times New Roman" pitchFamily="18" charset="0"/>
              </a:rPr>
              <a:t>int</a:t>
            </a:r>
            <a:r>
              <a:rPr lang="en-US" sz="1050" b="1" dirty="0">
                <a:latin typeface="Times New Roman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if</a:t>
            </a:r>
            <a:r>
              <a:rPr lang="en-US" sz="1050" b="1" dirty="0">
                <a:latin typeface="Times New Roman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  }</a:t>
            </a:r>
            <a:r>
              <a:rPr lang="en-US" sz="1050" b="1" dirty="0">
                <a:solidFill>
                  <a:srgbClr val="FF0000"/>
                </a:solidFill>
                <a:latin typeface="Times New Roman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       </a:t>
            </a:r>
            <a:r>
              <a:rPr lang="en-US" sz="1050" b="1" dirty="0">
                <a:solidFill>
                  <a:srgbClr val="0000CC"/>
                </a:solidFill>
                <a:latin typeface="Times New Roman" pitchFamily="18" charset="0"/>
              </a:rPr>
              <a:t>if </a:t>
            </a:r>
            <a:r>
              <a:rPr lang="en-US" sz="1050" b="1" dirty="0">
                <a:latin typeface="Times New Roman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        break;                   }</a:t>
            </a:r>
            <a:r>
              <a:rPr lang="en-US" sz="1050" b="1" dirty="0">
                <a:solidFill>
                  <a:srgbClr val="FF0000"/>
                </a:solidFill>
                <a:latin typeface="Times New Roman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sz="1050" b="1" dirty="0">
                <a:latin typeface="Times New Roman" pitchFamily="18" charset="0"/>
              </a:rPr>
              <a:t>			</a:t>
            </a:r>
            <a:endParaRPr lang="en-US" sz="1050" b="1" dirty="0">
              <a:latin typeface="Trebuchet MS" pitchFamily="34" charset="0"/>
            </a:endParaRPr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BDD8E267-104E-D8DF-0C3B-B71D775A1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30905" name="Slide Number Placeholder 33">
            <a:extLst>
              <a:ext uri="{FF2B5EF4-FFF2-40B4-BE49-F238E27FC236}">
                <a16:creationId xmlns:a16="http://schemas.microsoft.com/office/drawing/2014/main" id="{D7D99322-3A2D-5581-F1BC-B6621902F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C5A02F-32EF-48D2-A026-5DDCBA478418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DE2D55E-3DE5-7781-29F3-32BE469572C0}"/>
              </a:ext>
            </a:extLst>
          </p:cNvPr>
          <p:cNvCxnSpPr/>
          <p:nvPr/>
        </p:nvCxnSpPr>
        <p:spPr>
          <a:xfrm>
            <a:off x="1676400" y="82232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EEB5EE1-95E3-9E1A-1180-A95EDEF806CB}"/>
              </a:ext>
            </a:extLst>
          </p:cNvPr>
          <p:cNvCxnSpPr/>
          <p:nvPr/>
        </p:nvCxnSpPr>
        <p:spPr>
          <a:xfrm>
            <a:off x="2427288" y="141605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7D9A0DA-8F8A-2340-AD16-1835E2CC70BF}"/>
              </a:ext>
            </a:extLst>
          </p:cNvPr>
          <p:cNvCxnSpPr/>
          <p:nvPr/>
        </p:nvCxnSpPr>
        <p:spPr>
          <a:xfrm>
            <a:off x="3170238" y="187325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E973D70-DB3D-7FC4-66C1-747FE097EC8F}"/>
              </a:ext>
            </a:extLst>
          </p:cNvPr>
          <p:cNvCxnSpPr/>
          <p:nvPr/>
        </p:nvCxnSpPr>
        <p:spPr>
          <a:xfrm>
            <a:off x="3903663" y="2382838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154998F-A73B-D14B-3FDB-14CDB21E7A0D}"/>
              </a:ext>
            </a:extLst>
          </p:cNvPr>
          <p:cNvCxnSpPr/>
          <p:nvPr/>
        </p:nvCxnSpPr>
        <p:spPr>
          <a:xfrm>
            <a:off x="4622800" y="285115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266C132-2D04-39E7-CB5B-EDE2DFDB82BA}"/>
              </a:ext>
            </a:extLst>
          </p:cNvPr>
          <p:cNvCxnSpPr/>
          <p:nvPr/>
        </p:nvCxnSpPr>
        <p:spPr>
          <a:xfrm>
            <a:off x="5334000" y="333692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7C520CC-A666-86A1-DD90-1419B3377BDB}"/>
              </a:ext>
            </a:extLst>
          </p:cNvPr>
          <p:cNvCxnSpPr/>
          <p:nvPr/>
        </p:nvCxnSpPr>
        <p:spPr>
          <a:xfrm>
            <a:off x="6111875" y="3748088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33" grpId="0"/>
      <p:bldP spid="19634" grpId="0"/>
      <p:bldP spid="19635" grpId="0"/>
      <p:bldP spid="19636" grpId="0"/>
      <p:bldP spid="19637" grpId="0"/>
      <p:bldP spid="196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811BEAE-222A-A783-217E-2440DBFCD45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(Second Pass)</a:t>
            </a:r>
          </a:p>
        </p:txBody>
      </p:sp>
      <p:sp>
        <p:nvSpPr>
          <p:cNvPr id="32771" name="Text Box 32">
            <a:extLst>
              <a:ext uri="{FF2B5EF4-FFF2-40B4-BE49-F238E27FC236}">
                <a16:creationId xmlns:a16="http://schemas.microsoft.com/office/drawing/2014/main" id="{1A5FA421-0D8D-69CF-655A-AED51CA83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32772" name="Text Box 34">
            <a:extLst>
              <a:ext uri="{FF2B5EF4-FFF2-40B4-BE49-F238E27FC236}">
                <a16:creationId xmlns:a16="http://schemas.microsoft.com/office/drawing/2014/main" id="{DD0C34DA-FCA9-8182-58DE-75B470CB1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2773" name="Text Box 183">
            <a:extLst>
              <a:ext uri="{FF2B5EF4-FFF2-40B4-BE49-F238E27FC236}">
                <a16:creationId xmlns:a16="http://schemas.microsoft.com/office/drawing/2014/main" id="{40F49691-3D04-065F-BE5B-E93AA1F2F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2774" name="Text Box 207">
            <a:extLst>
              <a:ext uri="{FF2B5EF4-FFF2-40B4-BE49-F238E27FC236}">
                <a16:creationId xmlns:a16="http://schemas.microsoft.com/office/drawing/2014/main" id="{FB3C9445-0512-97C5-70F1-10E299D7F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32775" name="Text Box 229">
            <a:extLst>
              <a:ext uri="{FF2B5EF4-FFF2-40B4-BE49-F238E27FC236}">
                <a16:creationId xmlns:a16="http://schemas.microsoft.com/office/drawing/2014/main" id="{3C7F7EEA-F572-592C-89A8-EEDAAFA26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20488" name="Freeform 230">
            <a:extLst>
              <a:ext uri="{FF2B5EF4-FFF2-40B4-BE49-F238E27FC236}">
                <a16:creationId xmlns:a16="http://schemas.microsoft.com/office/drawing/2014/main" id="{AE9309A0-2B30-D368-F9A7-DC43CA173DEF}"/>
              </a:ext>
            </a:extLst>
          </p:cNvPr>
          <p:cNvSpPr>
            <a:spLocks/>
          </p:cNvSpPr>
          <p:nvPr/>
        </p:nvSpPr>
        <p:spPr bwMode="auto">
          <a:xfrm flipV="1">
            <a:off x="3657600" y="2576513"/>
            <a:ext cx="523875" cy="20002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Text Box 251">
            <a:extLst>
              <a:ext uri="{FF2B5EF4-FFF2-40B4-BE49-F238E27FC236}">
                <a16:creationId xmlns:a16="http://schemas.microsoft.com/office/drawing/2014/main" id="{0CB3614D-81E2-1350-31B0-F4739616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1480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32778" name="Text Box 273">
            <a:extLst>
              <a:ext uri="{FF2B5EF4-FFF2-40B4-BE49-F238E27FC236}">
                <a16:creationId xmlns:a16="http://schemas.microsoft.com/office/drawing/2014/main" id="{4C9E3FFD-AA66-2EC7-7A3D-DF0BBC69E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6195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20491" name="Rectangle 298">
            <a:extLst>
              <a:ext uri="{FF2B5EF4-FFF2-40B4-BE49-F238E27FC236}">
                <a16:creationId xmlns:a16="http://schemas.microsoft.com/office/drawing/2014/main" id="{C2EE063B-6AC1-A2B4-29F6-F0D45209A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143000"/>
            <a:ext cx="1987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[1])</a:t>
            </a:r>
          </a:p>
        </p:txBody>
      </p:sp>
      <p:sp>
        <p:nvSpPr>
          <p:cNvPr id="20492" name="Rectangle 299">
            <a:extLst>
              <a:ext uri="{FF2B5EF4-FFF2-40B4-BE49-F238E27FC236}">
                <a16:creationId xmlns:a16="http://schemas.microsoft.com/office/drawing/2014/main" id="{868BED49-1286-B003-E477-DB9FCD92F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1628775"/>
            <a:ext cx="200501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[2])</a:t>
            </a:r>
          </a:p>
        </p:txBody>
      </p:sp>
      <p:sp>
        <p:nvSpPr>
          <p:cNvPr id="20493" name="Rectangle 300">
            <a:extLst>
              <a:ext uri="{FF2B5EF4-FFF2-40B4-BE49-F238E27FC236}">
                <a16:creationId xmlns:a16="http://schemas.microsoft.com/office/drawing/2014/main" id="{EF7E7958-AA56-7057-5977-9B0F32760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763" y="2271713"/>
            <a:ext cx="2005012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[3])</a:t>
            </a:r>
          </a:p>
        </p:txBody>
      </p:sp>
      <p:sp>
        <p:nvSpPr>
          <p:cNvPr id="20494" name="Rectangle 300">
            <a:extLst>
              <a:ext uri="{FF2B5EF4-FFF2-40B4-BE49-F238E27FC236}">
                <a16:creationId xmlns:a16="http://schemas.microsoft.com/office/drawing/2014/main" id="{5A755B4F-9178-9BCA-DBF9-4EB88F003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587625"/>
            <a:ext cx="2005013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[4])</a:t>
            </a:r>
          </a:p>
        </p:txBody>
      </p:sp>
      <p:sp>
        <p:nvSpPr>
          <p:cNvPr id="20495" name="Rectangle 300">
            <a:extLst>
              <a:ext uri="{FF2B5EF4-FFF2-40B4-BE49-F238E27FC236}">
                <a16:creationId xmlns:a16="http://schemas.microsoft.com/office/drawing/2014/main" id="{67D3011D-B57F-3F99-AB46-C9F127BC0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8975" y="2982913"/>
            <a:ext cx="2005013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swap(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,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[5])</a:t>
            </a:r>
          </a:p>
        </p:txBody>
      </p:sp>
      <p:sp>
        <p:nvSpPr>
          <p:cNvPr id="32784" name="Rectangle 3">
            <a:extLst>
              <a:ext uri="{FF2B5EF4-FFF2-40B4-BE49-F238E27FC236}">
                <a16:creationId xmlns:a16="http://schemas.microsoft.com/office/drawing/2014/main" id="{7BDE6202-C924-4036-D164-1599CD68A8C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42672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100" b="1">
                <a:latin typeface="Times New Roman" panose="02020603050405020304" pitchFamily="18" charset="0"/>
              </a:rPr>
              <a:t> n =N; </a:t>
            </a:r>
            <a:r>
              <a:rPr lang="en-US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1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1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100" b="1">
                <a:latin typeface="Times New Roman" panose="02020603050405020304" pitchFamily="18" charset="0"/>
              </a:rPr>
              <a:t> (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1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1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  }</a:t>
            </a:r>
            <a:r>
              <a:rPr lang="en-US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       </a:t>
            </a:r>
            <a:r>
              <a:rPr lang="en-US" altLang="en-US" sz="11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1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100" b="1">
                <a:latin typeface="Times New Roman" panose="02020603050405020304" pitchFamily="18" charset="0"/>
              </a:rPr>
              <a:t>			</a:t>
            </a:r>
            <a:endParaRPr lang="en-US" altLang="en-US" sz="1100" b="1">
              <a:latin typeface="Trebuchet MS" panose="020B0603020202020204" pitchFamily="34" charset="0"/>
            </a:endParaRP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01D71CA4-BCD1-9999-9DE8-B6446BCA5D03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762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97AEBF8E-22A4-A66B-6CCB-AF798506EABA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2954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37" name="Freeform 184">
            <a:extLst>
              <a:ext uri="{FF2B5EF4-FFF2-40B4-BE49-F238E27FC236}">
                <a16:creationId xmlns:a16="http://schemas.microsoft.com/office/drawing/2014/main" id="{B0097217-C8AC-E8B1-316C-F398D7795910}"/>
              </a:ext>
            </a:extLst>
          </p:cNvPr>
          <p:cNvSpPr>
            <a:spLocks/>
          </p:cNvSpPr>
          <p:nvPr/>
        </p:nvSpPr>
        <p:spPr bwMode="auto">
          <a:xfrm flipV="1">
            <a:off x="1438275" y="106680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430FFAF-1776-AD31-2FC7-CF375C5D032E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18081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BBCEF84-41F7-DAE9-E203-7969AF7A13A4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22431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16EA38B-2C0B-35D4-9013-90042410EBC5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272732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D2002E6F-5F6C-7397-4FC3-8D7AD767F8B3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2004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618" name="Freeform 185">
            <a:extLst>
              <a:ext uri="{FF2B5EF4-FFF2-40B4-BE49-F238E27FC236}">
                <a16:creationId xmlns:a16="http://schemas.microsoft.com/office/drawing/2014/main" id="{02DEDFEF-DE97-B6F9-3906-1717911A0673}"/>
              </a:ext>
            </a:extLst>
          </p:cNvPr>
          <p:cNvSpPr>
            <a:spLocks/>
          </p:cNvSpPr>
          <p:nvPr/>
        </p:nvSpPr>
        <p:spPr bwMode="auto">
          <a:xfrm flipV="1">
            <a:off x="2209800" y="1662113"/>
            <a:ext cx="55245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19" name="Freeform 208">
            <a:extLst>
              <a:ext uri="{FF2B5EF4-FFF2-40B4-BE49-F238E27FC236}">
                <a16:creationId xmlns:a16="http://schemas.microsoft.com/office/drawing/2014/main" id="{337D57C4-C201-64ED-CF97-3429219B77A1}"/>
              </a:ext>
            </a:extLst>
          </p:cNvPr>
          <p:cNvSpPr>
            <a:spLocks/>
          </p:cNvSpPr>
          <p:nvPr/>
        </p:nvSpPr>
        <p:spPr bwMode="auto">
          <a:xfrm flipV="1">
            <a:off x="2819400" y="2119313"/>
            <a:ext cx="671513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20" name="Freeform 252">
            <a:extLst>
              <a:ext uri="{FF2B5EF4-FFF2-40B4-BE49-F238E27FC236}">
                <a16:creationId xmlns:a16="http://schemas.microsoft.com/office/drawing/2014/main" id="{3B8E5454-8989-5704-6BB3-729A1463DAD1}"/>
              </a:ext>
            </a:extLst>
          </p:cNvPr>
          <p:cNvSpPr>
            <a:spLocks/>
          </p:cNvSpPr>
          <p:nvPr/>
        </p:nvSpPr>
        <p:spPr bwMode="auto">
          <a:xfrm flipV="1">
            <a:off x="4343400" y="2986088"/>
            <a:ext cx="609600" cy="26193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837D7B5-97FB-9DFE-71A7-EE261179E43E}"/>
              </a:ext>
            </a:extLst>
          </p:cNvPr>
          <p:cNvGraphicFramePr>
            <a:graphicFrameLocks noGrp="1"/>
          </p:cNvGraphicFramePr>
          <p:nvPr/>
        </p:nvGraphicFramePr>
        <p:xfrm>
          <a:off x="1087438" y="36369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DE9A41BB-EB47-545D-D6DF-655E877A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32930" name="Slide Number Placeholder 28">
            <a:extLst>
              <a:ext uri="{FF2B5EF4-FFF2-40B4-BE49-F238E27FC236}">
                <a16:creationId xmlns:a16="http://schemas.microsoft.com/office/drawing/2014/main" id="{C5825F11-449C-2C8B-E9CA-1618AA0ED6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734299-06B0-480A-A108-28FD0604F506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DE4B8FB-CD76-7CFA-1628-C2581856D5D6}"/>
              </a:ext>
            </a:extLst>
          </p:cNvPr>
          <p:cNvCxnSpPr/>
          <p:nvPr/>
        </p:nvCxnSpPr>
        <p:spPr>
          <a:xfrm>
            <a:off x="1582738" y="83820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077B5E0-7C44-18DC-CC1A-B20734BE6A96}"/>
              </a:ext>
            </a:extLst>
          </p:cNvPr>
          <p:cNvCxnSpPr/>
          <p:nvPr/>
        </p:nvCxnSpPr>
        <p:spPr>
          <a:xfrm>
            <a:off x="2379663" y="133667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02F1FD9-6BE0-41B3-2A83-1F3E0CC236E6}"/>
              </a:ext>
            </a:extLst>
          </p:cNvPr>
          <p:cNvCxnSpPr/>
          <p:nvPr/>
        </p:nvCxnSpPr>
        <p:spPr>
          <a:xfrm>
            <a:off x="3106738" y="1903413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FD44C03-7D82-05E9-853C-B96A16E19533}"/>
              </a:ext>
            </a:extLst>
          </p:cNvPr>
          <p:cNvCxnSpPr/>
          <p:nvPr/>
        </p:nvCxnSpPr>
        <p:spPr>
          <a:xfrm>
            <a:off x="3810000" y="233680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50AE1DC-99C9-A703-50AF-009630C0CBB2}"/>
              </a:ext>
            </a:extLst>
          </p:cNvPr>
          <p:cNvCxnSpPr/>
          <p:nvPr/>
        </p:nvCxnSpPr>
        <p:spPr>
          <a:xfrm>
            <a:off x="4589463" y="2835275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9EAA2E3-2D97-8D08-3739-BFF6E57AD32B}"/>
              </a:ext>
            </a:extLst>
          </p:cNvPr>
          <p:cNvCxnSpPr/>
          <p:nvPr/>
        </p:nvCxnSpPr>
        <p:spPr>
          <a:xfrm>
            <a:off x="5326063" y="3276600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1" grpId="0" animBg="1"/>
      <p:bldP spid="20492" grpId="0" animBg="1"/>
      <p:bldP spid="20493" grpId="0" animBg="1"/>
      <p:bldP spid="20494" grpId="0" animBg="1"/>
      <p:bldP spid="2049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85331B2-87DD-7605-4ACF-8A4EBEA143DE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(Third Pass)</a:t>
            </a:r>
          </a:p>
        </p:txBody>
      </p:sp>
      <p:sp>
        <p:nvSpPr>
          <p:cNvPr id="34819" name="Text Box 32">
            <a:extLst>
              <a:ext uri="{FF2B5EF4-FFF2-40B4-BE49-F238E27FC236}">
                <a16:creationId xmlns:a16="http://schemas.microsoft.com/office/drawing/2014/main" id="{2F1375AD-ADB4-A0CA-AE06-370BBF105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34820" name="Text Box 34">
            <a:extLst>
              <a:ext uri="{FF2B5EF4-FFF2-40B4-BE49-F238E27FC236}">
                <a16:creationId xmlns:a16="http://schemas.microsoft.com/office/drawing/2014/main" id="{0DB8311E-E63E-4559-5442-20B5C794F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4821" name="Text Box 183">
            <a:extLst>
              <a:ext uri="{FF2B5EF4-FFF2-40B4-BE49-F238E27FC236}">
                <a16:creationId xmlns:a16="http://schemas.microsoft.com/office/drawing/2014/main" id="{4375A874-6107-5A30-D54A-3B8FE6543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4822" name="Text Box 207">
            <a:extLst>
              <a:ext uri="{FF2B5EF4-FFF2-40B4-BE49-F238E27FC236}">
                <a16:creationId xmlns:a16="http://schemas.microsoft.com/office/drawing/2014/main" id="{B7C3FB6E-6E1E-560B-A5E3-679DC7B85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34823" name="Text Box 229">
            <a:extLst>
              <a:ext uri="{FF2B5EF4-FFF2-40B4-BE49-F238E27FC236}">
                <a16:creationId xmlns:a16="http://schemas.microsoft.com/office/drawing/2014/main" id="{8F389874-41CB-8DCC-A82B-A3D882EAA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34824" name="Text Box 251">
            <a:extLst>
              <a:ext uri="{FF2B5EF4-FFF2-40B4-BE49-F238E27FC236}">
                <a16:creationId xmlns:a16="http://schemas.microsoft.com/office/drawing/2014/main" id="{89FA4617-DB89-A620-CEF4-1AE4DED64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75" y="31480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34825" name="Rectangle 3">
            <a:extLst>
              <a:ext uri="{FF2B5EF4-FFF2-40B4-BE49-F238E27FC236}">
                <a16:creationId xmlns:a16="http://schemas.microsoft.com/office/drawing/2014/main" id="{5254C0E5-4151-4F5A-77E0-522B7D3CCEB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38862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02E401C-B64B-98CD-F472-D21DD43435F8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89852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DBAB47F-2D47-EC7D-B7A4-EA12509549F5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32004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81232CA-B54A-AF54-1D46-9A89FAB5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34867" name="Slide Number Placeholder 12">
            <a:extLst>
              <a:ext uri="{FF2B5EF4-FFF2-40B4-BE49-F238E27FC236}">
                <a16:creationId xmlns:a16="http://schemas.microsoft.com/office/drawing/2014/main" id="{2A974F65-FA09-D584-EED9-B089D5C3EB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94F371-6E81-4B33-AD87-2D15393772D9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6FCF8A3-CB11-7E92-E0FA-76C3A55D1C5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(Fourth Pass)</a:t>
            </a:r>
          </a:p>
        </p:txBody>
      </p:sp>
      <p:sp>
        <p:nvSpPr>
          <p:cNvPr id="36867" name="Text Box 32">
            <a:extLst>
              <a:ext uri="{FF2B5EF4-FFF2-40B4-BE49-F238E27FC236}">
                <a16:creationId xmlns:a16="http://schemas.microsoft.com/office/drawing/2014/main" id="{76CEE572-6A26-C04B-2540-4CAE9E77A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36868" name="Text Box 34">
            <a:extLst>
              <a:ext uri="{FF2B5EF4-FFF2-40B4-BE49-F238E27FC236}">
                <a16:creationId xmlns:a16="http://schemas.microsoft.com/office/drawing/2014/main" id="{8092C80F-241E-7CCF-0574-EF6174922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6869" name="Text Box 183">
            <a:extLst>
              <a:ext uri="{FF2B5EF4-FFF2-40B4-BE49-F238E27FC236}">
                <a16:creationId xmlns:a16="http://schemas.microsoft.com/office/drawing/2014/main" id="{1B6DD9B8-9368-F3AE-FB68-4699F1CF2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6870" name="Text Box 207">
            <a:extLst>
              <a:ext uri="{FF2B5EF4-FFF2-40B4-BE49-F238E27FC236}">
                <a16:creationId xmlns:a16="http://schemas.microsoft.com/office/drawing/2014/main" id="{200663DA-59BB-A38E-4762-D1DFD9D0C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36871" name="Text Box 229">
            <a:extLst>
              <a:ext uri="{FF2B5EF4-FFF2-40B4-BE49-F238E27FC236}">
                <a16:creationId xmlns:a16="http://schemas.microsoft.com/office/drawing/2014/main" id="{3726C087-FA3B-975D-20D0-865BE010A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27003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36872" name="Rectangle 3">
            <a:extLst>
              <a:ext uri="{FF2B5EF4-FFF2-40B4-BE49-F238E27FC236}">
                <a16:creationId xmlns:a16="http://schemas.microsoft.com/office/drawing/2014/main" id="{87AFCF51-82CB-9C56-2108-119932836AF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37338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6A646EE2-85FB-82FF-9982-AD94F12E2DF7}"/>
              </a:ext>
            </a:extLst>
          </p:cNvPr>
          <p:cNvGraphicFramePr>
            <a:graphicFrameLocks noGrp="1"/>
          </p:cNvGraphicFramePr>
          <p:nvPr/>
        </p:nvGraphicFramePr>
        <p:xfrm>
          <a:off x="1295400" y="8382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518DD36-C761-BF0C-E716-485FB541E8C3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27432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E419306-E01F-AA32-8A77-BCA277EF1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36914" name="Slide Number Placeholder 12">
            <a:extLst>
              <a:ext uri="{FF2B5EF4-FFF2-40B4-BE49-F238E27FC236}">
                <a16:creationId xmlns:a16="http://schemas.microsoft.com/office/drawing/2014/main" id="{8D771408-A56F-FE27-23C0-343BA9E22A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1855FF-BE8E-4BF0-AAD9-EB92D8CD1F4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A12BE44-EBFB-E5FC-C910-F85AA9E745A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(Fifth Pass)</a:t>
            </a:r>
          </a:p>
        </p:txBody>
      </p:sp>
      <p:sp>
        <p:nvSpPr>
          <p:cNvPr id="38915" name="Text Box 32">
            <a:extLst>
              <a:ext uri="{FF2B5EF4-FFF2-40B4-BE49-F238E27FC236}">
                <a16:creationId xmlns:a16="http://schemas.microsoft.com/office/drawing/2014/main" id="{1C3BBA44-2297-0867-56D4-E2E0E20B8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38916" name="Text Box 34">
            <a:extLst>
              <a:ext uri="{FF2B5EF4-FFF2-40B4-BE49-F238E27FC236}">
                <a16:creationId xmlns:a16="http://schemas.microsoft.com/office/drawing/2014/main" id="{F7239EBB-2350-173B-7720-92DF525B4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8917" name="Text Box 183">
            <a:extLst>
              <a:ext uri="{FF2B5EF4-FFF2-40B4-BE49-F238E27FC236}">
                <a16:creationId xmlns:a16="http://schemas.microsoft.com/office/drawing/2014/main" id="{FEA168B6-63BA-D85E-EC8E-46B0F3C37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66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38918" name="Text Box 207">
            <a:extLst>
              <a:ext uri="{FF2B5EF4-FFF2-40B4-BE49-F238E27FC236}">
                <a16:creationId xmlns:a16="http://schemas.microsoft.com/office/drawing/2014/main" id="{48C6012A-5DEB-7A8E-F619-508660FC9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383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F0B32407-A419-636B-3559-2067BBB978B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36576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CFFF83E-B674-BB3A-CEC3-AD450916855D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2286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1123137-3379-CBE0-349D-9531194E98A9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990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2E65301-4C62-C1D1-89D0-01D8608F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38961" name="Slide Number Placeholder 12">
            <a:extLst>
              <a:ext uri="{FF2B5EF4-FFF2-40B4-BE49-F238E27FC236}">
                <a16:creationId xmlns:a16="http://schemas.microsoft.com/office/drawing/2014/main" id="{A27E3FF4-2688-EA80-C624-897B71E65D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57ECD7-8422-4089-A140-7A9BB7B6FD2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B320B37-6879-2DAF-AAD0-25B8D5793CD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 Example (Sixth Pass)</a:t>
            </a:r>
          </a:p>
        </p:txBody>
      </p:sp>
      <p:sp>
        <p:nvSpPr>
          <p:cNvPr id="40963" name="Text Box 32">
            <a:extLst>
              <a:ext uri="{FF2B5EF4-FFF2-40B4-BE49-F238E27FC236}">
                <a16:creationId xmlns:a16="http://schemas.microsoft.com/office/drawing/2014/main" id="{2A034559-8A99-A052-8C81-96A409FF9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40964" name="Text Box 34">
            <a:extLst>
              <a:ext uri="{FF2B5EF4-FFF2-40B4-BE49-F238E27FC236}">
                <a16:creationId xmlns:a16="http://schemas.microsoft.com/office/drawing/2014/main" id="{F58290C8-439D-906C-558F-359CFB174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690688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08B08910-83F6-D935-B785-94A7F4C4278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34290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F801A04-56B2-3732-DEFD-1855D9EA60C1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1752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C7E1A6F-5499-6B41-FFDB-0D63678BF8CC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990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006" name="Text Box 34">
            <a:extLst>
              <a:ext uri="{FF2B5EF4-FFF2-40B4-BE49-F238E27FC236}">
                <a16:creationId xmlns:a16="http://schemas.microsoft.com/office/drawing/2014/main" id="{0DA52423-B941-5765-4DB5-EEBE7DE8D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33826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0043DF-4629-87BD-CB0A-3638853B8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1008" name="Slide Number Placeholder 9">
            <a:extLst>
              <a:ext uri="{FF2B5EF4-FFF2-40B4-BE49-F238E27FC236}">
                <a16:creationId xmlns:a16="http://schemas.microsoft.com/office/drawing/2014/main" id="{E5F0E9E6-C2E6-8E91-51F7-0B6522DEC0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7DAFC8-2DE5-45A2-ACB2-343442A37971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AF33E41-98EF-1991-EDE1-A8F3BE69DCF0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6699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Example (Seventh Pass)</a:t>
            </a:r>
          </a:p>
        </p:txBody>
      </p:sp>
      <p:sp>
        <p:nvSpPr>
          <p:cNvPr id="43011" name="Text Box 32">
            <a:extLst>
              <a:ext uri="{FF2B5EF4-FFF2-40B4-BE49-F238E27FC236}">
                <a16:creationId xmlns:a16="http://schemas.microsoft.com/office/drawing/2014/main" id="{5E5FF774-2ED9-9ED8-90B2-D8AA02AD0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" y="7620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43012" name="Text Box 34">
            <a:extLst>
              <a:ext uri="{FF2B5EF4-FFF2-40B4-BE49-F238E27FC236}">
                <a16:creationId xmlns:a16="http://schemas.microsoft.com/office/drawing/2014/main" id="{BE7FEAA7-4A1D-610F-585B-E71F59209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14620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B681F35F-BAF5-3B7A-3DBA-7F38EB4E305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47800" y="3276600"/>
            <a:ext cx="4572000" cy="2286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n =N; 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400" b="1">
                <a:latin typeface="Times New Roman" panose="02020603050405020304" pitchFamily="18" charset="0"/>
              </a:rPr>
              <a:t> (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1400" b="1">
                <a:latin typeface="Times New Roman" panose="02020603050405020304" pitchFamily="18" charset="0"/>
              </a:rPr>
              <a:t> j = 1; j &lt;  n; j++)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1400" b="1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     swap(j-1 , j);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 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       </a:t>
            </a:r>
            <a:r>
              <a:rPr lang="en-US" altLang="en-US" sz="1400" b="1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1400" b="1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        break;                   }</a:t>
            </a:r>
            <a:r>
              <a:rPr lang="en-US" altLang="en-US" sz="1400" b="1">
                <a:solidFill>
                  <a:srgbClr val="FF0000"/>
                </a:solidFill>
                <a:latin typeface="Times New Roman" panose="02020603050405020304" pitchFamily="18" charset="0"/>
              </a:rPr>
              <a:t>//End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 b="1">
                <a:latin typeface="Times New Roman" panose="02020603050405020304" pitchFamily="18" charset="0"/>
              </a:rPr>
              <a:t>			</a:t>
            </a:r>
            <a:endParaRPr lang="en-US" altLang="en-US" sz="1400" b="1">
              <a:latin typeface="Trebuchet MS" panose="020B0603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8973054-8C55-406B-4B34-293940C19F33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15240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65FBD4A-FA8A-4472-E47C-9C10C41F4695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9906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20CCE8-3641-65A8-9419-51249299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3055" name="Slide Number Placeholder 8">
            <a:extLst>
              <a:ext uri="{FF2B5EF4-FFF2-40B4-BE49-F238E27FC236}">
                <a16:creationId xmlns:a16="http://schemas.microsoft.com/office/drawing/2014/main" id="{0A1CC011-5ABE-712F-88D1-0EB82C3336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8A85D5-816A-4C51-BDBE-988500446E18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5B0D3244-389D-E46F-4CB5-73612BEB7CD8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3B27B5A-3DB0-B6C5-3267-96C9B7AA701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762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n =N;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 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j = 1; j &lt;  n; j++)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}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	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AC152-9E27-B6F8-09F5-CF68D279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5061" name="Slide Number Placeholder 4">
            <a:extLst>
              <a:ext uri="{FF2B5EF4-FFF2-40B4-BE49-F238E27FC236}">
                <a16:creationId xmlns:a16="http://schemas.microsoft.com/office/drawing/2014/main" id="{2723F8B2-44C8-518D-3FD2-0F2839A247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AD475A-B213-4FEC-9AA4-7C1E02F24B4E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45062" name="TextBox 5">
            <a:extLst>
              <a:ext uri="{FF2B5EF4-FFF2-40B4-BE49-F238E27FC236}">
                <a16:creationId xmlns:a16="http://schemas.microsoft.com/office/drawing/2014/main" id="{3716D8DE-0D14-5746-2D6D-1C92A8E09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295400"/>
            <a:ext cx="3883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does not exit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until all the data is checked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A800ED2-C36E-C612-E602-6C3FC0F8ED39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304800" y="-239713"/>
            <a:ext cx="7239000" cy="762001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– output(1) worst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43905-6308-AD99-5D91-34FD15BEF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7108" name="Slide Number Placeholder 4">
            <a:extLst>
              <a:ext uri="{FF2B5EF4-FFF2-40B4-BE49-F238E27FC236}">
                <a16:creationId xmlns:a16="http://schemas.microsoft.com/office/drawing/2014/main" id="{4F3390E1-5EF3-CB41-81A2-ABC7D36F61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38BD76-DEE7-4CF7-B499-9BF74BAB9CE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pic>
        <p:nvPicPr>
          <p:cNvPr id="47109" name="Picture 10">
            <a:extLst>
              <a:ext uri="{FF2B5EF4-FFF2-40B4-BE49-F238E27FC236}">
                <a16:creationId xmlns:a16="http://schemas.microsoft.com/office/drawing/2014/main" id="{CD120541-A31C-D1E5-30E6-141787DC5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" t="3810" r="37071" b="7510"/>
          <a:stretch>
            <a:fillRect/>
          </a:stretch>
        </p:blipFill>
        <p:spPr bwMode="auto">
          <a:xfrm>
            <a:off x="730250" y="3157538"/>
            <a:ext cx="365760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9">
            <a:extLst>
              <a:ext uri="{FF2B5EF4-FFF2-40B4-BE49-F238E27FC236}">
                <a16:creationId xmlns:a16="http://schemas.microsoft.com/office/drawing/2014/main" id="{3A1FF0A1-08EE-F16E-1245-7DD92B233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" r="37106" b="7936"/>
          <a:stretch>
            <a:fillRect/>
          </a:stretch>
        </p:blipFill>
        <p:spPr bwMode="auto">
          <a:xfrm>
            <a:off x="730250" y="511175"/>
            <a:ext cx="3654425" cy="323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1" name="Picture 10">
            <a:extLst>
              <a:ext uri="{FF2B5EF4-FFF2-40B4-BE49-F238E27FC236}">
                <a16:creationId xmlns:a16="http://schemas.microsoft.com/office/drawing/2014/main" id="{1723F051-E435-2BF0-1ECB-EF72DF7AD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" t="3810" r="37071" b="7510"/>
          <a:stretch>
            <a:fillRect/>
          </a:stretch>
        </p:blipFill>
        <p:spPr bwMode="auto">
          <a:xfrm>
            <a:off x="730250" y="3744913"/>
            <a:ext cx="365760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D14AD-8980-64FF-CDEE-E98EA874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49155" name="Slide Number Placeholder 4">
            <a:extLst>
              <a:ext uri="{FF2B5EF4-FFF2-40B4-BE49-F238E27FC236}">
                <a16:creationId xmlns:a16="http://schemas.microsoft.com/office/drawing/2014/main" id="{BD82DDC9-AF9A-4108-F9F8-6701F1AE14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374BF1-AE7E-4A2C-9243-DF24547201F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70C3AFC-A59A-B189-10A4-8DC8410F7F5E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304800" y="-228600"/>
            <a:ext cx="7239000" cy="7620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– output(2) mixed data</a:t>
            </a:r>
          </a:p>
        </p:txBody>
      </p:sp>
      <p:pic>
        <p:nvPicPr>
          <p:cNvPr id="49157" name="Picture 2">
            <a:extLst>
              <a:ext uri="{FF2B5EF4-FFF2-40B4-BE49-F238E27FC236}">
                <a16:creationId xmlns:a16="http://schemas.microsoft.com/office/drawing/2014/main" id="{E0566BE0-DDD8-F4A3-5BD1-5999B1643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9" t="4468" r="32632" b="7712"/>
          <a:stretch>
            <a:fillRect/>
          </a:stretch>
        </p:blipFill>
        <p:spPr bwMode="auto">
          <a:xfrm>
            <a:off x="554038" y="496888"/>
            <a:ext cx="3690937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8" name="Picture 3">
            <a:extLst>
              <a:ext uri="{FF2B5EF4-FFF2-40B4-BE49-F238E27FC236}">
                <a16:creationId xmlns:a16="http://schemas.microsoft.com/office/drawing/2014/main" id="{5C126487-FBF2-66D2-F11F-1763235A9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7" t="4202" r="33182" b="8807"/>
          <a:stretch>
            <a:fillRect/>
          </a:stretch>
        </p:blipFill>
        <p:spPr bwMode="auto">
          <a:xfrm>
            <a:off x="525463" y="3575050"/>
            <a:ext cx="3686175" cy="305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AE86B15-5A50-2941-42EF-6DCB1621989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304800" y="-239713"/>
            <a:ext cx="7239000" cy="762001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– output(1) Best case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708A8-5AFF-B157-8895-ACFD816A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1204" name="Slide Number Placeholder 4">
            <a:extLst>
              <a:ext uri="{FF2B5EF4-FFF2-40B4-BE49-F238E27FC236}">
                <a16:creationId xmlns:a16="http://schemas.microsoft.com/office/drawing/2014/main" id="{B1BB72CC-7853-9FBB-82A7-68DC9D85A0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AECADE-0E46-4472-A35F-CCD4FACDF23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pic>
        <p:nvPicPr>
          <p:cNvPr id="51205" name="Picture 2">
            <a:extLst>
              <a:ext uri="{FF2B5EF4-FFF2-40B4-BE49-F238E27FC236}">
                <a16:creationId xmlns:a16="http://schemas.microsoft.com/office/drawing/2014/main" id="{D0250933-74B3-36F0-9509-54D760C66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" r="38994" b="7553"/>
          <a:stretch>
            <a:fillRect/>
          </a:stretch>
        </p:blipFill>
        <p:spPr bwMode="auto">
          <a:xfrm>
            <a:off x="296863" y="542925"/>
            <a:ext cx="3665537" cy="324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6" name="Picture 3">
            <a:extLst>
              <a:ext uri="{FF2B5EF4-FFF2-40B4-BE49-F238E27FC236}">
                <a16:creationId xmlns:a16="http://schemas.microsoft.com/office/drawing/2014/main" id="{8188EC87-51C7-9FC4-2F61-394A5C57B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0" t="4341" r="39116" b="8420"/>
          <a:stretch>
            <a:fillRect/>
          </a:stretch>
        </p:blipFill>
        <p:spPr bwMode="auto">
          <a:xfrm>
            <a:off x="295275" y="3794125"/>
            <a:ext cx="3649663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4CF72F99-D4ED-80D7-0918-E1E42967394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-39688"/>
            <a:ext cx="7239000" cy="7620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Bubble Sort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41F58E8-C918-4B06-679C-EB513322D6A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762000"/>
            <a:ext cx="7239000" cy="5943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n =N;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(int i = 0; i &lt; N; i++){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swapped = 0;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j = 1; j &lt;  n; j++)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</a:rPr>
              <a:t> (A[j] &lt; A[j-1]) 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swap(j-1 , j);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     swapped = 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}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n = n-1;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>
                <a:latin typeface="Times New Roman" panose="02020603050405020304" pitchFamily="18" charset="0"/>
              </a:rPr>
              <a:t>(swapped == 0)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    break;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}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1200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	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sz="2000"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AFA13-14E9-F1FB-93FA-5BA6C6DFC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3253" name="Slide Number Placeholder 4">
            <a:extLst>
              <a:ext uri="{FF2B5EF4-FFF2-40B4-BE49-F238E27FC236}">
                <a16:creationId xmlns:a16="http://schemas.microsoft.com/office/drawing/2014/main" id="{E2E18DC1-34F1-3EFD-FF1F-DE82E35102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807751-0B66-4E9F-B957-43FE99A87D5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A1AAFC-592A-D7B0-337A-26D7E1FB0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413" y="4267200"/>
            <a:ext cx="44465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Algorithm exits if no swap done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 in previous (outer loop) step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6643A86-1B07-A869-5DC8-42BC2DD047C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304800" y="-39688"/>
            <a:ext cx="7239000" cy="762001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– output(1) worst case</a:t>
            </a:r>
          </a:p>
        </p:txBody>
      </p:sp>
      <p:pic>
        <p:nvPicPr>
          <p:cNvPr id="55299" name="Picture 4">
            <a:extLst>
              <a:ext uri="{FF2B5EF4-FFF2-40B4-BE49-F238E27FC236}">
                <a16:creationId xmlns:a16="http://schemas.microsoft.com/office/drawing/2014/main" id="{E6F69E4C-DBCB-011D-B2B2-4327431B1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" y="642938"/>
            <a:ext cx="8077200" cy="621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4B317-A342-9B32-AFDC-3FCA7A7B7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5301" name="Slide Number Placeholder 4">
            <a:extLst>
              <a:ext uri="{FF2B5EF4-FFF2-40B4-BE49-F238E27FC236}">
                <a16:creationId xmlns:a16="http://schemas.microsoft.com/office/drawing/2014/main" id="{6B4544A8-F43D-12BD-925B-47FEF44E6B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DF2935-4668-407D-AB98-A5EFD7DCC02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91F6171-38CD-912B-338A-FDF376E9E8C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304800" y="-39688"/>
            <a:ext cx="7239000" cy="762001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Bubble Sort – output (1) best case</a:t>
            </a:r>
          </a:p>
        </p:txBody>
      </p:sp>
      <p:pic>
        <p:nvPicPr>
          <p:cNvPr id="57347" name="Picture 3">
            <a:extLst>
              <a:ext uri="{FF2B5EF4-FFF2-40B4-BE49-F238E27FC236}">
                <a16:creationId xmlns:a16="http://schemas.microsoft.com/office/drawing/2014/main" id="{DD77F897-5B2C-64B0-CC8C-925F67A48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8177213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EB4DB-2EFD-52CF-D20A-07045B6F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7349" name="Slide Number Placeholder 4">
            <a:extLst>
              <a:ext uri="{FF2B5EF4-FFF2-40B4-BE49-F238E27FC236}">
                <a16:creationId xmlns:a16="http://schemas.microsoft.com/office/drawing/2014/main" id="{41E2B15E-AF11-5CE7-4681-7FC3517224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6788A0-830B-49BF-81FE-401483C76D8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CE7B4B3F-EE49-860D-3DF4-50A0112633D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47243CDE-3FDC-70E6-2C23-5B1FA0D03488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>
                <a:latin typeface="Trebuchet MS" panose="020B0603020202020204" pitchFamily="34" charset="0"/>
              </a:rPr>
              <a:t>On the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th</a:t>
            </a:r>
            <a:r>
              <a:rPr lang="en-US" altLang="en-US">
                <a:latin typeface="Trebuchet MS" panose="020B0603020202020204" pitchFamily="34" charset="0"/>
              </a:rPr>
              <a:t> pass we “insert” the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i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th</a:t>
            </a:r>
            <a:r>
              <a:rPr lang="en-US" altLang="en-US">
                <a:latin typeface="Trebuchet MS" panose="020B0603020202020204" pitchFamily="34" charset="0"/>
              </a:rPr>
              <a:t> element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[i]</a:t>
            </a:r>
            <a:r>
              <a:rPr lang="en-US" altLang="en-US">
                <a:latin typeface="Trebuchet MS" panose="020B0603020202020204" pitchFamily="34" charset="0"/>
              </a:rPr>
              <a:t> into its rightful place among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[1],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[2],…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[i-1]</a:t>
            </a:r>
            <a:r>
              <a:rPr lang="en-US" altLang="en-US">
                <a:latin typeface="Trebuchet MS" panose="020B0603020202020204" pitchFamily="34" charset="0"/>
              </a:rPr>
              <a:t> which were placed in sorted order.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	After this insertion 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[1],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[2],…</a:t>
            </a:r>
            <a:r>
              <a:rPr lang="en-US" altLang="en-US" i="1">
                <a:solidFill>
                  <a:srgbClr val="0000CC"/>
                </a:solidFill>
                <a:latin typeface="Trebuchet MS" panose="020B0603020202020204" pitchFamily="34" charset="0"/>
              </a:rPr>
              <a:t>A</a:t>
            </a:r>
            <a:r>
              <a:rPr lang="en-US" altLang="en-US">
                <a:solidFill>
                  <a:srgbClr val="0000CC"/>
                </a:solidFill>
                <a:latin typeface="Trebuchet MS" panose="020B0603020202020204" pitchFamily="34" charset="0"/>
              </a:rPr>
              <a:t>[i]</a:t>
            </a:r>
            <a:r>
              <a:rPr lang="en-US" altLang="en-US">
                <a:latin typeface="Trebuchet MS" panose="020B0603020202020204" pitchFamily="34" charset="0"/>
              </a:rPr>
              <a:t> are in sorted order.</a:t>
            </a:r>
          </a:p>
          <a:p>
            <a:endParaRPr lang="en-US" altLang="en-US">
              <a:latin typeface="Trebuchet MS" panose="020B0603020202020204" pitchFamily="34" charset="0"/>
            </a:endParaRPr>
          </a:p>
          <a:p>
            <a:r>
              <a:rPr lang="en-US" altLang="en-US">
                <a:latin typeface="Trebuchet MS" panose="020B0603020202020204" pitchFamily="34" charset="0"/>
              </a:rPr>
              <a:t>		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D15FC-8384-FF9F-39AC-A1C7624B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59397" name="Slide Number Placeholder 4">
            <a:extLst>
              <a:ext uri="{FF2B5EF4-FFF2-40B4-BE49-F238E27FC236}">
                <a16:creationId xmlns:a16="http://schemas.microsoft.com/office/drawing/2014/main" id="{18EAF7FD-7AB8-BF00-31BA-A5C471845E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754F82-EC80-4C40-A669-471E634C40E1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1509A3DF-EF1F-EC6D-72A0-9D8196F2FB4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1562CD7D-8BBC-7225-3E72-9F162F5631F9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latin typeface="Times New Roman" panose="02020603050405020304" pitchFamily="18" charset="0"/>
              </a:rPr>
              <a:t> (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i </a:t>
            </a:r>
            <a:r>
              <a:rPr lang="en-US" altLang="en-US">
                <a:latin typeface="Times New Roman" panose="02020603050405020304" pitchFamily="18" charset="0"/>
              </a:rPr>
              <a:t>=1, </a:t>
            </a:r>
            <a:r>
              <a:rPr lang="en-US" altLang="en-US" i="1">
                <a:latin typeface="Times New Roman" panose="02020603050405020304" pitchFamily="18" charset="0"/>
              </a:rPr>
              <a:t>i  </a:t>
            </a:r>
            <a:r>
              <a:rPr lang="en-US" altLang="en-US">
                <a:latin typeface="Times New Roman" panose="02020603050405020304" pitchFamily="18" charset="0"/>
              </a:rPr>
              <a:t>&lt;  </a:t>
            </a:r>
            <a:r>
              <a:rPr lang="en-US" altLang="en-US" i="1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i="1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  temp =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latin typeface="Times New Roman" panose="02020603050405020304" pitchFamily="18" charset="0"/>
              </a:rPr>
              <a:t> (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j </a:t>
            </a:r>
            <a:r>
              <a:rPr lang="en-US" altLang="en-US">
                <a:latin typeface="Times New Roman" panose="02020603050405020304" pitchFamily="18" charset="0"/>
              </a:rPr>
              <a:t>= i, </a:t>
            </a:r>
            <a:r>
              <a:rPr lang="en-US" altLang="en-US" i="1">
                <a:latin typeface="Times New Roman" panose="02020603050405020304" pitchFamily="18" charset="0"/>
              </a:rPr>
              <a:t>j&gt;0  &amp;&amp;  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-1]</a:t>
            </a:r>
            <a:r>
              <a:rPr lang="en-US" altLang="en-US" i="1">
                <a:latin typeface="Times New Roman" panose="02020603050405020304" pitchFamily="18" charset="0"/>
              </a:rPr>
              <a:t> &gt; temp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       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] =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   </a:t>
            </a:r>
            <a:r>
              <a:rPr lang="en-US" altLang="en-US" i="1">
                <a:latin typeface="Times New Roman" panose="02020603050405020304" pitchFamily="18" charset="0"/>
              </a:rPr>
              <a:t>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  }// 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</a:t>
            </a:r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F5E52-1466-29A1-FFF4-590FBE0F8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1445" name="Slide Number Placeholder 4">
            <a:extLst>
              <a:ext uri="{FF2B5EF4-FFF2-40B4-BE49-F238E27FC236}">
                <a16:creationId xmlns:a16="http://schemas.microsoft.com/office/drawing/2014/main" id="{20E1502D-7715-2233-1F7A-71555450CA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0491AF-C6D1-47A5-AA41-0E1521A087D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7D0CA5-9487-BD9F-025E-F32EC5C39F95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3DF536-852F-801D-ADF0-CF7F859DA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1981200"/>
            <a:ext cx="311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    </a:t>
            </a:r>
            <a:r>
              <a:rPr lang="en-US" altLang="en-US" sz="1800" b="1" i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&gt; 0  &amp;&amp;  A [</a:t>
            </a:r>
            <a:r>
              <a:rPr lang="en-US" altLang="en-US" sz="1800" b="1" i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j </a:t>
            </a: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-1] &gt; </a:t>
            </a:r>
            <a:r>
              <a:rPr lang="en-US" altLang="en-US" sz="1800" b="1" i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temp</a:t>
            </a:r>
            <a:r>
              <a:rPr lang="en-US" altLang="en-US" sz="1800" b="1">
                <a:solidFill>
                  <a:srgbClr val="B53325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</a:t>
            </a:r>
            <a:endParaRPr lang="en-US" altLang="en-US" sz="1800" b="1">
              <a:solidFill>
                <a:srgbClr val="B53325"/>
              </a:solidFill>
              <a:latin typeface="Times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FC214C-AB78-C94A-EBED-061ECB147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9575" y="1676400"/>
            <a:ext cx="1089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62  &gt;  58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219EEA-6868-1EAA-3B7F-4F750E8C2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788" y="2286000"/>
            <a:ext cx="1928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       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[0]</a:t>
            </a:r>
          </a:p>
        </p:txBody>
      </p:sp>
      <p:sp>
        <p:nvSpPr>
          <p:cNvPr id="63494" name="Rectangle 2">
            <a:extLst>
              <a:ext uri="{FF2B5EF4-FFF2-40B4-BE49-F238E27FC236}">
                <a16:creationId xmlns:a16="http://schemas.microsoft.com/office/drawing/2014/main" id="{D47DED16-8C81-A356-F5F1-41D6E70EE1E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875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(First Pass)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312319AF-540F-A2BC-3B1A-641337504737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287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3515" name="Rectangle 23">
            <a:extLst>
              <a:ext uri="{FF2B5EF4-FFF2-40B4-BE49-F238E27FC236}">
                <a16:creationId xmlns:a16="http://schemas.microsoft.com/office/drawing/2014/main" id="{58785C0F-6C25-BE3A-C86E-B2AFFF5898DB}"/>
              </a:ext>
            </a:extLst>
          </p:cNvPr>
          <p:cNvSpPr>
            <a:spLocks/>
          </p:cNvSpPr>
          <p:nvPr/>
        </p:nvSpPr>
        <p:spPr bwMode="auto">
          <a:xfrm>
            <a:off x="609600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63516" name="Text Box 24">
            <a:extLst>
              <a:ext uri="{FF2B5EF4-FFF2-40B4-BE49-F238E27FC236}">
                <a16:creationId xmlns:a16="http://schemas.microsoft.com/office/drawing/2014/main" id="{C96A4957-95E2-EB64-1F9C-C2793D12F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575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33817" name="Text Box 25">
            <a:extLst>
              <a:ext uri="{FF2B5EF4-FFF2-40B4-BE49-F238E27FC236}">
                <a16:creationId xmlns:a16="http://schemas.microsoft.com/office/drawing/2014/main" id="{9CE02A23-9F34-70F5-124A-16A23FA0F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12192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3322" name="Group 26">
            <a:extLst>
              <a:ext uri="{FF2B5EF4-FFF2-40B4-BE49-F238E27FC236}">
                <a16:creationId xmlns:a16="http://schemas.microsoft.com/office/drawing/2014/main" id="{3DF1C2BE-4341-4341-BF60-A25F0F0DA1BA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28700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838" name="Freeform 67">
            <a:extLst>
              <a:ext uri="{FF2B5EF4-FFF2-40B4-BE49-F238E27FC236}">
                <a16:creationId xmlns:a16="http://schemas.microsoft.com/office/drawing/2014/main" id="{BEAB6424-8464-EB55-2BE4-B0B65C95B3A1}"/>
              </a:ext>
            </a:extLst>
          </p:cNvPr>
          <p:cNvSpPr>
            <a:spLocks/>
          </p:cNvSpPr>
          <p:nvPr/>
        </p:nvSpPr>
        <p:spPr bwMode="auto">
          <a:xfrm flipV="1">
            <a:off x="1323975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9" name="Text Box 183">
            <a:extLst>
              <a:ext uri="{FF2B5EF4-FFF2-40B4-BE49-F238E27FC236}">
                <a16:creationId xmlns:a16="http://schemas.microsoft.com/office/drawing/2014/main" id="{80A1B352-4672-CE35-528F-1E7FEBC57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813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58</a:t>
            </a:r>
          </a:p>
        </p:txBody>
      </p:sp>
      <p:sp>
        <p:nvSpPr>
          <p:cNvPr id="33840" name="Rectangle 184">
            <a:extLst>
              <a:ext uri="{FF2B5EF4-FFF2-40B4-BE49-F238E27FC236}">
                <a16:creationId xmlns:a16="http://schemas.microsoft.com/office/drawing/2014/main" id="{8929AB09-3900-0079-E24D-54514AFC9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33841" name="Line 185">
            <a:extLst>
              <a:ext uri="{FF2B5EF4-FFF2-40B4-BE49-F238E27FC236}">
                <a16:creationId xmlns:a16="http://schemas.microsoft.com/office/drawing/2014/main" id="{D7CA2CDB-B67C-FC48-71AB-7243C9E99E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2625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2" name="Text Box 191">
            <a:extLst>
              <a:ext uri="{FF2B5EF4-FFF2-40B4-BE49-F238E27FC236}">
                <a16:creationId xmlns:a16="http://schemas.microsoft.com/office/drawing/2014/main" id="{F185D01A-6534-7668-5119-7BF956246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7240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83488" name="Group 192">
            <a:extLst>
              <a:ext uri="{FF2B5EF4-FFF2-40B4-BE49-F238E27FC236}">
                <a16:creationId xmlns:a16="http://schemas.microsoft.com/office/drawing/2014/main" id="{98C75E9B-65C5-125F-4F95-5710105682BC}"/>
              </a:ext>
            </a:extLst>
          </p:cNvPr>
          <p:cNvGraphicFramePr>
            <a:graphicFrameLocks noGrp="1"/>
          </p:cNvGraphicFramePr>
          <p:nvPr/>
        </p:nvGraphicFramePr>
        <p:xfrm>
          <a:off x="1063625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90" name="Rectangle 215">
            <a:extLst>
              <a:ext uri="{FF2B5EF4-FFF2-40B4-BE49-F238E27FC236}">
                <a16:creationId xmlns:a16="http://schemas.microsoft.com/office/drawing/2014/main" id="{37571047-2708-683B-E239-7B9E77034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100" y="22542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0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58;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8442CC6D-8817-34D2-F198-991404E4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3565" name="Slide Number Placeholder 16">
            <a:extLst>
              <a:ext uri="{FF2B5EF4-FFF2-40B4-BE49-F238E27FC236}">
                <a16:creationId xmlns:a16="http://schemas.microsoft.com/office/drawing/2014/main" id="{5216D47B-3A70-9824-249F-96B4EDE56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570EEA-9A57-4EF7-8FB7-8B0B9A1AD7F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D85AC6-F1C6-E592-F17B-587926EEB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667000"/>
            <a:ext cx="1182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A23847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      </a:t>
            </a:r>
            <a:r>
              <a:rPr lang="en-US" altLang="en-US" sz="1800" b="1" i="1">
                <a:solidFill>
                  <a:srgbClr val="A23847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j</a:t>
            </a:r>
            <a:r>
              <a:rPr lang="en-US" altLang="en-US" sz="1800" b="1">
                <a:solidFill>
                  <a:srgbClr val="A23847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= 0</a:t>
            </a:r>
            <a:endParaRPr lang="en-US" altLang="en-US" sz="1800" b="1">
              <a:solidFill>
                <a:srgbClr val="FF0000"/>
              </a:solidFill>
              <a:latin typeface="Times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D79265-FC0A-CAA2-2D09-568F4DB1D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2678113"/>
            <a:ext cx="1020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Times" panose="02020603050405020304" pitchFamily="18" charset="0"/>
                <a:sym typeface="Wingdings" panose="05000000000000000000" pitchFamily="2" charset="2"/>
              </a:rPr>
              <a:t>    exit</a:t>
            </a:r>
            <a:endParaRPr lang="en-US" altLang="en-US" sz="18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30E7A0-0C09-9279-0333-ACE9C5378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238" y="2989263"/>
            <a:ext cx="2011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 b="1">
                <a:solidFill>
                  <a:srgbClr val="FF0000"/>
                </a:solidFill>
                <a:latin typeface="Times New Roman" panose="02020603050405020304" pitchFamily="18" charset="0"/>
              </a:rPr>
              <a:t>] = temp (= 58) </a:t>
            </a:r>
            <a:endParaRPr lang="en-US" altLang="en-US" sz="1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/>
      <p:bldP spid="18" grpId="1"/>
      <p:bldP spid="19" grpId="0"/>
      <p:bldP spid="19" grpId="1"/>
      <p:bldP spid="20" grpId="0"/>
      <p:bldP spid="20" grpId="1"/>
      <p:bldP spid="33817" grpId="0"/>
      <p:bldP spid="33840" grpId="0"/>
      <p:bldP spid="33842" grpId="0"/>
      <p:bldP spid="34890" grpId="0"/>
      <p:bldP spid="21" grpId="0"/>
      <p:bldP spid="22" grpId="0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E120397-7711-FB0C-5F0E-9E25DC5C1783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54C5A2A2-0DD6-A572-297F-FFBECC4D930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(Second Pass)</a:t>
            </a:r>
          </a:p>
        </p:txBody>
      </p:sp>
      <p:graphicFrame>
        <p:nvGraphicFramePr>
          <p:cNvPr id="185347" name="Group 3">
            <a:extLst>
              <a:ext uri="{FF2B5EF4-FFF2-40B4-BE49-F238E27FC236}">
                <a16:creationId xmlns:a16="http://schemas.microsoft.com/office/drawing/2014/main" id="{641256AA-1EC8-ADCD-3F25-7D1C4B609C84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560" name="Text Box 24">
            <a:extLst>
              <a:ext uri="{FF2B5EF4-FFF2-40B4-BE49-F238E27FC236}">
                <a16:creationId xmlns:a16="http://schemas.microsoft.com/office/drawing/2014/main" id="{4F2C0979-711D-8C26-AED0-A16323575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2" name="Text Box 25">
            <a:extLst>
              <a:ext uri="{FF2B5EF4-FFF2-40B4-BE49-F238E27FC236}">
                <a16:creationId xmlns:a16="http://schemas.microsoft.com/office/drawing/2014/main" id="{AB6E5192-B104-CF55-C034-671F51FF9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85419" name="Group 75">
            <a:extLst>
              <a:ext uri="{FF2B5EF4-FFF2-40B4-BE49-F238E27FC236}">
                <a16:creationId xmlns:a16="http://schemas.microsoft.com/office/drawing/2014/main" id="{B0DD285A-F359-C72B-1472-F82C4105F213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61" name="Freeform 46">
            <a:extLst>
              <a:ext uri="{FF2B5EF4-FFF2-40B4-BE49-F238E27FC236}">
                <a16:creationId xmlns:a16="http://schemas.microsoft.com/office/drawing/2014/main" id="{1EA543A9-336C-A7AC-BB63-AB552CA541EB}"/>
              </a:ext>
            </a:extLst>
          </p:cNvPr>
          <p:cNvSpPr>
            <a:spLocks/>
          </p:cNvSpPr>
          <p:nvPr/>
        </p:nvSpPr>
        <p:spPr bwMode="auto">
          <a:xfrm flipV="1">
            <a:off x="1995488" y="1292225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83" name="Text Box 47">
            <a:extLst>
              <a:ext uri="{FF2B5EF4-FFF2-40B4-BE49-F238E27FC236}">
                <a16:creationId xmlns:a16="http://schemas.microsoft.com/office/drawing/2014/main" id="{2AABE91F-A558-6133-A624-DB6A062E4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55</a:t>
            </a:r>
          </a:p>
        </p:txBody>
      </p:sp>
      <p:sp>
        <p:nvSpPr>
          <p:cNvPr id="3" name="Rectangle 48">
            <a:extLst>
              <a:ext uri="{FF2B5EF4-FFF2-40B4-BE49-F238E27FC236}">
                <a16:creationId xmlns:a16="http://schemas.microsoft.com/office/drawing/2014/main" id="{B3BB7F4F-226E-57C8-23B8-CEA4652BB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34864" name="Line 49">
            <a:extLst>
              <a:ext uri="{FF2B5EF4-FFF2-40B4-BE49-F238E27FC236}">
                <a16:creationId xmlns:a16="http://schemas.microsoft.com/office/drawing/2014/main" id="{1259761D-7ACB-BB6B-C0AC-39C642DF7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0" y="1430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5" name="Text Box 50">
            <a:extLst>
              <a:ext uri="{FF2B5EF4-FFF2-40B4-BE49-F238E27FC236}">
                <a16:creationId xmlns:a16="http://schemas.microsoft.com/office/drawing/2014/main" id="{5526660D-56C9-59FA-4D1B-884E93D7D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5421" name="Group 77">
            <a:extLst>
              <a:ext uri="{FF2B5EF4-FFF2-40B4-BE49-F238E27FC236}">
                <a16:creationId xmlns:a16="http://schemas.microsoft.com/office/drawing/2014/main" id="{B8C2FA50-3832-7CDF-2947-4376ADA41043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886" name="Line 71">
            <a:extLst>
              <a:ext uri="{FF2B5EF4-FFF2-40B4-BE49-F238E27FC236}">
                <a16:creationId xmlns:a16="http://schemas.microsoft.com/office/drawing/2014/main" id="{B1597656-CA49-D7D2-F477-241215CBF3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8975" y="19478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608" name="Rectangle 76">
            <a:extLst>
              <a:ext uri="{FF2B5EF4-FFF2-40B4-BE49-F238E27FC236}">
                <a16:creationId xmlns:a16="http://schemas.microsoft.com/office/drawing/2014/main" id="{FA72E296-6492-F743-F6C8-C93B0F98AD25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4" name="Rectangle 79">
            <a:extLst>
              <a:ext uri="{FF2B5EF4-FFF2-40B4-BE49-F238E27FC236}">
                <a16:creationId xmlns:a16="http://schemas.microsoft.com/office/drawing/2014/main" id="{2653DA05-32DC-AB48-3611-072D6AB14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34889" name="Freeform 80">
            <a:extLst>
              <a:ext uri="{FF2B5EF4-FFF2-40B4-BE49-F238E27FC236}">
                <a16:creationId xmlns:a16="http://schemas.microsoft.com/office/drawing/2014/main" id="{87C0626A-F2C7-168D-AAFF-73BAEE94CBE8}"/>
              </a:ext>
            </a:extLst>
          </p:cNvPr>
          <p:cNvSpPr>
            <a:spLocks/>
          </p:cNvSpPr>
          <p:nvPr/>
        </p:nvSpPr>
        <p:spPr bwMode="auto">
          <a:xfrm flipV="1">
            <a:off x="1343025" y="1809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0" name="Text Box 81">
            <a:extLst>
              <a:ext uri="{FF2B5EF4-FFF2-40B4-BE49-F238E27FC236}">
                <a16:creationId xmlns:a16="http://schemas.microsoft.com/office/drawing/2014/main" id="{C06A0ED0-9540-FCCC-EE79-206670E67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85426" name="Group 82">
            <a:extLst>
              <a:ext uri="{FF2B5EF4-FFF2-40B4-BE49-F238E27FC236}">
                <a16:creationId xmlns:a16="http://schemas.microsoft.com/office/drawing/2014/main" id="{1DBA2063-E25E-5D11-7C81-DD052E8EC885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911" name="Rectangle 105">
            <a:extLst>
              <a:ext uri="{FF2B5EF4-FFF2-40B4-BE49-F238E27FC236}">
                <a16:creationId xmlns:a16="http://schemas.microsoft.com/office/drawing/2014/main" id="{388C81D1-A5A4-B566-34AD-6160FB6AC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66700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0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55;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AD2BB41A-7BF7-81E0-1269-0F25287E9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5634" name="Slide Number Placeholder 20">
            <a:extLst>
              <a:ext uri="{FF2B5EF4-FFF2-40B4-BE49-F238E27FC236}">
                <a16:creationId xmlns:a16="http://schemas.microsoft.com/office/drawing/2014/main" id="{D934ED64-ABFA-343C-B13A-7D2F666B83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CAD5BC9-5A67-48C5-B1E4-58A36A94BB1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21723-DF27-A80F-B291-A89314ED1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863" y="1044575"/>
            <a:ext cx="990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62  &gt;  55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6788DC-1CFB-2367-7A3D-D9CFB1166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95438"/>
            <a:ext cx="990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58  &gt;  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" grpId="0"/>
      <p:bldP spid="3" grpId="0"/>
      <p:bldP spid="34865" grpId="0"/>
      <p:bldP spid="4" grpId="0"/>
      <p:bldP spid="34890" grpId="0"/>
      <p:bldP spid="34911" grpId="0"/>
      <p:bldP spid="22" grpId="0"/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2E8F635-2541-DF5C-4F86-005AA4171B1A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454E2DF6-B637-3B8C-CD10-4DF933BDADD0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(Third Pass)</a:t>
            </a:r>
          </a:p>
        </p:txBody>
      </p:sp>
      <p:graphicFrame>
        <p:nvGraphicFramePr>
          <p:cNvPr id="187395" name="Group 3">
            <a:extLst>
              <a:ext uri="{FF2B5EF4-FFF2-40B4-BE49-F238E27FC236}">
                <a16:creationId xmlns:a16="http://schemas.microsoft.com/office/drawing/2014/main" id="{9E5E158C-A92B-C9EF-8578-6A882A9AB631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7608" name="Text Box 23">
            <a:extLst>
              <a:ext uri="{FF2B5EF4-FFF2-40B4-BE49-F238E27FC236}">
                <a16:creationId xmlns:a16="http://schemas.microsoft.com/office/drawing/2014/main" id="{9B627AA9-1313-F392-0D42-02CCE3605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2" name="Text Box 24">
            <a:extLst>
              <a:ext uri="{FF2B5EF4-FFF2-40B4-BE49-F238E27FC236}">
                <a16:creationId xmlns:a16="http://schemas.microsoft.com/office/drawing/2014/main" id="{E220AFC8-4710-9AFF-DEE7-51D7467D9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87493" name="Group 101">
            <a:extLst>
              <a:ext uri="{FF2B5EF4-FFF2-40B4-BE49-F238E27FC236}">
                <a16:creationId xmlns:a16="http://schemas.microsoft.com/office/drawing/2014/main" id="{FAD0C93D-7722-1A1C-707A-58907B9E0471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909" name="Freeform 45">
            <a:extLst>
              <a:ext uri="{FF2B5EF4-FFF2-40B4-BE49-F238E27FC236}">
                <a16:creationId xmlns:a16="http://schemas.microsoft.com/office/drawing/2014/main" id="{422BD763-E011-8104-7255-79BC3013C54C}"/>
              </a:ext>
            </a:extLst>
          </p:cNvPr>
          <p:cNvSpPr>
            <a:spLocks/>
          </p:cNvSpPr>
          <p:nvPr/>
        </p:nvSpPr>
        <p:spPr bwMode="auto">
          <a:xfrm flipV="1">
            <a:off x="281940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31" name="Text Box 46">
            <a:extLst>
              <a:ext uri="{FF2B5EF4-FFF2-40B4-BE49-F238E27FC236}">
                <a16:creationId xmlns:a16="http://schemas.microsoft.com/office/drawing/2014/main" id="{56E4D2C3-250F-D916-4E72-85372F2DB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10</a:t>
            </a: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id="{2DD1A92E-AAE9-ADA9-D6B1-4C7332010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36912" name="Line 48">
            <a:extLst>
              <a:ext uri="{FF2B5EF4-FFF2-40B4-BE49-F238E27FC236}">
                <a16:creationId xmlns:a16="http://schemas.microsoft.com/office/drawing/2014/main" id="{0A85EAE6-7EAD-6C16-E05C-EEAE274238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3" name="Text Box 49">
            <a:extLst>
              <a:ext uri="{FF2B5EF4-FFF2-40B4-BE49-F238E27FC236}">
                <a16:creationId xmlns:a16="http://schemas.microsoft.com/office/drawing/2014/main" id="{DB74AB99-B1A9-19C8-72FD-CB8C4D3DB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87495" name="Group 103">
            <a:extLst>
              <a:ext uri="{FF2B5EF4-FFF2-40B4-BE49-F238E27FC236}">
                <a16:creationId xmlns:a16="http://schemas.microsoft.com/office/drawing/2014/main" id="{AAE12443-E031-46EE-DB60-5FE61EA96555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934" name="Line 70">
            <a:extLst>
              <a:ext uri="{FF2B5EF4-FFF2-40B4-BE49-F238E27FC236}">
                <a16:creationId xmlns:a16="http://schemas.microsoft.com/office/drawing/2014/main" id="{699D6CED-18F9-A6D9-A646-5CC00A3C1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8125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56" name="Rectangle 71">
            <a:extLst>
              <a:ext uri="{FF2B5EF4-FFF2-40B4-BE49-F238E27FC236}">
                <a16:creationId xmlns:a16="http://schemas.microsoft.com/office/drawing/2014/main" id="{2DA4D7CE-B229-718B-6F71-D51D24F0758E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4" name="Rectangle 72">
            <a:extLst>
              <a:ext uri="{FF2B5EF4-FFF2-40B4-BE49-F238E27FC236}">
                <a16:creationId xmlns:a16="http://schemas.microsoft.com/office/drawing/2014/main" id="{7B5003EE-CD75-9E59-3E0B-98A739CF6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36937" name="Freeform 73">
            <a:extLst>
              <a:ext uri="{FF2B5EF4-FFF2-40B4-BE49-F238E27FC236}">
                <a16:creationId xmlns:a16="http://schemas.microsoft.com/office/drawing/2014/main" id="{52119B40-DE16-F6C8-1DCF-9DF927D13936}"/>
              </a:ext>
            </a:extLst>
          </p:cNvPr>
          <p:cNvSpPr>
            <a:spLocks/>
          </p:cNvSpPr>
          <p:nvPr/>
        </p:nvSpPr>
        <p:spPr bwMode="auto">
          <a:xfrm flipV="1">
            <a:off x="2166938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8" name="Text Box 74">
            <a:extLst>
              <a:ext uri="{FF2B5EF4-FFF2-40B4-BE49-F238E27FC236}">
                <a16:creationId xmlns:a16="http://schemas.microsoft.com/office/drawing/2014/main" id="{F51174A8-AFEB-75C7-96F3-E1C6B59AC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7496" name="Group 104">
            <a:extLst>
              <a:ext uri="{FF2B5EF4-FFF2-40B4-BE49-F238E27FC236}">
                <a16:creationId xmlns:a16="http://schemas.microsoft.com/office/drawing/2014/main" id="{1E4B178B-F0C5-EE23-A5D7-9783DF429D2E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959" name="Line 95">
            <a:extLst>
              <a:ext uri="{FF2B5EF4-FFF2-40B4-BE49-F238E27FC236}">
                <a16:creationId xmlns:a16="http://schemas.microsoft.com/office/drawing/2014/main" id="{2D982D1D-302B-E1BA-F0F6-2311BBC45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85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0" name="Freeform 96">
            <a:extLst>
              <a:ext uri="{FF2B5EF4-FFF2-40B4-BE49-F238E27FC236}">
                <a16:creationId xmlns:a16="http://schemas.microsoft.com/office/drawing/2014/main" id="{52A17595-304C-0592-B481-AD4413EF1A51}"/>
              </a:ext>
            </a:extLst>
          </p:cNvPr>
          <p:cNvSpPr>
            <a:spLocks/>
          </p:cNvSpPr>
          <p:nvPr/>
        </p:nvSpPr>
        <p:spPr bwMode="auto">
          <a:xfrm flipV="1">
            <a:off x="1352550" y="210026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1" name="Rectangle 97">
            <a:extLst>
              <a:ext uri="{FF2B5EF4-FFF2-40B4-BE49-F238E27FC236}">
                <a16:creationId xmlns:a16="http://schemas.microsoft.com/office/drawing/2014/main" id="{C9F9F525-6226-486E-58A4-090C9570F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0924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0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55;</a:t>
            </a:r>
          </a:p>
        </p:txBody>
      </p:sp>
      <p:sp>
        <p:nvSpPr>
          <p:cNvPr id="36962" name="Rectangle 102">
            <a:extLst>
              <a:ext uri="{FF2B5EF4-FFF2-40B4-BE49-F238E27FC236}">
                <a16:creationId xmlns:a16="http://schemas.microsoft.com/office/drawing/2014/main" id="{D877EEC7-A3BA-8859-AB01-F1F8B43C0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36963" name="Text Box 105">
            <a:extLst>
              <a:ext uri="{FF2B5EF4-FFF2-40B4-BE49-F238E27FC236}">
                <a16:creationId xmlns:a16="http://schemas.microsoft.com/office/drawing/2014/main" id="{4382DDC9-2338-79C5-5A4D-9C21784EC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87498" name="Group 106">
            <a:extLst>
              <a:ext uri="{FF2B5EF4-FFF2-40B4-BE49-F238E27FC236}">
                <a16:creationId xmlns:a16="http://schemas.microsoft.com/office/drawing/2014/main" id="{55312F8B-AF06-325A-E5CC-6EBEBE086951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DE806D7D-31AA-5375-E0F9-53116E2B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7706" name="Slide Number Placeholder 25">
            <a:extLst>
              <a:ext uri="{FF2B5EF4-FFF2-40B4-BE49-F238E27FC236}">
                <a16:creationId xmlns:a16="http://schemas.microsoft.com/office/drawing/2014/main" id="{F4092949-0D13-2084-5069-76CC3FCD61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98F8CA-5EEE-41CC-B26D-ECE6AA27C95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" grpId="0"/>
      <p:bldP spid="3" grpId="0"/>
      <p:bldP spid="36913" grpId="0"/>
      <p:bldP spid="4" grpId="0"/>
      <p:bldP spid="36938" grpId="0"/>
      <p:bldP spid="36961" grpId="0"/>
      <p:bldP spid="36962" grpId="0"/>
      <p:bldP spid="3696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3B7FF72-2B6E-1DCC-2AE4-35D8D2672618}"/>
              </a:ext>
            </a:extLst>
          </p:cNvPr>
          <p:cNvSpPr/>
          <p:nvPr/>
        </p:nvSpPr>
        <p:spPr>
          <a:xfrm>
            <a:off x="3965575" y="5364163"/>
            <a:ext cx="150495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106EE2-92A2-93F7-5BEF-55821C86B313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9636" name="Rectangle 2">
            <a:extLst>
              <a:ext uri="{FF2B5EF4-FFF2-40B4-BE49-F238E27FC236}">
                <a16:creationId xmlns:a16="http://schemas.microsoft.com/office/drawing/2014/main" id="{AC75CC03-6402-82F1-B347-43432BC423B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(Fourth Pass)</a:t>
            </a:r>
          </a:p>
        </p:txBody>
      </p:sp>
      <p:graphicFrame>
        <p:nvGraphicFramePr>
          <p:cNvPr id="189443" name="Group 3">
            <a:extLst>
              <a:ext uri="{FF2B5EF4-FFF2-40B4-BE49-F238E27FC236}">
                <a16:creationId xmlns:a16="http://schemas.microsoft.com/office/drawing/2014/main" id="{6046A321-B002-7FD9-A21A-FB39BFC530E1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9657" name="Text Box 23">
            <a:extLst>
              <a:ext uri="{FF2B5EF4-FFF2-40B4-BE49-F238E27FC236}">
                <a16:creationId xmlns:a16="http://schemas.microsoft.com/office/drawing/2014/main" id="{4E6EBB44-1F34-8B47-3B4D-68B057F7D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37912" name="Text Box 24">
            <a:extLst>
              <a:ext uri="{FF2B5EF4-FFF2-40B4-BE49-F238E27FC236}">
                <a16:creationId xmlns:a16="http://schemas.microsoft.com/office/drawing/2014/main" id="{46AC02EA-F9B3-DE8E-5FD4-2341DBA15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89465" name="Group 25">
            <a:extLst>
              <a:ext uri="{FF2B5EF4-FFF2-40B4-BE49-F238E27FC236}">
                <a16:creationId xmlns:a16="http://schemas.microsoft.com/office/drawing/2014/main" id="{C8003BBE-BECA-A588-DC3E-FDFCD5AA8EB7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33" name="Freeform 45">
            <a:extLst>
              <a:ext uri="{FF2B5EF4-FFF2-40B4-BE49-F238E27FC236}">
                <a16:creationId xmlns:a16="http://schemas.microsoft.com/office/drawing/2014/main" id="{7118FF31-7424-FD18-4C0B-69ECC9111570}"/>
              </a:ext>
            </a:extLst>
          </p:cNvPr>
          <p:cNvSpPr>
            <a:spLocks/>
          </p:cNvSpPr>
          <p:nvPr/>
        </p:nvSpPr>
        <p:spPr bwMode="auto">
          <a:xfrm flipV="1">
            <a:off x="352425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80" name="Text Box 46">
            <a:extLst>
              <a:ext uri="{FF2B5EF4-FFF2-40B4-BE49-F238E27FC236}">
                <a16:creationId xmlns:a16="http://schemas.microsoft.com/office/drawing/2014/main" id="{D3579205-E39E-3150-AF37-0606E1CCF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45</a:t>
            </a:r>
          </a:p>
        </p:txBody>
      </p:sp>
      <p:sp>
        <p:nvSpPr>
          <p:cNvPr id="37935" name="Rectangle 47">
            <a:extLst>
              <a:ext uri="{FF2B5EF4-FFF2-40B4-BE49-F238E27FC236}">
                <a16:creationId xmlns:a16="http://schemas.microsoft.com/office/drawing/2014/main" id="{E8931E09-B574-32CD-1D00-7F706AD42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2" name="Line 48">
            <a:extLst>
              <a:ext uri="{FF2B5EF4-FFF2-40B4-BE49-F238E27FC236}">
                <a16:creationId xmlns:a16="http://schemas.microsoft.com/office/drawing/2014/main" id="{D241B944-47A3-E890-603E-44C8DBB39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5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7" name="Text Box 49">
            <a:extLst>
              <a:ext uri="{FF2B5EF4-FFF2-40B4-BE49-F238E27FC236}">
                <a16:creationId xmlns:a16="http://schemas.microsoft.com/office/drawing/2014/main" id="{C6ED823A-D2FC-3A57-D745-2017E9354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89563" name="Group 123">
            <a:extLst>
              <a:ext uri="{FF2B5EF4-FFF2-40B4-BE49-F238E27FC236}">
                <a16:creationId xmlns:a16="http://schemas.microsoft.com/office/drawing/2014/main" id="{8B8577DB-157F-CC67-1B54-94AF6E4874EB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58" name="Line 70">
            <a:extLst>
              <a:ext uri="{FF2B5EF4-FFF2-40B4-BE49-F238E27FC236}">
                <a16:creationId xmlns:a16="http://schemas.microsoft.com/office/drawing/2014/main" id="{2D01486D-2269-53E2-710B-500FB44BA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625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705" name="Rectangle 71">
            <a:extLst>
              <a:ext uri="{FF2B5EF4-FFF2-40B4-BE49-F238E27FC236}">
                <a16:creationId xmlns:a16="http://schemas.microsoft.com/office/drawing/2014/main" id="{48F1951E-A076-93ED-E258-CCE0295B2D70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 </a:t>
            </a:r>
            <a:r>
              <a:rPr lang="en-US" altLang="en-US" sz="2000">
                <a:latin typeface="Times New Roman" panose="02020603050405020304" pitchFamily="18" charset="0"/>
              </a:rPr>
              <a:t>, 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37960" name="Rectangle 72">
            <a:extLst>
              <a:ext uri="{FF2B5EF4-FFF2-40B4-BE49-F238E27FC236}">
                <a16:creationId xmlns:a16="http://schemas.microsoft.com/office/drawing/2014/main" id="{9FD25176-D6ED-7325-19DE-4782EB8ED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4" name="Freeform 73">
            <a:extLst>
              <a:ext uri="{FF2B5EF4-FFF2-40B4-BE49-F238E27FC236}">
                <a16:creationId xmlns:a16="http://schemas.microsoft.com/office/drawing/2014/main" id="{86B292B8-AE81-37F9-7965-ACECF2473D25}"/>
              </a:ext>
            </a:extLst>
          </p:cNvPr>
          <p:cNvSpPr>
            <a:spLocks/>
          </p:cNvSpPr>
          <p:nvPr/>
        </p:nvSpPr>
        <p:spPr bwMode="auto">
          <a:xfrm flipV="1">
            <a:off x="2871788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2" name="Text Box 74">
            <a:extLst>
              <a:ext uri="{FF2B5EF4-FFF2-40B4-BE49-F238E27FC236}">
                <a16:creationId xmlns:a16="http://schemas.microsoft.com/office/drawing/2014/main" id="{F8ED7F23-A38C-8EE1-A8D3-C6A2D21BC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89566" name="Group 126">
            <a:extLst>
              <a:ext uri="{FF2B5EF4-FFF2-40B4-BE49-F238E27FC236}">
                <a16:creationId xmlns:a16="http://schemas.microsoft.com/office/drawing/2014/main" id="{92C996BB-18A4-749C-5E00-8C3E9FF93E90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983" name="Line 95">
            <a:extLst>
              <a:ext uri="{FF2B5EF4-FFF2-40B4-BE49-F238E27FC236}">
                <a16:creationId xmlns:a16="http://schemas.microsoft.com/office/drawing/2014/main" id="{DA64DE2B-AE33-9AF7-DB8D-030F866E6C4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4" name="Freeform 96">
            <a:extLst>
              <a:ext uri="{FF2B5EF4-FFF2-40B4-BE49-F238E27FC236}">
                <a16:creationId xmlns:a16="http://schemas.microsoft.com/office/drawing/2014/main" id="{3B34F6F1-C87C-3A71-CC93-E0085176BBE0}"/>
              </a:ext>
            </a:extLst>
          </p:cNvPr>
          <p:cNvSpPr>
            <a:spLocks/>
          </p:cNvSpPr>
          <p:nvPr/>
        </p:nvSpPr>
        <p:spPr bwMode="auto">
          <a:xfrm flipV="1">
            <a:off x="2057400" y="210026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5" name="Rectangle 97">
            <a:extLst>
              <a:ext uri="{FF2B5EF4-FFF2-40B4-BE49-F238E27FC236}">
                <a16:creationId xmlns:a16="http://schemas.microsoft.com/office/drawing/2014/main" id="{A6180F9C-DC46-944B-1B5E-D4190360E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0162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45;</a:t>
            </a:r>
          </a:p>
        </p:txBody>
      </p:sp>
      <p:sp>
        <p:nvSpPr>
          <p:cNvPr id="37986" name="Rectangle 98">
            <a:extLst>
              <a:ext uri="{FF2B5EF4-FFF2-40B4-BE49-F238E27FC236}">
                <a16:creationId xmlns:a16="http://schemas.microsoft.com/office/drawing/2014/main" id="{A1C15E12-59DC-68CD-419A-65692685A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37987" name="Text Box 99">
            <a:extLst>
              <a:ext uri="{FF2B5EF4-FFF2-40B4-BE49-F238E27FC236}">
                <a16:creationId xmlns:a16="http://schemas.microsoft.com/office/drawing/2014/main" id="{E8BE3775-E8CF-3A19-0D6D-86588B2F1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89568" name="Group 128">
            <a:extLst>
              <a:ext uri="{FF2B5EF4-FFF2-40B4-BE49-F238E27FC236}">
                <a16:creationId xmlns:a16="http://schemas.microsoft.com/office/drawing/2014/main" id="{08E2B238-7C8A-1E20-3363-279C570897FC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842EC3E1-B25E-8777-E337-A6AFDE83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69755" name="Slide Number Placeholder 25">
            <a:extLst>
              <a:ext uri="{FF2B5EF4-FFF2-40B4-BE49-F238E27FC236}">
                <a16:creationId xmlns:a16="http://schemas.microsoft.com/office/drawing/2014/main" id="{7FFAFF5D-4099-9DE3-23A3-ABCC41F747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BF76DA-4226-47C5-A2F5-D558DF0BB109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CD545-118C-EBC5-C9D6-E2FAB656A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484438"/>
            <a:ext cx="990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10  &gt;  45</a:t>
            </a:r>
          </a:p>
        </p:txBody>
      </p:sp>
      <p:sp>
        <p:nvSpPr>
          <p:cNvPr id="3" name="Multiply 2">
            <a:extLst>
              <a:ext uri="{FF2B5EF4-FFF2-40B4-BE49-F238E27FC236}">
                <a16:creationId xmlns:a16="http://schemas.microsoft.com/office/drawing/2014/main" id="{2863E69D-3FAB-5751-6064-5C837BB37D55}"/>
              </a:ext>
            </a:extLst>
          </p:cNvPr>
          <p:cNvSpPr/>
          <p:nvPr/>
        </p:nvSpPr>
        <p:spPr>
          <a:xfrm>
            <a:off x="4435475" y="4922838"/>
            <a:ext cx="609600" cy="533400"/>
          </a:xfrm>
          <a:prstGeom prst="mathMultiply">
            <a:avLst/>
          </a:prstGeom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7" grpId="0" animBg="1"/>
      <p:bldP spid="37912" grpId="0"/>
      <p:bldP spid="37935" grpId="0"/>
      <p:bldP spid="37937" grpId="0"/>
      <p:bldP spid="37960" grpId="0"/>
      <p:bldP spid="37962" grpId="0"/>
      <p:bldP spid="37985" grpId="0"/>
      <p:bldP spid="37986" grpId="0"/>
      <p:bldP spid="37987" grpId="0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C578E67F-D55E-07BE-528B-B0BFCEDCAF3B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(Fifth Pass)</a:t>
            </a:r>
          </a:p>
        </p:txBody>
      </p:sp>
      <p:graphicFrame>
        <p:nvGraphicFramePr>
          <p:cNvPr id="191491" name="Group 3">
            <a:extLst>
              <a:ext uri="{FF2B5EF4-FFF2-40B4-BE49-F238E27FC236}">
                <a16:creationId xmlns:a16="http://schemas.microsoft.com/office/drawing/2014/main" id="{50D0070F-CA5D-88CD-3B9E-64C28B42EFF2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03" name="Text Box 23">
            <a:extLst>
              <a:ext uri="{FF2B5EF4-FFF2-40B4-BE49-F238E27FC236}">
                <a16:creationId xmlns:a16="http://schemas.microsoft.com/office/drawing/2014/main" id="{D23256B2-FF5C-13C9-3CDC-93096B7E3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71704" name="Text Box 24">
            <a:extLst>
              <a:ext uri="{FF2B5EF4-FFF2-40B4-BE49-F238E27FC236}">
                <a16:creationId xmlns:a16="http://schemas.microsoft.com/office/drawing/2014/main" id="{3BE86E10-B9C8-D579-2A7A-172FCDBC3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graphicFrame>
        <p:nvGraphicFramePr>
          <p:cNvPr id="191612" name="Group 124">
            <a:extLst>
              <a:ext uri="{FF2B5EF4-FFF2-40B4-BE49-F238E27FC236}">
                <a16:creationId xmlns:a16="http://schemas.microsoft.com/office/drawing/2014/main" id="{DA43BE3F-7BD2-9C73-32AF-B19093CCC0DD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25" name="Freeform 45">
            <a:extLst>
              <a:ext uri="{FF2B5EF4-FFF2-40B4-BE49-F238E27FC236}">
                <a16:creationId xmlns:a16="http://schemas.microsoft.com/office/drawing/2014/main" id="{AE1CD5F6-5B60-83D8-7A71-15DE0D3D1C9E}"/>
              </a:ext>
            </a:extLst>
          </p:cNvPr>
          <p:cNvSpPr>
            <a:spLocks/>
          </p:cNvSpPr>
          <p:nvPr/>
        </p:nvSpPr>
        <p:spPr bwMode="auto">
          <a:xfrm flipV="1">
            <a:off x="434340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6" name="Text Box 46">
            <a:extLst>
              <a:ext uri="{FF2B5EF4-FFF2-40B4-BE49-F238E27FC236}">
                <a16:creationId xmlns:a16="http://schemas.microsoft.com/office/drawing/2014/main" id="{D6534AC3-30F2-59A9-0589-424630196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44</a:t>
            </a:r>
          </a:p>
        </p:txBody>
      </p:sp>
      <p:sp>
        <p:nvSpPr>
          <p:cNvPr id="71727" name="Rectangle 47">
            <a:extLst>
              <a:ext uri="{FF2B5EF4-FFF2-40B4-BE49-F238E27FC236}">
                <a16:creationId xmlns:a16="http://schemas.microsoft.com/office/drawing/2014/main" id="{467794CE-AB2D-7039-C995-6EB189CA3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</a:t>
            </a:r>
          </a:p>
        </p:txBody>
      </p:sp>
      <p:sp>
        <p:nvSpPr>
          <p:cNvPr id="71728" name="Line 48">
            <a:extLst>
              <a:ext uri="{FF2B5EF4-FFF2-40B4-BE49-F238E27FC236}">
                <a16:creationId xmlns:a16="http://schemas.microsoft.com/office/drawing/2014/main" id="{10CD32A0-A4AF-9290-F0E6-1A8897FC46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9" name="Text Box 49">
            <a:extLst>
              <a:ext uri="{FF2B5EF4-FFF2-40B4-BE49-F238E27FC236}">
                <a16:creationId xmlns:a16="http://schemas.microsoft.com/office/drawing/2014/main" id="{CE2637F8-0544-EED5-1560-8830E87AE9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91617" name="Group 129">
            <a:extLst>
              <a:ext uri="{FF2B5EF4-FFF2-40B4-BE49-F238E27FC236}">
                <a16:creationId xmlns:a16="http://schemas.microsoft.com/office/drawing/2014/main" id="{FC540237-BC88-B8A6-8580-EA65BFC49ABC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50" name="Line 70">
            <a:extLst>
              <a:ext uri="{FF2B5EF4-FFF2-40B4-BE49-F238E27FC236}">
                <a16:creationId xmlns:a16="http://schemas.microsoft.com/office/drawing/2014/main" id="{D06B7B51-9C42-643A-6434-DA9D2AF190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51" name="Rectangle 71">
            <a:extLst>
              <a:ext uri="{FF2B5EF4-FFF2-40B4-BE49-F238E27FC236}">
                <a16:creationId xmlns:a16="http://schemas.microsoft.com/office/drawing/2014/main" id="{F0FC401A-7558-CEE1-2AE1-B5C8944DB482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71752" name="Rectangle 72">
            <a:extLst>
              <a:ext uri="{FF2B5EF4-FFF2-40B4-BE49-F238E27FC236}">
                <a16:creationId xmlns:a16="http://schemas.microsoft.com/office/drawing/2014/main" id="{7F1C9C70-4485-25AD-ED32-01015EA75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71753" name="Text Box 74">
            <a:extLst>
              <a:ext uri="{FF2B5EF4-FFF2-40B4-BE49-F238E27FC236}">
                <a16:creationId xmlns:a16="http://schemas.microsoft.com/office/drawing/2014/main" id="{A9F0FB57-685C-97E1-68CD-4A2197F2D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91618" name="Group 130">
            <a:extLst>
              <a:ext uri="{FF2B5EF4-FFF2-40B4-BE49-F238E27FC236}">
                <a16:creationId xmlns:a16="http://schemas.microsoft.com/office/drawing/2014/main" id="{42E440E5-6AC4-1B04-D950-5A7E9BD08500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74" name="Line 95">
            <a:extLst>
              <a:ext uri="{FF2B5EF4-FFF2-40B4-BE49-F238E27FC236}">
                <a16:creationId xmlns:a16="http://schemas.microsoft.com/office/drawing/2014/main" id="{19357D36-6900-C05E-C1D2-713BC9C1C0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5" name="Rectangle 97">
            <a:extLst>
              <a:ext uri="{FF2B5EF4-FFF2-40B4-BE49-F238E27FC236}">
                <a16:creationId xmlns:a16="http://schemas.microsoft.com/office/drawing/2014/main" id="{DF6913BB-47C7-FE70-5409-F60C2D932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50520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1</a:t>
            </a:r>
            <a:r>
              <a:rPr lang="en-US" altLang="en-US" sz="1800" b="1">
                <a:solidFill>
                  <a:srgbClr val="FF0000"/>
                </a:solidFill>
              </a:rPr>
              <a:t>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44;</a:t>
            </a:r>
          </a:p>
        </p:txBody>
      </p:sp>
      <p:sp>
        <p:nvSpPr>
          <p:cNvPr id="71776" name="Rectangle 98">
            <a:extLst>
              <a:ext uri="{FF2B5EF4-FFF2-40B4-BE49-F238E27FC236}">
                <a16:creationId xmlns:a16="http://schemas.microsoft.com/office/drawing/2014/main" id="{42E11FAC-387E-6937-F0A6-051696447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71777" name="Text Box 99">
            <a:extLst>
              <a:ext uri="{FF2B5EF4-FFF2-40B4-BE49-F238E27FC236}">
                <a16:creationId xmlns:a16="http://schemas.microsoft.com/office/drawing/2014/main" id="{E8DA2C33-1820-112B-69CC-99974A052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91619" name="Group 131">
            <a:extLst>
              <a:ext uri="{FF2B5EF4-FFF2-40B4-BE49-F238E27FC236}">
                <a16:creationId xmlns:a16="http://schemas.microsoft.com/office/drawing/2014/main" id="{B8C4D9BE-3192-148E-F627-772CC94E9925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798" name="Freeform 125">
            <a:extLst>
              <a:ext uri="{FF2B5EF4-FFF2-40B4-BE49-F238E27FC236}">
                <a16:creationId xmlns:a16="http://schemas.microsoft.com/office/drawing/2014/main" id="{EF1CD2E9-BDC1-C433-6F09-4679EB501E23}"/>
              </a:ext>
            </a:extLst>
          </p:cNvPr>
          <p:cNvSpPr>
            <a:spLocks/>
          </p:cNvSpPr>
          <p:nvPr/>
        </p:nvSpPr>
        <p:spPr bwMode="auto">
          <a:xfrm flipV="1">
            <a:off x="3581400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9" name="Freeform 126">
            <a:extLst>
              <a:ext uri="{FF2B5EF4-FFF2-40B4-BE49-F238E27FC236}">
                <a16:creationId xmlns:a16="http://schemas.microsoft.com/office/drawing/2014/main" id="{6701D10E-2245-32B6-861B-08F974546467}"/>
              </a:ext>
            </a:extLst>
          </p:cNvPr>
          <p:cNvSpPr>
            <a:spLocks/>
          </p:cNvSpPr>
          <p:nvPr/>
        </p:nvSpPr>
        <p:spPr bwMode="auto">
          <a:xfrm flipV="1">
            <a:off x="2895600" y="21478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0" name="Line 127">
            <a:extLst>
              <a:ext uri="{FF2B5EF4-FFF2-40B4-BE49-F238E27FC236}">
                <a16:creationId xmlns:a16="http://schemas.microsoft.com/office/drawing/2014/main" id="{B9347C6B-14AC-4946-6A12-33B7CD5B3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743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1" name="Freeform 128">
            <a:extLst>
              <a:ext uri="{FF2B5EF4-FFF2-40B4-BE49-F238E27FC236}">
                <a16:creationId xmlns:a16="http://schemas.microsoft.com/office/drawing/2014/main" id="{ED491FFA-B7D7-2A40-0118-1EAD6FF9051B}"/>
              </a:ext>
            </a:extLst>
          </p:cNvPr>
          <p:cNvSpPr>
            <a:spLocks/>
          </p:cNvSpPr>
          <p:nvPr/>
        </p:nvSpPr>
        <p:spPr bwMode="auto">
          <a:xfrm flipV="1">
            <a:off x="2133600" y="2571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2" name="Rectangle 132">
            <a:extLst>
              <a:ext uri="{FF2B5EF4-FFF2-40B4-BE49-F238E27FC236}">
                <a16:creationId xmlns:a16="http://schemas.microsoft.com/office/drawing/2014/main" id="{B42858FF-4917-63C1-C0C5-F391AB324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695575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71803" name="Text Box 133">
            <a:extLst>
              <a:ext uri="{FF2B5EF4-FFF2-40B4-BE49-F238E27FC236}">
                <a16:creationId xmlns:a16="http://schemas.microsoft.com/office/drawing/2014/main" id="{B3215D81-48BF-BF58-DEDE-1346F712F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1575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91622" name="Group 134">
            <a:extLst>
              <a:ext uri="{FF2B5EF4-FFF2-40B4-BE49-F238E27FC236}">
                <a16:creationId xmlns:a16="http://schemas.microsoft.com/office/drawing/2014/main" id="{EB218335-D1BA-25FF-6B39-B23309440A55}"/>
              </a:ext>
            </a:extLst>
          </p:cNvPr>
          <p:cNvGraphicFramePr>
            <a:graphicFrameLocks noGrp="1"/>
          </p:cNvGraphicFramePr>
          <p:nvPr/>
        </p:nvGraphicFramePr>
        <p:xfrm>
          <a:off x="1063625" y="31765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85C25712-E184-FB9E-970F-1C177082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1825" name="Slide Number Placeholder 30">
            <a:extLst>
              <a:ext uri="{FF2B5EF4-FFF2-40B4-BE49-F238E27FC236}">
                <a16:creationId xmlns:a16="http://schemas.microsoft.com/office/drawing/2014/main" id="{BD791478-DDE5-1201-FBCD-22076502F6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67676A-5BC1-4A5D-A893-21D30C1D607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59F64625-AF02-D6EC-CD21-9F0CEBCE4B4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(Sixth Pass)</a:t>
            </a:r>
          </a:p>
        </p:txBody>
      </p:sp>
      <p:graphicFrame>
        <p:nvGraphicFramePr>
          <p:cNvPr id="193539" name="Group 3">
            <a:extLst>
              <a:ext uri="{FF2B5EF4-FFF2-40B4-BE49-F238E27FC236}">
                <a16:creationId xmlns:a16="http://schemas.microsoft.com/office/drawing/2014/main" id="{822B1B46-F529-393A-C29E-AD8A90295C14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751" name="Text Box 23">
            <a:extLst>
              <a:ext uri="{FF2B5EF4-FFF2-40B4-BE49-F238E27FC236}">
                <a16:creationId xmlns:a16="http://schemas.microsoft.com/office/drawing/2014/main" id="{75589293-0347-ADE3-D66F-130D24239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73752" name="Text Box 24">
            <a:extLst>
              <a:ext uri="{FF2B5EF4-FFF2-40B4-BE49-F238E27FC236}">
                <a16:creationId xmlns:a16="http://schemas.microsoft.com/office/drawing/2014/main" id="{F7079D2A-7434-DF44-F396-F4F1A5225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graphicFrame>
        <p:nvGraphicFramePr>
          <p:cNvPr id="193702" name="Group 166">
            <a:extLst>
              <a:ext uri="{FF2B5EF4-FFF2-40B4-BE49-F238E27FC236}">
                <a16:creationId xmlns:a16="http://schemas.microsoft.com/office/drawing/2014/main" id="{D864AFCE-5837-7E1C-BAC6-CE629B45813D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33463" y="14478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773" name="Freeform 45">
            <a:extLst>
              <a:ext uri="{FF2B5EF4-FFF2-40B4-BE49-F238E27FC236}">
                <a16:creationId xmlns:a16="http://schemas.microsoft.com/office/drawing/2014/main" id="{89090683-0B7F-216F-59AC-34F15C8599EF}"/>
              </a:ext>
            </a:extLst>
          </p:cNvPr>
          <p:cNvSpPr>
            <a:spLocks/>
          </p:cNvSpPr>
          <p:nvPr/>
        </p:nvSpPr>
        <p:spPr bwMode="auto">
          <a:xfrm flipV="1">
            <a:off x="5272088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74" name="Text Box 46">
            <a:extLst>
              <a:ext uri="{FF2B5EF4-FFF2-40B4-BE49-F238E27FC236}">
                <a16:creationId xmlns:a16="http://schemas.microsoft.com/office/drawing/2014/main" id="{6E1DE9DF-3030-3260-48BB-5EEF2B79A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117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73775" name="Rectangle 47">
            <a:extLst>
              <a:ext uri="{FF2B5EF4-FFF2-40B4-BE49-F238E27FC236}">
                <a16:creationId xmlns:a16="http://schemas.microsoft.com/office/drawing/2014/main" id="{69821FC9-FF4E-ED08-CE5C-E4BD373A7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[6]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</a:t>
            </a:r>
          </a:p>
        </p:txBody>
      </p:sp>
      <p:sp>
        <p:nvSpPr>
          <p:cNvPr id="73776" name="Line 48">
            <a:extLst>
              <a:ext uri="{FF2B5EF4-FFF2-40B4-BE49-F238E27FC236}">
                <a16:creationId xmlns:a16="http://schemas.microsoft.com/office/drawing/2014/main" id="{2407FCF5-B60C-8932-0BDF-F046008C6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77" name="Text Box 49">
            <a:extLst>
              <a:ext uri="{FF2B5EF4-FFF2-40B4-BE49-F238E27FC236}">
                <a16:creationId xmlns:a16="http://schemas.microsoft.com/office/drawing/2014/main" id="{02449EF2-1183-E69A-435E-CCE7F2225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5</a:t>
            </a:r>
          </a:p>
        </p:txBody>
      </p:sp>
      <p:graphicFrame>
        <p:nvGraphicFramePr>
          <p:cNvPr id="193720" name="Group 184">
            <a:extLst>
              <a:ext uri="{FF2B5EF4-FFF2-40B4-BE49-F238E27FC236}">
                <a16:creationId xmlns:a16="http://schemas.microsoft.com/office/drawing/2014/main" id="{CE66F177-F4DC-C248-906D-668A18DC0400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798" name="Line 70">
            <a:extLst>
              <a:ext uri="{FF2B5EF4-FFF2-40B4-BE49-F238E27FC236}">
                <a16:creationId xmlns:a16="http://schemas.microsoft.com/office/drawing/2014/main" id="{6D908AC5-E7D0-4F8F-26D1-677E6DC81E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99" name="Rectangle 71">
            <a:extLst>
              <a:ext uri="{FF2B5EF4-FFF2-40B4-BE49-F238E27FC236}">
                <a16:creationId xmlns:a16="http://schemas.microsoft.com/office/drawing/2014/main" id="{A96E0DDB-A763-0EF8-9EFB-D6C5E36A5196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73800" name="Rectangle 72">
            <a:extLst>
              <a:ext uri="{FF2B5EF4-FFF2-40B4-BE49-F238E27FC236}">
                <a16:creationId xmlns:a16="http://schemas.microsoft.com/office/drawing/2014/main" id="{F81DC382-C985-3CCF-33B6-6AE4F0220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[5]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</a:t>
            </a:r>
          </a:p>
        </p:txBody>
      </p:sp>
      <p:sp>
        <p:nvSpPr>
          <p:cNvPr id="73801" name="Text Box 73">
            <a:extLst>
              <a:ext uri="{FF2B5EF4-FFF2-40B4-BE49-F238E27FC236}">
                <a16:creationId xmlns:a16="http://schemas.microsoft.com/office/drawing/2014/main" id="{6AEC89F0-0C43-9727-5362-F63E75FF4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93738" name="Group 202">
            <a:extLst>
              <a:ext uri="{FF2B5EF4-FFF2-40B4-BE49-F238E27FC236}">
                <a16:creationId xmlns:a16="http://schemas.microsoft.com/office/drawing/2014/main" id="{D37247F9-7148-D0EF-96FF-F2FBD4FD9828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822" name="Line 94">
            <a:extLst>
              <a:ext uri="{FF2B5EF4-FFF2-40B4-BE49-F238E27FC236}">
                <a16:creationId xmlns:a16="http://schemas.microsoft.com/office/drawing/2014/main" id="{24A58101-55DE-DB74-A05D-0F13BF153A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23" name="Rectangle 95">
            <a:extLst>
              <a:ext uri="{FF2B5EF4-FFF2-40B4-BE49-F238E27FC236}">
                <a16:creationId xmlns:a16="http://schemas.microsoft.com/office/drawing/2014/main" id="{502286A1-5507-BC3B-E3D7-87EF4BE99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2354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 = </a:t>
            </a: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= 6;</a:t>
            </a:r>
          </a:p>
        </p:txBody>
      </p:sp>
      <p:sp>
        <p:nvSpPr>
          <p:cNvPr id="73824" name="Rectangle 96">
            <a:extLst>
              <a:ext uri="{FF2B5EF4-FFF2-40B4-BE49-F238E27FC236}">
                <a16:creationId xmlns:a16="http://schemas.microsoft.com/office/drawing/2014/main" id="{E40871EA-6A00-2AA7-D138-E05E828B8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[4]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73825" name="Text Box 97">
            <a:extLst>
              <a:ext uri="{FF2B5EF4-FFF2-40B4-BE49-F238E27FC236}">
                <a16:creationId xmlns:a16="http://schemas.microsoft.com/office/drawing/2014/main" id="{D403470D-509D-030F-DEC2-29C59CCF6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93739" name="Group 203">
            <a:extLst>
              <a:ext uri="{FF2B5EF4-FFF2-40B4-BE49-F238E27FC236}">
                <a16:creationId xmlns:a16="http://schemas.microsoft.com/office/drawing/2014/main" id="{51E8659D-DCAF-1D3D-4378-1201A549DFC2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846" name="Freeform 118">
            <a:extLst>
              <a:ext uri="{FF2B5EF4-FFF2-40B4-BE49-F238E27FC236}">
                <a16:creationId xmlns:a16="http://schemas.microsoft.com/office/drawing/2014/main" id="{85A90200-FA86-CFFE-3E89-04DCC75A76E5}"/>
              </a:ext>
            </a:extLst>
          </p:cNvPr>
          <p:cNvSpPr>
            <a:spLocks/>
          </p:cNvSpPr>
          <p:nvPr/>
        </p:nvSpPr>
        <p:spPr bwMode="auto">
          <a:xfrm flipV="1">
            <a:off x="4305300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47" name="Freeform 119">
            <a:extLst>
              <a:ext uri="{FF2B5EF4-FFF2-40B4-BE49-F238E27FC236}">
                <a16:creationId xmlns:a16="http://schemas.microsoft.com/office/drawing/2014/main" id="{FB8F6035-EDE8-56D9-A7E6-150AE52DD5ED}"/>
              </a:ext>
            </a:extLst>
          </p:cNvPr>
          <p:cNvSpPr>
            <a:spLocks/>
          </p:cNvSpPr>
          <p:nvPr/>
        </p:nvSpPr>
        <p:spPr bwMode="auto">
          <a:xfrm flipV="1">
            <a:off x="3619500" y="21478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48" name="Line 120">
            <a:extLst>
              <a:ext uri="{FF2B5EF4-FFF2-40B4-BE49-F238E27FC236}">
                <a16:creationId xmlns:a16="http://schemas.microsoft.com/office/drawing/2014/main" id="{D665F598-BAF6-B2F8-F97A-D5221036EB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2743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49" name="Freeform 121">
            <a:extLst>
              <a:ext uri="{FF2B5EF4-FFF2-40B4-BE49-F238E27FC236}">
                <a16:creationId xmlns:a16="http://schemas.microsoft.com/office/drawing/2014/main" id="{575E34A9-07AB-5547-6255-3FFE10D7BEC5}"/>
              </a:ext>
            </a:extLst>
          </p:cNvPr>
          <p:cNvSpPr>
            <a:spLocks/>
          </p:cNvSpPr>
          <p:nvPr/>
        </p:nvSpPr>
        <p:spPr bwMode="auto">
          <a:xfrm flipV="1">
            <a:off x="2857500" y="2571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50" name="Rectangle 122">
            <a:extLst>
              <a:ext uri="{FF2B5EF4-FFF2-40B4-BE49-F238E27FC236}">
                <a16:creationId xmlns:a16="http://schemas.microsoft.com/office/drawing/2014/main" id="{128E0D98-E442-54F4-22F0-62D4D2AEA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695575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[3]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73851" name="Text Box 123">
            <a:extLst>
              <a:ext uri="{FF2B5EF4-FFF2-40B4-BE49-F238E27FC236}">
                <a16:creationId xmlns:a16="http://schemas.microsoft.com/office/drawing/2014/main" id="{E98DFDF4-406A-70F5-227C-91A8236D6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1575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93790" name="Group 254">
            <a:extLst>
              <a:ext uri="{FF2B5EF4-FFF2-40B4-BE49-F238E27FC236}">
                <a16:creationId xmlns:a16="http://schemas.microsoft.com/office/drawing/2014/main" id="{4F850ECE-F4D8-8C14-AD38-01ECDF2A6C41}"/>
              </a:ext>
            </a:extLst>
          </p:cNvPr>
          <p:cNvGraphicFramePr>
            <a:graphicFrameLocks noGrp="1"/>
          </p:cNvGraphicFramePr>
          <p:nvPr/>
        </p:nvGraphicFramePr>
        <p:xfrm>
          <a:off x="1063625" y="31765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872" name="Freeform 204">
            <a:extLst>
              <a:ext uri="{FF2B5EF4-FFF2-40B4-BE49-F238E27FC236}">
                <a16:creationId xmlns:a16="http://schemas.microsoft.com/office/drawing/2014/main" id="{75CFD49C-E030-D07B-A587-EBFB5E3249C4}"/>
              </a:ext>
            </a:extLst>
          </p:cNvPr>
          <p:cNvSpPr>
            <a:spLocks/>
          </p:cNvSpPr>
          <p:nvPr/>
        </p:nvSpPr>
        <p:spPr bwMode="auto">
          <a:xfrm flipV="1">
            <a:off x="2209800" y="3019425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73" name="Line 205">
            <a:extLst>
              <a:ext uri="{FF2B5EF4-FFF2-40B4-BE49-F238E27FC236}">
                <a16:creationId xmlns:a16="http://schemas.microsoft.com/office/drawing/2014/main" id="{101D4DE7-E989-E6B6-958D-1B7BED10C9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200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74" name="Text Box 206">
            <a:extLst>
              <a:ext uri="{FF2B5EF4-FFF2-40B4-BE49-F238E27FC236}">
                <a16:creationId xmlns:a16="http://schemas.microsoft.com/office/drawing/2014/main" id="{85A0D40D-0DE3-3B75-1054-E19175419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3552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93791" name="Group 255">
            <a:extLst>
              <a:ext uri="{FF2B5EF4-FFF2-40B4-BE49-F238E27FC236}">
                <a16:creationId xmlns:a16="http://schemas.microsoft.com/office/drawing/2014/main" id="{41A16AD8-E9B4-902F-6C52-CE77793FED56}"/>
              </a:ext>
            </a:extLst>
          </p:cNvPr>
          <p:cNvGraphicFramePr>
            <a:graphicFrameLocks noGrp="1"/>
          </p:cNvGraphicFramePr>
          <p:nvPr/>
        </p:nvGraphicFramePr>
        <p:xfrm>
          <a:off x="1081088" y="35718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895" name="Freeform 227">
            <a:extLst>
              <a:ext uri="{FF2B5EF4-FFF2-40B4-BE49-F238E27FC236}">
                <a16:creationId xmlns:a16="http://schemas.microsoft.com/office/drawing/2014/main" id="{4DA03151-448A-CBA1-875B-6B85389E67BA}"/>
              </a:ext>
            </a:extLst>
          </p:cNvPr>
          <p:cNvSpPr>
            <a:spLocks/>
          </p:cNvSpPr>
          <p:nvPr/>
        </p:nvSpPr>
        <p:spPr bwMode="auto">
          <a:xfrm flipV="1">
            <a:off x="1447800" y="34147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96" name="Line 228">
            <a:extLst>
              <a:ext uri="{FF2B5EF4-FFF2-40B4-BE49-F238E27FC236}">
                <a16:creationId xmlns:a16="http://schemas.microsoft.com/office/drawing/2014/main" id="{590B6EAC-504D-439F-3BB4-549D5C101C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59568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897" name="Text Box 229">
            <a:extLst>
              <a:ext uri="{FF2B5EF4-FFF2-40B4-BE49-F238E27FC236}">
                <a16:creationId xmlns:a16="http://schemas.microsoft.com/office/drawing/2014/main" id="{088B98E8-880A-E02D-F470-282F030ED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933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93792" name="Group 256">
            <a:extLst>
              <a:ext uri="{FF2B5EF4-FFF2-40B4-BE49-F238E27FC236}">
                <a16:creationId xmlns:a16="http://schemas.microsoft.com/office/drawing/2014/main" id="{4BCF4C90-5E1B-6253-5B1B-F07F63FA84EA}"/>
              </a:ext>
            </a:extLst>
          </p:cNvPr>
          <p:cNvGraphicFramePr>
            <a:graphicFrameLocks noGrp="1"/>
          </p:cNvGraphicFramePr>
          <p:nvPr/>
        </p:nvGraphicFramePr>
        <p:xfrm>
          <a:off x="1092200" y="39528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918" name="Rectangle 252">
            <a:extLst>
              <a:ext uri="{FF2B5EF4-FFF2-40B4-BE49-F238E27FC236}">
                <a16:creationId xmlns:a16="http://schemas.microsoft.com/office/drawing/2014/main" id="{6C7F194B-8EB8-606E-FFBE-011943EE3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31384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[2]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73919" name="Rectangle 253">
            <a:extLst>
              <a:ext uri="{FF2B5EF4-FFF2-40B4-BE49-F238E27FC236}">
                <a16:creationId xmlns:a16="http://schemas.microsoft.com/office/drawing/2014/main" id="{6E4246AC-3EB4-7DE2-9A58-0FE28347E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35956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[1] = </a:t>
            </a: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608419D3-F64C-608B-ACF1-BD4E5FAD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3921" name="Slide Number Placeholder 40">
            <a:extLst>
              <a:ext uri="{FF2B5EF4-FFF2-40B4-BE49-F238E27FC236}">
                <a16:creationId xmlns:a16="http://schemas.microsoft.com/office/drawing/2014/main" id="{92E454EB-22EC-2A19-EF73-2B7058D2B1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65BB2D-1B94-4A21-B06F-00A0F9A61CA8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A41E9A30-C555-E816-5434-F72D013B578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(Sixth Pass)</a:t>
            </a:r>
          </a:p>
        </p:txBody>
      </p:sp>
      <p:graphicFrame>
        <p:nvGraphicFramePr>
          <p:cNvPr id="195587" name="Group 3">
            <a:extLst>
              <a:ext uri="{FF2B5EF4-FFF2-40B4-BE49-F238E27FC236}">
                <a16:creationId xmlns:a16="http://schemas.microsoft.com/office/drawing/2014/main" id="{DB5D5514-A742-FA4D-7A96-823CA276870C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799" name="Text Box 23">
            <a:extLst>
              <a:ext uri="{FF2B5EF4-FFF2-40B4-BE49-F238E27FC236}">
                <a16:creationId xmlns:a16="http://schemas.microsoft.com/office/drawing/2014/main" id="{3EC3A969-A55F-88B1-EDE0-2F7393C2A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82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7</a:t>
            </a:r>
          </a:p>
        </p:txBody>
      </p:sp>
      <p:sp>
        <p:nvSpPr>
          <p:cNvPr id="75800" name="Text Box 46">
            <a:extLst>
              <a:ext uri="{FF2B5EF4-FFF2-40B4-BE49-F238E27FC236}">
                <a16:creationId xmlns:a16="http://schemas.microsoft.com/office/drawing/2014/main" id="{C04DE130-2118-6D34-A318-B8BAF7CCF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90</a:t>
            </a:r>
          </a:p>
        </p:txBody>
      </p:sp>
      <p:sp>
        <p:nvSpPr>
          <p:cNvPr id="75801" name="Rectangle 47">
            <a:extLst>
              <a:ext uri="{FF2B5EF4-FFF2-40B4-BE49-F238E27FC236}">
                <a16:creationId xmlns:a16="http://schemas.microsoft.com/office/drawing/2014/main" id="{E074076D-680E-7F8B-59C3-F96BE1BF8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1447800"/>
            <a:ext cx="17145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-1]</a:t>
            </a:r>
            <a:r>
              <a:rPr lang="en-US" altLang="en-US" sz="1800" b="1" i="1">
                <a:solidFill>
                  <a:srgbClr val="FF0000"/>
                </a:solidFill>
              </a:rPr>
              <a:t> &gt; temp?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No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Quit</a:t>
            </a:r>
          </a:p>
        </p:txBody>
      </p:sp>
      <p:sp>
        <p:nvSpPr>
          <p:cNvPr id="75802" name="Rectangle 71">
            <a:extLst>
              <a:ext uri="{FF2B5EF4-FFF2-40B4-BE49-F238E27FC236}">
                <a16:creationId xmlns:a16="http://schemas.microsoft.com/office/drawing/2014/main" id="{7BAF416E-C844-2912-09DE-C72E03EC2A9B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F2F508-2DE0-EF8C-E65D-B78A46C18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5804" name="Slide Number Placeholder 8">
            <a:extLst>
              <a:ext uri="{FF2B5EF4-FFF2-40B4-BE49-F238E27FC236}">
                <a16:creationId xmlns:a16="http://schemas.microsoft.com/office/drawing/2014/main" id="{C271041D-D2DC-E774-D813-1772119015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0CE0D3-ED53-4005-B72F-6C78F5B0397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4A716C57-1629-C2B3-EABE-30C601595C90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28625" y="15875"/>
            <a:ext cx="7572375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Insertion Sort Example (Sixth Pass)</a:t>
            </a:r>
          </a:p>
        </p:txBody>
      </p:sp>
      <p:graphicFrame>
        <p:nvGraphicFramePr>
          <p:cNvPr id="195587" name="Group 3">
            <a:extLst>
              <a:ext uri="{FF2B5EF4-FFF2-40B4-BE49-F238E27FC236}">
                <a16:creationId xmlns:a16="http://schemas.microsoft.com/office/drawing/2014/main" id="{71F01970-F019-3DC1-B3B6-641824FA18DA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7847" name="Text Box 23">
            <a:extLst>
              <a:ext uri="{FF2B5EF4-FFF2-40B4-BE49-F238E27FC236}">
                <a16:creationId xmlns:a16="http://schemas.microsoft.com/office/drawing/2014/main" id="{86D2B28A-5091-CBBB-8D57-A5BAB07BB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82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7</a:t>
            </a:r>
          </a:p>
        </p:txBody>
      </p:sp>
      <p:sp>
        <p:nvSpPr>
          <p:cNvPr id="77848" name="Text Box 46">
            <a:extLst>
              <a:ext uri="{FF2B5EF4-FFF2-40B4-BE49-F238E27FC236}">
                <a16:creationId xmlns:a16="http://schemas.microsoft.com/office/drawing/2014/main" id="{147031E1-CC88-5366-1FAD-645D1B334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temp</a:t>
            </a:r>
            <a:r>
              <a:rPr lang="en-US" altLang="en-US" sz="1800" b="1">
                <a:solidFill>
                  <a:srgbClr val="FF0000"/>
                </a:solidFill>
              </a:rPr>
              <a:t> = 90</a:t>
            </a:r>
          </a:p>
        </p:txBody>
      </p:sp>
      <p:sp>
        <p:nvSpPr>
          <p:cNvPr id="77849" name="Rectangle 47">
            <a:extLst>
              <a:ext uri="{FF2B5EF4-FFF2-40B4-BE49-F238E27FC236}">
                <a16:creationId xmlns:a16="http://schemas.microsoft.com/office/drawing/2014/main" id="{C25DE35F-4D8A-673D-611A-A817664C0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1447800"/>
            <a:ext cx="17145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A</a:t>
            </a:r>
            <a:r>
              <a:rPr lang="en-US" altLang="en-US" sz="1800" b="1">
                <a:solidFill>
                  <a:srgbClr val="FF0000"/>
                </a:solidFill>
              </a:rPr>
              <a:t>[</a:t>
            </a:r>
            <a:r>
              <a:rPr lang="en-US" altLang="en-US" sz="1800" b="1" i="1">
                <a:solidFill>
                  <a:srgbClr val="FF0000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-1]</a:t>
            </a:r>
            <a:r>
              <a:rPr lang="en-US" altLang="en-US" sz="1800" b="1" i="1">
                <a:solidFill>
                  <a:srgbClr val="FF0000"/>
                </a:solidFill>
              </a:rPr>
              <a:t> &gt; temp?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No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FF0000"/>
                </a:solidFill>
              </a:rPr>
              <a:t>Quit</a:t>
            </a:r>
          </a:p>
        </p:txBody>
      </p:sp>
      <p:sp>
        <p:nvSpPr>
          <p:cNvPr id="77850" name="Rectangle 71">
            <a:extLst>
              <a:ext uri="{FF2B5EF4-FFF2-40B4-BE49-F238E27FC236}">
                <a16:creationId xmlns:a16="http://schemas.microsoft.com/office/drawing/2014/main" id="{F4244EE2-0E05-9A78-741D-3C528C2BFCF9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A404C-0355-4E1B-C386-54E9A73F6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7852" name="Slide Number Placeholder 8">
            <a:extLst>
              <a:ext uri="{FF2B5EF4-FFF2-40B4-BE49-F238E27FC236}">
                <a16:creationId xmlns:a16="http://schemas.microsoft.com/office/drawing/2014/main" id="{BFB61714-11DA-B8DC-26CA-DFEC125067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CE880F0-F44C-4CA5-97FB-3C6486E94CFE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25E0C8A0-BF7D-BD3A-1E93-6CA3711FFB3E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Analysis of Insertion Sort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0928D39F-738C-6350-04E0-F9B016BB92C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914400"/>
            <a:ext cx="7620000" cy="5943600"/>
          </a:xfrm>
        </p:spPr>
        <p:txBody>
          <a:bodyPr/>
          <a:lstStyle/>
          <a:p>
            <a:r>
              <a:rPr lang="en-US" altLang="en-US" sz="2400"/>
              <a:t>Because of the nested loops, each of which can take </a:t>
            </a:r>
            <a:r>
              <a:rPr lang="en-US" altLang="en-US" sz="2400" b="1" i="1">
                <a:solidFill>
                  <a:srgbClr val="0000CC"/>
                </a:solidFill>
              </a:rPr>
              <a:t>n</a:t>
            </a:r>
            <a:r>
              <a:rPr lang="en-US" altLang="en-US" sz="2400"/>
              <a:t> iterations, insertion sort is </a:t>
            </a:r>
            <a:r>
              <a:rPr lang="en-US" altLang="en-US" sz="2400" i="1">
                <a:solidFill>
                  <a:srgbClr val="0000CC"/>
                </a:solidFill>
              </a:rPr>
              <a:t>O</a:t>
            </a:r>
            <a:r>
              <a:rPr lang="en-US" altLang="en-US" sz="2400">
                <a:solidFill>
                  <a:srgbClr val="0000CC"/>
                </a:solidFill>
              </a:rPr>
              <a:t>(</a:t>
            </a:r>
            <a:r>
              <a:rPr lang="en-US" altLang="en-US" sz="2400" i="1">
                <a:solidFill>
                  <a:srgbClr val="0000CC"/>
                </a:solidFill>
              </a:rPr>
              <a:t>n</a:t>
            </a:r>
            <a:r>
              <a:rPr lang="en-US" altLang="en-US" sz="2400" baseline="30000">
                <a:solidFill>
                  <a:srgbClr val="0000CC"/>
                </a:solidFill>
              </a:rPr>
              <a:t>2</a:t>
            </a:r>
            <a:r>
              <a:rPr lang="en-US" altLang="en-US" sz="2400">
                <a:solidFill>
                  <a:srgbClr val="0000CC"/>
                </a:solidFill>
              </a:rPr>
              <a:t>)</a:t>
            </a:r>
            <a:r>
              <a:rPr lang="en-US" altLang="en-US" sz="2400"/>
              <a:t>. </a:t>
            </a:r>
          </a:p>
          <a:p>
            <a:r>
              <a:rPr lang="en-US" altLang="en-US" sz="2400"/>
              <a:t>Furthermore, this bound is tight, because input in reverse order can actually achieve this bound. </a:t>
            </a:r>
          </a:p>
          <a:p>
            <a:r>
              <a:rPr lang="en-US" altLang="en-US" sz="2400"/>
              <a:t>A precise calculation shows that the test at line </a:t>
            </a:r>
            <a:r>
              <a:rPr lang="en-US" altLang="en-US" sz="2400">
                <a:solidFill>
                  <a:srgbClr val="0000CC"/>
                </a:solidFill>
              </a:rPr>
              <a:t>3</a:t>
            </a:r>
            <a:r>
              <a:rPr lang="en-US" altLang="en-US" sz="2400"/>
              <a:t> can be executed at most </a:t>
            </a:r>
            <a:r>
              <a:rPr lang="en-US" altLang="en-US" sz="2400" b="1" i="1">
                <a:solidFill>
                  <a:srgbClr val="0000CC"/>
                </a:solidFill>
              </a:rPr>
              <a:t>i</a:t>
            </a:r>
            <a:r>
              <a:rPr lang="en-US" altLang="en-US" sz="2400"/>
              <a:t> times for each value of </a:t>
            </a:r>
            <a:r>
              <a:rPr lang="en-US" altLang="en-US" sz="2400" b="1" i="1">
                <a:solidFill>
                  <a:srgbClr val="0000CC"/>
                </a:solidFill>
              </a:rPr>
              <a:t>i</a:t>
            </a:r>
            <a:r>
              <a:rPr lang="en-US" altLang="en-US" sz="2400"/>
              <a:t>. Summing over all </a:t>
            </a:r>
            <a:r>
              <a:rPr lang="en-US" altLang="en-US" sz="2400" b="1" i="1">
                <a:solidFill>
                  <a:srgbClr val="0000CC"/>
                </a:solidFill>
              </a:rPr>
              <a:t>i</a:t>
            </a:r>
            <a:r>
              <a:rPr lang="en-US" altLang="en-US" sz="2400"/>
              <a:t> gives a total of 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If the input is presorted, the running time is</a:t>
            </a:r>
            <a:r>
              <a:rPr lang="en-US" altLang="en-US" sz="2400">
                <a:solidFill>
                  <a:srgbClr val="0000CC"/>
                </a:solidFill>
              </a:rPr>
              <a:t> </a:t>
            </a:r>
            <a:r>
              <a:rPr lang="en-US" altLang="en-US" sz="2400" b="1" i="1">
                <a:solidFill>
                  <a:srgbClr val="0000CC"/>
                </a:solidFill>
              </a:rPr>
              <a:t>O</a:t>
            </a:r>
            <a:r>
              <a:rPr lang="en-US" altLang="en-US" sz="2400" b="1">
                <a:solidFill>
                  <a:srgbClr val="0000CC"/>
                </a:solidFill>
              </a:rPr>
              <a:t>(</a:t>
            </a:r>
            <a:r>
              <a:rPr lang="en-US" altLang="en-US" sz="2400" b="1" i="1">
                <a:solidFill>
                  <a:srgbClr val="0000CC"/>
                </a:solidFill>
              </a:rPr>
              <a:t>n</a:t>
            </a:r>
            <a:r>
              <a:rPr lang="en-US" altLang="en-US" sz="2400" b="1">
                <a:solidFill>
                  <a:srgbClr val="0000CC"/>
                </a:solidFill>
              </a:rPr>
              <a:t>)</a:t>
            </a:r>
          </a:p>
          <a:p>
            <a:pPr lvl="1"/>
            <a:r>
              <a:rPr lang="en-US" altLang="en-US" sz="2100"/>
              <a:t>because the test in the inner </a:t>
            </a:r>
            <a:r>
              <a:rPr lang="en-US" altLang="en-US" sz="2100" i="1"/>
              <a:t>for</a:t>
            </a:r>
            <a:r>
              <a:rPr lang="en-US" altLang="en-US" sz="2100"/>
              <a:t> loop always fails immediately</a:t>
            </a:r>
          </a:p>
          <a:p>
            <a:r>
              <a:rPr lang="en-US" altLang="en-US" sz="2400"/>
              <a:t>The average running time also </a:t>
            </a:r>
            <a:r>
              <a:rPr lang="en-US" altLang="en-US" b="1" i="1">
                <a:solidFill>
                  <a:srgbClr val="0000CC"/>
                </a:solidFill>
              </a:rPr>
              <a:t>O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n</a:t>
            </a:r>
            <a:r>
              <a:rPr lang="en-US" altLang="en-US" b="1" baseline="30000">
                <a:solidFill>
                  <a:srgbClr val="0000CC"/>
                </a:solidFill>
              </a:rPr>
              <a:t>2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endParaRPr lang="en-US" altLang="en-US" sz="2400" b="1">
              <a:solidFill>
                <a:srgbClr val="0000CC"/>
              </a:solidFill>
            </a:endParaRPr>
          </a:p>
          <a:p>
            <a:endParaRPr lang="en-US" altLang="en-US" sz="2400">
              <a:latin typeface="Trebuchet MS" panose="020B0603020202020204" pitchFamily="34" charset="0"/>
            </a:endParaRPr>
          </a:p>
        </p:txBody>
      </p:sp>
      <p:graphicFrame>
        <p:nvGraphicFramePr>
          <p:cNvPr id="79876" name="Object 3">
            <a:extLst>
              <a:ext uri="{FF2B5EF4-FFF2-40B4-BE49-F238E27FC236}">
                <a16:creationId xmlns:a16="http://schemas.microsoft.com/office/drawing/2014/main" id="{77A9B611-72B4-7A1B-AE11-B631E65E1B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550" y="3810000"/>
          <a:ext cx="4464050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54200" imgH="508000" progId="Equation.3">
                  <p:embed/>
                </p:oleObj>
              </mc:Choice>
              <mc:Fallback>
                <p:oleObj name="Equation" r:id="rId3" imgW="1854200" imgH="508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3810000"/>
                        <a:ext cx="4464050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41418-D611-8346-3356-A85A3A49F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79878" name="Slide Number Placeholder 5">
            <a:extLst>
              <a:ext uri="{FF2B5EF4-FFF2-40B4-BE49-F238E27FC236}">
                <a16:creationId xmlns:a16="http://schemas.microsoft.com/office/drawing/2014/main" id="{8A49625C-8E3E-ECF4-6FE2-8A684350CA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90B65E-4360-4E67-9D83-DFC36BDCE32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B78A016A-6A42-EB14-D09F-B63E26B5650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 Sort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89F5E6F0-B27A-E43B-0566-4C6E6A24C673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 sz="2800"/>
              <a:t>Find the minimum value in the list</a:t>
            </a:r>
          </a:p>
          <a:p>
            <a:r>
              <a:rPr lang="en-US" altLang="en-US" sz="2800"/>
              <a:t>Swap it with the value in the first position</a:t>
            </a:r>
          </a:p>
          <a:p>
            <a:r>
              <a:rPr lang="en-US" altLang="en-US" sz="2800"/>
              <a:t>Repeat the steps above for the remainder of the list (starting at the second position and advancing each time)</a:t>
            </a:r>
            <a:r>
              <a:rPr lang="en-US" altLang="en-US" sz="3600">
                <a:latin typeface="Trebuchet MS" panose="020B0603020202020204" pitchFamily="34" charset="0"/>
              </a:rPr>
              <a:t>	</a:t>
            </a:r>
          </a:p>
          <a:p>
            <a:endParaRPr lang="en-US" altLang="en-US" sz="3600">
              <a:latin typeface="Trebuchet MS" panose="020B0603020202020204" pitchFamily="34" charset="0"/>
            </a:endParaRPr>
          </a:p>
        </p:txBody>
      </p:sp>
      <p:sp>
        <p:nvSpPr>
          <p:cNvPr id="81924" name="TextBox 3">
            <a:extLst>
              <a:ext uri="{FF2B5EF4-FFF2-40B4-BE49-F238E27FC236}">
                <a16:creationId xmlns:a16="http://schemas.microsoft.com/office/drawing/2014/main" id="{C54CD7F0-C53B-FFCD-88C6-9012DE03C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175" y="6248400"/>
            <a:ext cx="4467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>
                <a:solidFill>
                  <a:srgbClr val="0000CC"/>
                </a:solidFill>
              </a:rPr>
              <a:t>http://en.wikipedia.org/wiki/Selection_sort</a:t>
            </a:r>
            <a:r>
              <a:rPr lang="en-US" altLang="en-US" sz="180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90AF8-2137-2946-1D68-AC556602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81926" name="Slide Number Placeholder 5">
            <a:extLst>
              <a:ext uri="{FF2B5EF4-FFF2-40B4-BE49-F238E27FC236}">
                <a16:creationId xmlns:a16="http://schemas.microsoft.com/office/drawing/2014/main" id="{AC49D024-8996-4DD1-BAA3-3DDCD8FBBC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9C6D4D-FCBF-4D77-AC97-9CF9DBC6228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D338FBFF-6F02-D514-B847-E2BF1A52FA30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 Sort</a:t>
            </a:r>
          </a:p>
        </p:txBody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48A4E550-4B3E-3381-B512-839BDFD384D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28600" y="1066800"/>
            <a:ext cx="4724400" cy="4846638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latin typeface="Times New Roman" panose="02020603050405020304" pitchFamily="18" charset="0"/>
              </a:rPr>
              <a:t> (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i </a:t>
            </a:r>
            <a:r>
              <a:rPr lang="en-US" altLang="en-US">
                <a:latin typeface="Times New Roman" panose="02020603050405020304" pitchFamily="18" charset="0"/>
              </a:rPr>
              <a:t>=0, </a:t>
            </a:r>
            <a:r>
              <a:rPr lang="en-US" altLang="en-US" i="1">
                <a:latin typeface="Times New Roman" panose="02020603050405020304" pitchFamily="18" charset="0"/>
              </a:rPr>
              <a:t>i  </a:t>
            </a:r>
            <a:r>
              <a:rPr lang="en-US" altLang="en-US">
                <a:latin typeface="Times New Roman" panose="02020603050405020304" pitchFamily="18" charset="0"/>
              </a:rPr>
              <a:t>&lt;  </a:t>
            </a:r>
            <a:r>
              <a:rPr lang="en-US" altLang="en-US" i="1">
                <a:latin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i="1">
                <a:latin typeface="Times New Roman" panose="02020603050405020304" pitchFamily="18" charset="0"/>
              </a:rPr>
              <a:t>i</a:t>
            </a:r>
            <a:r>
              <a:rPr lang="en-US" altLang="en-US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min = i;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    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latin typeface="Times New Roman" panose="02020603050405020304" pitchFamily="18" charset="0"/>
              </a:rPr>
              <a:t> (</a:t>
            </a:r>
            <a:r>
              <a:rPr lang="en-US" altLang="en-US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Times New Roman" panose="02020603050405020304" pitchFamily="18" charset="0"/>
              </a:rPr>
              <a:t>j </a:t>
            </a:r>
            <a:r>
              <a:rPr lang="en-US" altLang="en-US">
                <a:latin typeface="Times New Roman" panose="02020603050405020304" pitchFamily="18" charset="0"/>
              </a:rPr>
              <a:t>= i+1, </a:t>
            </a:r>
            <a:r>
              <a:rPr lang="en-US" altLang="en-US" i="1">
                <a:latin typeface="Times New Roman" panose="02020603050405020304" pitchFamily="18" charset="0"/>
              </a:rPr>
              <a:t>j &lt; n 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i="1">
                <a:latin typeface="Times New Roman" panose="02020603050405020304" pitchFamily="18" charset="0"/>
              </a:rPr>
              <a:t>j++</a:t>
            </a:r>
            <a:r>
              <a:rPr lang="en-US" altLang="en-US">
                <a:latin typeface="Times New Roman" panose="02020603050405020304" pitchFamily="18" charset="0"/>
              </a:rPr>
              <a:t>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  if (	</a:t>
            </a:r>
            <a:r>
              <a:rPr lang="en-US" altLang="en-US" i="1">
                <a:latin typeface="Times New Roman" panose="02020603050405020304" pitchFamily="18" charset="0"/>
              </a:rPr>
              <a:t> A</a:t>
            </a:r>
            <a:r>
              <a:rPr lang="en-US" altLang="en-US">
                <a:latin typeface="Times New Roman" panose="02020603050405020304" pitchFamily="18" charset="0"/>
              </a:rPr>
              <a:t>[</a:t>
            </a:r>
            <a:r>
              <a:rPr lang="en-US" altLang="en-US" i="1">
                <a:latin typeface="Times New Roman" panose="02020603050405020304" pitchFamily="18" charset="0"/>
              </a:rPr>
              <a:t>j</a:t>
            </a:r>
            <a:r>
              <a:rPr lang="en-US" altLang="en-US">
                <a:latin typeface="Times New Roman" panose="02020603050405020304" pitchFamily="18" charset="0"/>
              </a:rPr>
              <a:t>] &lt;</a:t>
            </a:r>
            <a:r>
              <a:rPr lang="en-US" altLang="en-US" i="1">
                <a:latin typeface="Times New Roman" panose="02020603050405020304" pitchFamily="18" charset="0"/>
              </a:rPr>
              <a:t> A</a:t>
            </a:r>
            <a:r>
              <a:rPr lang="en-US" altLang="en-US">
                <a:latin typeface="Times New Roman" panose="02020603050405020304" pitchFamily="18" charset="0"/>
              </a:rPr>
              <a:t>[min]){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       min = j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     } 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// end if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      }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// end inner for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>
                <a:latin typeface="Times New Roman" panose="02020603050405020304" pitchFamily="18" charset="0"/>
              </a:rPr>
              <a:t>swap(i,</a:t>
            </a:r>
            <a:r>
              <a:rPr lang="en-US" altLang="en-US" i="1"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min)   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  }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// end outer for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>
              <a:latin typeface="Times New Roman" panose="02020603050405020304" pitchFamily="18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Complexity ?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>
                <a:latin typeface="Times New Roman" panose="02020603050405020304" pitchFamily="18" charset="0"/>
              </a:rPr>
              <a:t>		</a:t>
            </a:r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83972" name="TextBox 3">
            <a:extLst>
              <a:ext uri="{FF2B5EF4-FFF2-40B4-BE49-F238E27FC236}">
                <a16:creationId xmlns:a16="http://schemas.microsoft.com/office/drawing/2014/main" id="{94ECDBFA-5D20-EA91-5FD4-068E24028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763" y="3352800"/>
            <a:ext cx="3957637" cy="2246313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swap(i, min</a:t>
            </a:r>
            <a:r>
              <a:rPr lang="en-US" altLang="en-US" sz="2000">
                <a:latin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CC"/>
                </a:solidFill>
              </a:rPr>
              <a:t> int </a:t>
            </a:r>
            <a:r>
              <a:rPr lang="en-US" altLang="en-US" sz="2000"/>
              <a:t>temp = A[i];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A[i] = A[min];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A[min] = temp;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29771-9674-876C-C6C8-777A2EE3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83974" name="Slide Number Placeholder 5">
            <a:extLst>
              <a:ext uri="{FF2B5EF4-FFF2-40B4-BE49-F238E27FC236}">
                <a16:creationId xmlns:a16="http://schemas.microsoft.com/office/drawing/2014/main" id="{1915FEB2-815C-5773-E510-09A2C38A62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AC3DF4-9865-498B-8142-0637C4DEB189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1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1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5" name="Rectangle 3">
            <a:extLst>
              <a:ext uri="{FF2B5EF4-FFF2-40B4-BE49-F238E27FC236}">
                <a16:creationId xmlns:a16="http://schemas.microsoft.com/office/drawing/2014/main" id="{91CED313-9A7D-953A-C4FC-B6FA0E507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95600" y="1600200"/>
            <a:ext cx="5867400" cy="4876800"/>
          </a:xfrm>
        </p:spPr>
        <p:txBody>
          <a:bodyPr/>
          <a:lstStyle/>
          <a:p>
            <a:r>
              <a:rPr lang="en-US" altLang="en-US"/>
              <a:t>The Selection Sort might swap an array element with itself--this is harmless.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03AA77FF-B342-BD3B-7466-85DAFF7A653D}"/>
              </a:ext>
            </a:extLst>
          </p:cNvPr>
          <p:cNvGrpSpPr>
            <a:grpSpLocks/>
          </p:cNvGrpSpPr>
          <p:nvPr/>
        </p:nvGrpSpPr>
        <p:grpSpPr bwMode="auto">
          <a:xfrm>
            <a:off x="912813" y="1900238"/>
            <a:ext cx="1525587" cy="306387"/>
            <a:chOff x="575" y="1197"/>
            <a:chExt cx="961" cy="193"/>
          </a:xfrm>
        </p:grpSpPr>
        <p:sp>
          <p:nvSpPr>
            <p:cNvPr id="86072" name="AutoShape 5">
              <a:extLst>
                <a:ext uri="{FF2B5EF4-FFF2-40B4-BE49-F238E27FC236}">
                  <a16:creationId xmlns:a16="http://schemas.microsoft.com/office/drawing/2014/main" id="{A47EB200-B0D4-7A9A-C00F-8C5AF59F8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" y="1197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tx2"/>
                  </a:solidFill>
                  <a:latin typeface="Trebuchet MS" panose="020B0603020202020204" pitchFamily="34" charset="0"/>
                </a:rPr>
                <a:t>7</a:t>
              </a:r>
              <a:endParaRPr lang="en-US" altLang="en-US" sz="2400">
                <a:solidFill>
                  <a:schemeClr val="tx2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86073" name="AutoShape 6">
              <a:extLst>
                <a:ext uri="{FF2B5EF4-FFF2-40B4-BE49-F238E27FC236}">
                  <a16:creationId xmlns:a16="http://schemas.microsoft.com/office/drawing/2014/main" id="{8355E5A2-6B37-CB90-F6BF-EC1952BA7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2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  <p:sp>
          <p:nvSpPr>
            <p:cNvPr id="86074" name="AutoShape 7">
              <a:extLst>
                <a:ext uri="{FF2B5EF4-FFF2-40B4-BE49-F238E27FC236}">
                  <a16:creationId xmlns:a16="http://schemas.microsoft.com/office/drawing/2014/main" id="{9DD52F69-2AE7-0B60-A77B-27A05EA3D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8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  <p:sp>
          <p:nvSpPr>
            <p:cNvPr id="86075" name="AutoShape 8">
              <a:extLst>
                <a:ext uri="{FF2B5EF4-FFF2-40B4-BE49-F238E27FC236}">
                  <a16:creationId xmlns:a16="http://schemas.microsoft.com/office/drawing/2014/main" id="{D5F64C23-BADB-B75F-59B8-853343D15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5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  <p:sp>
          <p:nvSpPr>
            <p:cNvPr id="86076" name="AutoShape 9">
              <a:extLst>
                <a:ext uri="{FF2B5EF4-FFF2-40B4-BE49-F238E27FC236}">
                  <a16:creationId xmlns:a16="http://schemas.microsoft.com/office/drawing/2014/main" id="{337DE3DF-F383-1A69-A22C-EC8F007B3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tx2"/>
                </a:buClr>
                <a:buSzPct val="73000"/>
                <a:buFont typeface="Wingdings 2" panose="05020102010507070707" pitchFamily="18" charset="2"/>
                <a:buChar char="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5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"/>
                <a:defRPr sz="2300">
                  <a:solidFill>
                    <a:srgbClr val="6C6C6C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400"/>
                </a:spcBef>
                <a:buClr>
                  <a:srgbClr val="F9B639"/>
                </a:buClr>
                <a:buSzPct val="60000"/>
                <a:buFont typeface="Wingdings" panose="05000000000000000000" pitchFamily="2" charset="2"/>
                <a:buChar char="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9B639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rgbClr val="6C6C6C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F9B639"/>
                </a:buClr>
                <a:buSzPct val="70000"/>
                <a:buFont typeface="Wingdings" panose="05000000000000000000" pitchFamily="2" charset="2"/>
                <a:buChar char="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rebuchet MS" panose="020B0603020202020204" pitchFamily="34" charset="0"/>
                </a:rPr>
                <a:t>4</a:t>
              </a:r>
              <a:endParaRPr lang="en-US" altLang="en-US" sz="2400">
                <a:latin typeface="Times" panose="02020603050405020304" pitchFamily="18" charset="0"/>
              </a:endParaRPr>
            </a:p>
          </p:txBody>
        </p:sp>
      </p:grpSp>
      <p:sp>
        <p:nvSpPr>
          <p:cNvPr id="863242" name="Line 10">
            <a:extLst>
              <a:ext uri="{FF2B5EF4-FFF2-40B4-BE49-F238E27FC236}">
                <a16:creationId xmlns:a16="http://schemas.microsoft.com/office/drawing/2014/main" id="{A73B5C21-B7C6-B3BD-ACC5-FEC88908744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668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3" name="Line 11">
            <a:extLst>
              <a:ext uri="{FF2B5EF4-FFF2-40B4-BE49-F238E27FC236}">
                <a16:creationId xmlns:a16="http://schemas.microsoft.com/office/drawing/2014/main" id="{2B916483-503D-464E-139C-3021F9D6EA6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716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4" name="Line 12">
            <a:extLst>
              <a:ext uri="{FF2B5EF4-FFF2-40B4-BE49-F238E27FC236}">
                <a16:creationId xmlns:a16="http://schemas.microsoft.com/office/drawing/2014/main" id="{776439B0-6FFA-DD94-F722-2A39301D0B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764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5" name="Line 13">
            <a:extLst>
              <a:ext uri="{FF2B5EF4-FFF2-40B4-BE49-F238E27FC236}">
                <a16:creationId xmlns:a16="http://schemas.microsoft.com/office/drawing/2014/main" id="{8EA1A5A7-822D-2F69-1B6E-12544C695EE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812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46" name="Line 14">
            <a:extLst>
              <a:ext uri="{FF2B5EF4-FFF2-40B4-BE49-F238E27FC236}">
                <a16:creationId xmlns:a16="http://schemas.microsoft.com/office/drawing/2014/main" id="{4B3FEC2D-4514-684F-6177-2A53C9ADCA6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813CF70F-6B16-D762-2C58-53FB8F802FC2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209800"/>
            <a:ext cx="1525588" cy="838200"/>
            <a:chOff x="576" y="1392"/>
            <a:chExt cx="961" cy="528"/>
          </a:xfrm>
        </p:grpSpPr>
        <p:grpSp>
          <p:nvGrpSpPr>
            <p:cNvPr id="86064" name="Group 16">
              <a:extLst>
                <a:ext uri="{FF2B5EF4-FFF2-40B4-BE49-F238E27FC236}">
                  <a16:creationId xmlns:a16="http://schemas.microsoft.com/office/drawing/2014/main" id="{472CAB6F-79B3-9862-5893-94CFA6E5CE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727"/>
              <a:ext cx="961" cy="193"/>
              <a:chOff x="575" y="1197"/>
              <a:chExt cx="961" cy="193"/>
            </a:xfrm>
          </p:grpSpPr>
          <p:sp>
            <p:nvSpPr>
              <p:cNvPr id="86067" name="AutoShape 17">
                <a:extLst>
                  <a:ext uri="{FF2B5EF4-FFF2-40B4-BE49-F238E27FC236}">
                    <a16:creationId xmlns:a16="http://schemas.microsoft.com/office/drawing/2014/main" id="{608B1947-2375-B98E-559F-D5A7B5663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  <a:endParaRPr lang="en-US" altLang="en-US" sz="2400">
                  <a:solidFill>
                    <a:schemeClr val="accent1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86068" name="AutoShape 18">
                <a:extLst>
                  <a:ext uri="{FF2B5EF4-FFF2-40B4-BE49-F238E27FC236}">
                    <a16:creationId xmlns:a16="http://schemas.microsoft.com/office/drawing/2014/main" id="{2B4C53E9-BC7A-7F09-68F3-688D336E6A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7</a:t>
                </a:r>
              </a:p>
            </p:txBody>
          </p:sp>
          <p:sp>
            <p:nvSpPr>
              <p:cNvPr id="86069" name="AutoShape 19">
                <a:extLst>
                  <a:ext uri="{FF2B5EF4-FFF2-40B4-BE49-F238E27FC236}">
                    <a16:creationId xmlns:a16="http://schemas.microsoft.com/office/drawing/2014/main" id="{0233F79E-ADB7-D191-1DD2-14FC08F89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8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  <p:sp>
            <p:nvSpPr>
              <p:cNvPr id="86070" name="AutoShape 20">
                <a:extLst>
                  <a:ext uri="{FF2B5EF4-FFF2-40B4-BE49-F238E27FC236}">
                    <a16:creationId xmlns:a16="http://schemas.microsoft.com/office/drawing/2014/main" id="{A60263F6-9EC9-5F7E-2B21-B829B80D23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5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  <p:sp>
            <p:nvSpPr>
              <p:cNvPr id="86071" name="AutoShape 21">
                <a:extLst>
                  <a:ext uri="{FF2B5EF4-FFF2-40B4-BE49-F238E27FC236}">
                    <a16:creationId xmlns:a16="http://schemas.microsoft.com/office/drawing/2014/main" id="{E7F71CB8-6763-7ADA-A368-ECA2330D4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4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86065" name="Line 22">
              <a:extLst>
                <a:ext uri="{FF2B5EF4-FFF2-40B4-BE49-F238E27FC236}">
                  <a16:creationId xmlns:a16="http://schemas.microsoft.com/office/drawing/2014/main" id="{C688F0B1-4277-DF42-F4C8-88B723CEC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392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66" name="Line 23">
              <a:extLst>
                <a:ext uri="{FF2B5EF4-FFF2-40B4-BE49-F238E27FC236}">
                  <a16:creationId xmlns:a16="http://schemas.microsoft.com/office/drawing/2014/main" id="{5681EA75-F466-4A00-4642-56FAD3EAF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1392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63256" name="Line 24">
            <a:extLst>
              <a:ext uri="{FF2B5EF4-FFF2-40B4-BE49-F238E27FC236}">
                <a16:creationId xmlns:a16="http://schemas.microsoft.com/office/drawing/2014/main" id="{FB1442B9-B3F1-78A4-462B-A0BD585B86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731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57" name="Line 25">
            <a:extLst>
              <a:ext uri="{FF2B5EF4-FFF2-40B4-BE49-F238E27FC236}">
                <a16:creationId xmlns:a16="http://schemas.microsoft.com/office/drawing/2014/main" id="{22BF0BCF-6043-4CA5-1387-0165B77E55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779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58" name="Line 26">
            <a:extLst>
              <a:ext uri="{FF2B5EF4-FFF2-40B4-BE49-F238E27FC236}">
                <a16:creationId xmlns:a16="http://schemas.microsoft.com/office/drawing/2014/main" id="{7000506A-DE89-3C53-4E42-D6F2C43359A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827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59" name="Line 27">
            <a:extLst>
              <a:ext uri="{FF2B5EF4-FFF2-40B4-BE49-F238E27FC236}">
                <a16:creationId xmlns:a16="http://schemas.microsoft.com/office/drawing/2014/main" id="{C38ADC00-9549-A041-99A4-858084FEF26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75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28">
            <a:extLst>
              <a:ext uri="{FF2B5EF4-FFF2-40B4-BE49-F238E27FC236}">
                <a16:creationId xmlns:a16="http://schemas.microsoft.com/office/drawing/2014/main" id="{3DD5DDB4-FCE9-BF77-B9DB-B57F11D33988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048000"/>
            <a:ext cx="1525588" cy="838200"/>
            <a:chOff x="576" y="1920"/>
            <a:chExt cx="961" cy="528"/>
          </a:xfrm>
        </p:grpSpPr>
        <p:grpSp>
          <p:nvGrpSpPr>
            <p:cNvPr id="86056" name="Group 29">
              <a:extLst>
                <a:ext uri="{FF2B5EF4-FFF2-40B4-BE49-F238E27FC236}">
                  <a16:creationId xmlns:a16="http://schemas.microsoft.com/office/drawing/2014/main" id="{DE5C611E-B272-192C-B33D-A88A5AFAC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2255"/>
              <a:ext cx="961" cy="193"/>
              <a:chOff x="575" y="1197"/>
              <a:chExt cx="961" cy="193"/>
            </a:xfrm>
          </p:grpSpPr>
          <p:sp>
            <p:nvSpPr>
              <p:cNvPr id="86059" name="AutoShape 30">
                <a:extLst>
                  <a:ext uri="{FF2B5EF4-FFF2-40B4-BE49-F238E27FC236}">
                    <a16:creationId xmlns:a16="http://schemas.microsoft.com/office/drawing/2014/main" id="{71072F13-7B58-AAA9-5D09-8DCBE005E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</a:p>
            </p:txBody>
          </p:sp>
          <p:sp>
            <p:nvSpPr>
              <p:cNvPr id="86060" name="AutoShape 31">
                <a:extLst>
                  <a:ext uri="{FF2B5EF4-FFF2-40B4-BE49-F238E27FC236}">
                    <a16:creationId xmlns:a16="http://schemas.microsoft.com/office/drawing/2014/main" id="{E0B9954A-0A61-99BD-8305-6374A26DD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4</a:t>
                </a:r>
              </a:p>
            </p:txBody>
          </p:sp>
          <p:sp>
            <p:nvSpPr>
              <p:cNvPr id="86061" name="AutoShape 32">
                <a:extLst>
                  <a:ext uri="{FF2B5EF4-FFF2-40B4-BE49-F238E27FC236}">
                    <a16:creationId xmlns:a16="http://schemas.microsoft.com/office/drawing/2014/main" id="{F4305941-F8DE-3B25-CAA0-6D246A9CF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8</a:t>
                </a:r>
              </a:p>
            </p:txBody>
          </p:sp>
          <p:sp>
            <p:nvSpPr>
              <p:cNvPr id="86062" name="AutoShape 33">
                <a:extLst>
                  <a:ext uri="{FF2B5EF4-FFF2-40B4-BE49-F238E27FC236}">
                    <a16:creationId xmlns:a16="http://schemas.microsoft.com/office/drawing/2014/main" id="{FA0B32CA-D91C-6497-0858-A0DFBE6B66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5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  <p:sp>
            <p:nvSpPr>
              <p:cNvPr id="86063" name="AutoShape 34">
                <a:extLst>
                  <a:ext uri="{FF2B5EF4-FFF2-40B4-BE49-F238E27FC236}">
                    <a16:creationId xmlns:a16="http://schemas.microsoft.com/office/drawing/2014/main" id="{15ABCE57-4558-7EA3-C9D4-38F6787B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7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86057" name="Line 35">
              <a:extLst>
                <a:ext uri="{FF2B5EF4-FFF2-40B4-BE49-F238E27FC236}">
                  <a16:creationId xmlns:a16="http://schemas.microsoft.com/office/drawing/2014/main" id="{4D1B5E94-A905-41CF-D689-F09631B3CE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1920"/>
              <a:ext cx="576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58" name="Line 36">
              <a:extLst>
                <a:ext uri="{FF2B5EF4-FFF2-40B4-BE49-F238E27FC236}">
                  <a16:creationId xmlns:a16="http://schemas.microsoft.com/office/drawing/2014/main" id="{C7596CA6-DC4E-6227-CA55-638AD46C5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920"/>
              <a:ext cx="576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63269" name="Line 37">
            <a:extLst>
              <a:ext uri="{FF2B5EF4-FFF2-40B4-BE49-F238E27FC236}">
                <a16:creationId xmlns:a16="http://schemas.microsoft.com/office/drawing/2014/main" id="{D7ACD9F4-D52E-1724-573E-E4373E2FCE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70" name="Line 38">
            <a:extLst>
              <a:ext uri="{FF2B5EF4-FFF2-40B4-BE49-F238E27FC236}">
                <a16:creationId xmlns:a16="http://schemas.microsoft.com/office/drawing/2014/main" id="{34AB2FAB-F0D9-1500-DA0F-C64075779C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71" name="Line 39">
            <a:extLst>
              <a:ext uri="{FF2B5EF4-FFF2-40B4-BE49-F238E27FC236}">
                <a16:creationId xmlns:a16="http://schemas.microsoft.com/office/drawing/2014/main" id="{DC27E3C0-AD67-DAA1-68C3-4C35F705A8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40">
            <a:extLst>
              <a:ext uri="{FF2B5EF4-FFF2-40B4-BE49-F238E27FC236}">
                <a16:creationId xmlns:a16="http://schemas.microsoft.com/office/drawing/2014/main" id="{28A33E2F-7B5B-CD3F-438F-6226027A908F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886200"/>
            <a:ext cx="1525588" cy="838200"/>
            <a:chOff x="576" y="2448"/>
            <a:chExt cx="961" cy="528"/>
          </a:xfrm>
        </p:grpSpPr>
        <p:grpSp>
          <p:nvGrpSpPr>
            <p:cNvPr id="86048" name="Group 41">
              <a:extLst>
                <a:ext uri="{FF2B5EF4-FFF2-40B4-BE49-F238E27FC236}">
                  <a16:creationId xmlns:a16="http://schemas.microsoft.com/office/drawing/2014/main" id="{FD2A1B1C-A07E-2B87-EBF6-D55ED87DD8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2783"/>
              <a:ext cx="961" cy="193"/>
              <a:chOff x="575" y="1197"/>
              <a:chExt cx="961" cy="193"/>
            </a:xfrm>
          </p:grpSpPr>
          <p:sp>
            <p:nvSpPr>
              <p:cNvPr id="86051" name="AutoShape 42">
                <a:extLst>
                  <a:ext uri="{FF2B5EF4-FFF2-40B4-BE49-F238E27FC236}">
                    <a16:creationId xmlns:a16="http://schemas.microsoft.com/office/drawing/2014/main" id="{0AAFE718-94D4-269F-FD13-2DF383F0F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</a:p>
            </p:txBody>
          </p:sp>
          <p:sp>
            <p:nvSpPr>
              <p:cNvPr id="86052" name="AutoShape 43">
                <a:extLst>
                  <a:ext uri="{FF2B5EF4-FFF2-40B4-BE49-F238E27FC236}">
                    <a16:creationId xmlns:a16="http://schemas.microsoft.com/office/drawing/2014/main" id="{2B93A35E-A774-CD34-D6B9-1874083BBF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4</a:t>
                </a:r>
              </a:p>
            </p:txBody>
          </p:sp>
          <p:sp>
            <p:nvSpPr>
              <p:cNvPr id="86053" name="AutoShape 44">
                <a:extLst>
                  <a:ext uri="{FF2B5EF4-FFF2-40B4-BE49-F238E27FC236}">
                    <a16:creationId xmlns:a16="http://schemas.microsoft.com/office/drawing/2014/main" id="{E131F11F-C45D-59A7-EEC0-B7A6337A1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5</a:t>
                </a:r>
              </a:p>
            </p:txBody>
          </p:sp>
          <p:sp>
            <p:nvSpPr>
              <p:cNvPr id="86054" name="AutoShape 45">
                <a:extLst>
                  <a:ext uri="{FF2B5EF4-FFF2-40B4-BE49-F238E27FC236}">
                    <a16:creationId xmlns:a16="http://schemas.microsoft.com/office/drawing/2014/main" id="{DDC5B746-37D5-01A7-52EF-53B75A9479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8</a:t>
                </a:r>
              </a:p>
            </p:txBody>
          </p:sp>
          <p:sp>
            <p:nvSpPr>
              <p:cNvPr id="86055" name="AutoShape 46">
                <a:extLst>
                  <a:ext uri="{FF2B5EF4-FFF2-40B4-BE49-F238E27FC236}">
                    <a16:creationId xmlns:a16="http://schemas.microsoft.com/office/drawing/2014/main" id="{192C9C25-2ABD-14B0-CFB4-7FB9944B4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Trebuchet MS" panose="020B0603020202020204" pitchFamily="34" charset="0"/>
                  </a:rPr>
                  <a:t>7</a:t>
                </a:r>
                <a:endParaRPr lang="en-US" altLang="en-US" sz="240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86049" name="Line 47">
              <a:extLst>
                <a:ext uri="{FF2B5EF4-FFF2-40B4-BE49-F238E27FC236}">
                  <a16:creationId xmlns:a16="http://schemas.microsoft.com/office/drawing/2014/main" id="{A8B02CFF-1AD7-360D-9439-B45D17D510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448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50" name="Line 48">
              <a:extLst>
                <a:ext uri="{FF2B5EF4-FFF2-40B4-BE49-F238E27FC236}">
                  <a16:creationId xmlns:a16="http://schemas.microsoft.com/office/drawing/2014/main" id="{7BA9A86E-59E1-A7E4-1DB3-51486C126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448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49">
            <a:extLst>
              <a:ext uri="{FF2B5EF4-FFF2-40B4-BE49-F238E27FC236}">
                <a16:creationId xmlns:a16="http://schemas.microsoft.com/office/drawing/2014/main" id="{574036E2-6B9F-F95C-1C51-19C4323B682D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724400"/>
            <a:ext cx="1525588" cy="838200"/>
            <a:chOff x="576" y="2976"/>
            <a:chExt cx="961" cy="528"/>
          </a:xfrm>
        </p:grpSpPr>
        <p:grpSp>
          <p:nvGrpSpPr>
            <p:cNvPr id="86040" name="Group 50">
              <a:extLst>
                <a:ext uri="{FF2B5EF4-FFF2-40B4-BE49-F238E27FC236}">
                  <a16:creationId xmlns:a16="http://schemas.microsoft.com/office/drawing/2014/main" id="{10BD1C79-E717-A8B0-E720-D3F17DF314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311"/>
              <a:ext cx="961" cy="193"/>
              <a:chOff x="575" y="1197"/>
              <a:chExt cx="961" cy="193"/>
            </a:xfrm>
          </p:grpSpPr>
          <p:sp>
            <p:nvSpPr>
              <p:cNvPr id="86043" name="AutoShape 51">
                <a:extLst>
                  <a:ext uri="{FF2B5EF4-FFF2-40B4-BE49-F238E27FC236}">
                    <a16:creationId xmlns:a16="http://schemas.microsoft.com/office/drawing/2014/main" id="{91006B5C-B1F6-988E-A162-9332925B90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2</a:t>
                </a:r>
              </a:p>
            </p:txBody>
          </p:sp>
          <p:sp>
            <p:nvSpPr>
              <p:cNvPr id="86044" name="AutoShape 52">
                <a:extLst>
                  <a:ext uri="{FF2B5EF4-FFF2-40B4-BE49-F238E27FC236}">
                    <a16:creationId xmlns:a16="http://schemas.microsoft.com/office/drawing/2014/main" id="{34E8C5C0-6D2E-FEE9-AA48-D86F0B0AB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4</a:t>
                </a:r>
              </a:p>
            </p:txBody>
          </p:sp>
          <p:sp>
            <p:nvSpPr>
              <p:cNvPr id="86045" name="AutoShape 53">
                <a:extLst>
                  <a:ext uri="{FF2B5EF4-FFF2-40B4-BE49-F238E27FC236}">
                    <a16:creationId xmlns:a16="http://schemas.microsoft.com/office/drawing/2014/main" id="{05961462-5B2A-A522-BF14-C103DFF0F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5</a:t>
                </a:r>
              </a:p>
            </p:txBody>
          </p:sp>
          <p:sp>
            <p:nvSpPr>
              <p:cNvPr id="86046" name="AutoShape 54">
                <a:extLst>
                  <a:ext uri="{FF2B5EF4-FFF2-40B4-BE49-F238E27FC236}">
                    <a16:creationId xmlns:a16="http://schemas.microsoft.com/office/drawing/2014/main" id="{3BD884F0-1EF0-9390-2E69-7CBFAA620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accent1"/>
                    </a:solidFill>
                    <a:latin typeface="Trebuchet MS" panose="020B0603020202020204" pitchFamily="34" charset="0"/>
                  </a:rPr>
                  <a:t>7</a:t>
                </a:r>
              </a:p>
            </p:txBody>
          </p:sp>
          <p:sp>
            <p:nvSpPr>
              <p:cNvPr id="86047" name="AutoShape 55">
                <a:extLst>
                  <a:ext uri="{FF2B5EF4-FFF2-40B4-BE49-F238E27FC236}">
                    <a16:creationId xmlns:a16="http://schemas.microsoft.com/office/drawing/2014/main" id="{CCD72C5B-020C-C46A-1D04-21541E341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tx2"/>
                  </a:buClr>
                  <a:buSzPct val="73000"/>
                  <a:buFont typeface="Wingdings 2" panose="05020102010507070707" pitchFamily="18" charset="2"/>
                  <a:buChar char="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5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"/>
                  <a:defRPr sz="23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400"/>
                  </a:spcBef>
                  <a:buClr>
                    <a:srgbClr val="F9B639"/>
                  </a:buClr>
                  <a:buSzPct val="60000"/>
                  <a:buFont typeface="Wingdings" panose="05000000000000000000" pitchFamily="2" charset="2"/>
                  <a:buChar char="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9B639"/>
                  </a:buClr>
                  <a:buSzPct val="80000"/>
                  <a:buFont typeface="Wingdings 2" panose="05020102010507070707" pitchFamily="18" charset="2"/>
                  <a:buChar char=""/>
                  <a:defRPr sz="2000">
                    <a:solidFill>
                      <a:srgbClr val="6C6C6C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F9B639"/>
                  </a:buClr>
                  <a:buSzPct val="70000"/>
                  <a:buFont typeface="Wingdings" panose="05000000000000000000" pitchFamily="2" charset="2"/>
                  <a:buChar char="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solidFill>
                      <a:schemeClr val="tx2"/>
                    </a:solidFill>
                    <a:latin typeface="Trebuchet MS" panose="020B0603020202020204" pitchFamily="34" charset="0"/>
                  </a:rPr>
                  <a:t>8</a:t>
                </a:r>
              </a:p>
            </p:txBody>
          </p:sp>
        </p:grpSp>
        <p:sp>
          <p:nvSpPr>
            <p:cNvPr id="86041" name="Line 56">
              <a:extLst>
                <a:ext uri="{FF2B5EF4-FFF2-40B4-BE49-F238E27FC236}">
                  <a16:creationId xmlns:a16="http://schemas.microsoft.com/office/drawing/2014/main" id="{D1CC451C-7027-3500-F250-2ACB149DD2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2976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42" name="Line 57">
              <a:extLst>
                <a:ext uri="{FF2B5EF4-FFF2-40B4-BE49-F238E27FC236}">
                  <a16:creationId xmlns:a16="http://schemas.microsoft.com/office/drawing/2014/main" id="{EF1DDD9C-0605-F229-6C98-AFA02E780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63290" name="Line 58">
            <a:extLst>
              <a:ext uri="{FF2B5EF4-FFF2-40B4-BE49-F238E27FC236}">
                <a16:creationId xmlns:a16="http://schemas.microsoft.com/office/drawing/2014/main" id="{6D58B430-AA27-AD1C-2436-C6438CEDDC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47244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3291" name="Line 59">
            <a:extLst>
              <a:ext uri="{FF2B5EF4-FFF2-40B4-BE49-F238E27FC236}">
                <a16:creationId xmlns:a16="http://schemas.microsoft.com/office/drawing/2014/main" id="{839DDC1B-0892-A23E-7EBD-4982EFFC00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47244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Rectangle 2">
            <a:extLst>
              <a:ext uri="{FF2B5EF4-FFF2-40B4-BE49-F238E27FC236}">
                <a16:creationId xmlns:a16="http://schemas.microsoft.com/office/drawing/2014/main" id="{60A5BD10-AF8D-2A4F-6B01-07C37A65E85F}"/>
              </a:ext>
            </a:extLst>
          </p:cNvPr>
          <p:cNvSpPr txBox="1">
            <a:spLocks/>
          </p:cNvSpPr>
          <p:nvPr/>
        </p:nvSpPr>
        <p:spPr bwMode="auto">
          <a:xfrm>
            <a:off x="609600" y="473075"/>
            <a:ext cx="7239000" cy="1143000"/>
          </a:xfrm>
          <a:prstGeom prst="rect">
            <a:avLst/>
          </a:prstGeom>
          <a:noFill/>
        </p:spPr>
        <p:txBody>
          <a:bodyPr lIns="45720" tIns="0" rIns="45720" bIns="0" anchor="b">
            <a:normAutofit/>
          </a:bodyPr>
          <a:lstStyle/>
          <a:p>
            <a:pPr>
              <a:defRPr/>
            </a:pPr>
            <a:r>
              <a:rPr lang="en-US" sz="3800" b="1" dirty="0">
                <a:latin typeface="Trebuchet MS" pitchFamily="34" charset="0"/>
                <a:ea typeface="+mj-ea"/>
                <a:cs typeface="+mj-cs"/>
              </a:rPr>
              <a:t>Selection Sort - Example</a:t>
            </a:r>
          </a:p>
        </p:txBody>
      </p:sp>
      <p:sp>
        <p:nvSpPr>
          <p:cNvPr id="62" name="Rectangle 23">
            <a:extLst>
              <a:ext uri="{FF2B5EF4-FFF2-40B4-BE49-F238E27FC236}">
                <a16:creationId xmlns:a16="http://schemas.microsoft.com/office/drawing/2014/main" id="{93D699AF-8846-4A0E-8763-CE18B6253DDC}"/>
              </a:ext>
            </a:extLst>
          </p:cNvPr>
          <p:cNvSpPr>
            <a:spLocks/>
          </p:cNvSpPr>
          <p:nvPr/>
        </p:nvSpPr>
        <p:spPr bwMode="auto">
          <a:xfrm>
            <a:off x="3200400" y="3429000"/>
            <a:ext cx="4953000" cy="28194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=0,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++){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;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20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2000" dirty="0">
                <a:latin typeface="Times New Roman" pitchFamily="18" charset="0"/>
                <a:cs typeface="Arial" charset="0"/>
              </a:rPr>
              <a:t>){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20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[min]){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20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,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min)    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273050" indent="-273050"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632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63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63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632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632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632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632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8632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6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632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63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632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632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86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63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3235" grpId="0" build="p" bldLvl="4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06F9C1CE-E8BC-ED2F-E6DF-28920DC661D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875"/>
            <a:ext cx="7239000" cy="669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6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</a:t>
            </a:r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 Sort Example 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5606F519-5929-4832-CA31-4C379C099F0C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78105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3319" name="Rectangle 23">
            <a:extLst>
              <a:ext uri="{FF2B5EF4-FFF2-40B4-BE49-F238E27FC236}">
                <a16:creationId xmlns:a16="http://schemas.microsoft.com/office/drawing/2014/main" id="{24C7C5A6-1C97-DD8A-0247-9109A6A7BC58}"/>
              </a:ext>
            </a:extLst>
          </p:cNvPr>
          <p:cNvSpPr>
            <a:spLocks/>
          </p:cNvSpPr>
          <p:nvPr/>
        </p:nvSpPr>
        <p:spPr bwMode="auto">
          <a:xfrm>
            <a:off x="304800" y="4010025"/>
            <a:ext cx="5791200" cy="28194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=0,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++){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;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20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2000" dirty="0">
                <a:latin typeface="Times New Roman" pitchFamily="18" charset="0"/>
                <a:cs typeface="Arial" charset="0"/>
              </a:rPr>
              <a:t>){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20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[min]){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 eaLnBrk="1" hangingPunct="1">
              <a:defRPr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20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,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min)    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273050" indent="-273050"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88088" name="Text Box 24">
            <a:extLst>
              <a:ext uri="{FF2B5EF4-FFF2-40B4-BE49-F238E27FC236}">
                <a16:creationId xmlns:a16="http://schemas.microsoft.com/office/drawing/2014/main" id="{26F44948-DF53-83BB-42B6-12E9D3214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575" y="866775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88089" name="Text Box 183">
            <a:extLst>
              <a:ext uri="{FF2B5EF4-FFF2-40B4-BE49-F238E27FC236}">
                <a16:creationId xmlns:a16="http://schemas.microsoft.com/office/drawing/2014/main" id="{09472570-03E3-784B-D3C0-6FCD9565C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313" y="6858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8A95BC-D697-A2C5-D428-AB6C75DD43BF}"/>
              </a:ext>
            </a:extLst>
          </p:cNvPr>
          <p:cNvSpPr/>
          <p:nvPr/>
        </p:nvSpPr>
        <p:spPr>
          <a:xfrm>
            <a:off x="811213" y="90011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1970E2-AC89-C1EC-C511-0BFB30353D70}"/>
              </a:ext>
            </a:extLst>
          </p:cNvPr>
          <p:cNvSpPr/>
          <p:nvPr/>
        </p:nvSpPr>
        <p:spPr>
          <a:xfrm>
            <a:off x="1547813" y="892175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BB40FD-6BCF-9D29-1A01-B32190A7DD6B}"/>
              </a:ext>
            </a:extLst>
          </p:cNvPr>
          <p:cNvSpPr/>
          <p:nvPr/>
        </p:nvSpPr>
        <p:spPr>
          <a:xfrm>
            <a:off x="2270125" y="90011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7394C9-D53B-165B-3D31-26B587D26461}"/>
              </a:ext>
            </a:extLst>
          </p:cNvPr>
          <p:cNvSpPr/>
          <p:nvPr/>
        </p:nvSpPr>
        <p:spPr>
          <a:xfrm>
            <a:off x="3006725" y="89217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7ED4D1-22EB-00DC-1A62-122C40420F35}"/>
              </a:ext>
            </a:extLst>
          </p:cNvPr>
          <p:cNvSpPr/>
          <p:nvPr/>
        </p:nvSpPr>
        <p:spPr>
          <a:xfrm>
            <a:off x="3757613" y="90011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6B17F5-CE3E-F3DE-6616-EF8895374CE4}"/>
              </a:ext>
            </a:extLst>
          </p:cNvPr>
          <p:cNvSpPr/>
          <p:nvPr/>
        </p:nvSpPr>
        <p:spPr>
          <a:xfrm>
            <a:off x="4492625" y="892175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43F51B-61C2-6DAC-8DC4-844E804C07EB}"/>
              </a:ext>
            </a:extLst>
          </p:cNvPr>
          <p:cNvSpPr/>
          <p:nvPr/>
        </p:nvSpPr>
        <p:spPr>
          <a:xfrm>
            <a:off x="5216525" y="90011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0FB960-FCD4-A6E7-D4A8-A1F8830B6CCB}"/>
              </a:ext>
            </a:extLst>
          </p:cNvPr>
          <p:cNvSpPr/>
          <p:nvPr/>
        </p:nvSpPr>
        <p:spPr>
          <a:xfrm>
            <a:off x="5953125" y="89217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4" name="Text Box 183">
            <a:extLst>
              <a:ext uri="{FF2B5EF4-FFF2-40B4-BE49-F238E27FC236}">
                <a16:creationId xmlns:a16="http://schemas.microsoft.com/office/drawing/2014/main" id="{CA27C346-F6DE-CC50-2607-58BFBD19E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252538"/>
            <a:ext cx="1246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62</a:t>
            </a:r>
          </a:p>
        </p:txBody>
      </p:sp>
      <p:sp>
        <p:nvSpPr>
          <p:cNvPr id="25" name="Text Box 183">
            <a:extLst>
              <a:ext uri="{FF2B5EF4-FFF2-40B4-BE49-F238E27FC236}">
                <a16:creationId xmlns:a16="http://schemas.microsoft.com/office/drawing/2014/main" id="{244E93BD-2031-4F49-D16B-364AAA0B8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388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26" name="Text Box 183">
            <a:extLst>
              <a:ext uri="{FF2B5EF4-FFF2-40B4-BE49-F238E27FC236}">
                <a16:creationId xmlns:a16="http://schemas.microsoft.com/office/drawing/2014/main" id="{30FF905B-66CE-F9D8-F34B-42B596B10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863" y="1252538"/>
            <a:ext cx="124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27" name="Text Box 183">
            <a:extLst>
              <a:ext uri="{FF2B5EF4-FFF2-40B4-BE49-F238E27FC236}">
                <a16:creationId xmlns:a16="http://schemas.microsoft.com/office/drawing/2014/main" id="{2CBD6E91-8776-CD87-4C72-C72342034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4813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28" name="Text Box 183">
            <a:extLst>
              <a:ext uri="{FF2B5EF4-FFF2-40B4-BE49-F238E27FC236}">
                <a16:creationId xmlns:a16="http://schemas.microsoft.com/office/drawing/2014/main" id="{A7BFAD00-3A61-07C9-6D92-046C55C9B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8" y="1252538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29" name="Text Box 183">
            <a:extLst>
              <a:ext uri="{FF2B5EF4-FFF2-40B4-BE49-F238E27FC236}">
                <a16:creationId xmlns:a16="http://schemas.microsoft.com/office/drawing/2014/main" id="{52AA6C78-8271-40E0-7040-7A58B1BC7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30" name="Text Box 183">
            <a:extLst>
              <a:ext uri="{FF2B5EF4-FFF2-40B4-BE49-F238E27FC236}">
                <a16:creationId xmlns:a16="http://schemas.microsoft.com/office/drawing/2014/main" id="{A229EDD6-B100-938C-D3BC-62B1E4309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663" y="1252538"/>
            <a:ext cx="124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6</a:t>
            </a:r>
          </a:p>
        </p:txBody>
      </p:sp>
      <p:sp>
        <p:nvSpPr>
          <p:cNvPr id="31" name="Text Box 183">
            <a:extLst>
              <a:ext uri="{FF2B5EF4-FFF2-40B4-BE49-F238E27FC236}">
                <a16:creationId xmlns:a16="http://schemas.microsoft.com/office/drawing/2014/main" id="{30612B32-E96E-7394-8809-812963393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613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6</a:t>
            </a:r>
          </a:p>
        </p:txBody>
      </p:sp>
      <p:graphicFrame>
        <p:nvGraphicFramePr>
          <p:cNvPr id="32" name="Group 3">
            <a:extLst>
              <a:ext uri="{FF2B5EF4-FFF2-40B4-BE49-F238E27FC236}">
                <a16:creationId xmlns:a16="http://schemas.microsoft.com/office/drawing/2014/main" id="{BD6CBEBC-5407-148F-461A-AE22FFCCDB9D}"/>
              </a:ext>
            </a:extLst>
          </p:cNvPr>
          <p:cNvGraphicFramePr>
            <a:graphicFrameLocks/>
          </p:cNvGraphicFramePr>
          <p:nvPr/>
        </p:nvGraphicFramePr>
        <p:xfrm>
          <a:off x="762000" y="16430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126" name="Text Box 24">
            <a:extLst>
              <a:ext uri="{FF2B5EF4-FFF2-40B4-BE49-F238E27FC236}">
                <a16:creationId xmlns:a16="http://schemas.microsoft.com/office/drawing/2014/main" id="{51C164A4-C2BD-CBDC-7B7E-FCA07CD2C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50" y="1643063"/>
            <a:ext cx="639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88127" name="Text Box 183">
            <a:extLst>
              <a:ext uri="{FF2B5EF4-FFF2-40B4-BE49-F238E27FC236}">
                <a16:creationId xmlns:a16="http://schemas.microsoft.com/office/drawing/2014/main" id="{C6EA4F02-4D25-A962-8623-0E32A16E5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688" y="14986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434D7B1-0DB5-AB18-B3F6-83977DFDDE0D}"/>
              </a:ext>
            </a:extLst>
          </p:cNvPr>
          <p:cNvSpPr/>
          <p:nvPr/>
        </p:nvSpPr>
        <p:spPr>
          <a:xfrm>
            <a:off x="1555750" y="16684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D51035-BEC9-6546-857D-BF812A1E7BE6}"/>
              </a:ext>
            </a:extLst>
          </p:cNvPr>
          <p:cNvSpPr/>
          <p:nvPr/>
        </p:nvSpPr>
        <p:spPr>
          <a:xfrm>
            <a:off x="2279650" y="16764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44152A-76FB-7638-F93E-2C93D6997174}"/>
              </a:ext>
            </a:extLst>
          </p:cNvPr>
          <p:cNvSpPr/>
          <p:nvPr/>
        </p:nvSpPr>
        <p:spPr>
          <a:xfrm>
            <a:off x="3014663" y="16684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98E10B-95CC-B841-8708-02DE2A732A95}"/>
              </a:ext>
            </a:extLst>
          </p:cNvPr>
          <p:cNvSpPr/>
          <p:nvPr/>
        </p:nvSpPr>
        <p:spPr>
          <a:xfrm>
            <a:off x="3765550" y="16764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81C09A-D655-487A-FA9D-D9D4936E1C30}"/>
              </a:ext>
            </a:extLst>
          </p:cNvPr>
          <p:cNvSpPr/>
          <p:nvPr/>
        </p:nvSpPr>
        <p:spPr>
          <a:xfrm>
            <a:off x="4502150" y="16684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55E2867-BD08-1609-E476-2428B582B904}"/>
              </a:ext>
            </a:extLst>
          </p:cNvPr>
          <p:cNvSpPr/>
          <p:nvPr/>
        </p:nvSpPr>
        <p:spPr>
          <a:xfrm>
            <a:off x="5224463" y="16764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5ED05AE-5C8D-1498-EB3E-8FBB24ACDD7B}"/>
              </a:ext>
            </a:extLst>
          </p:cNvPr>
          <p:cNvSpPr/>
          <p:nvPr/>
        </p:nvSpPr>
        <p:spPr>
          <a:xfrm>
            <a:off x="5961063" y="16684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4" name="Text Box 183">
            <a:extLst>
              <a:ext uri="{FF2B5EF4-FFF2-40B4-BE49-F238E27FC236}">
                <a16:creationId xmlns:a16="http://schemas.microsoft.com/office/drawing/2014/main" id="{BBF1531C-6787-C066-9A96-37B5FC287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325" y="2022475"/>
            <a:ext cx="1236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45" name="Text Box 183">
            <a:extLst>
              <a:ext uri="{FF2B5EF4-FFF2-40B4-BE49-F238E27FC236}">
                <a16:creationId xmlns:a16="http://schemas.microsoft.com/office/drawing/2014/main" id="{B707CE63-D10A-B915-922E-4A05413D3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388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46" name="Text Box 183">
            <a:extLst>
              <a:ext uri="{FF2B5EF4-FFF2-40B4-BE49-F238E27FC236}">
                <a16:creationId xmlns:a16="http://schemas.microsoft.com/office/drawing/2014/main" id="{56CF0068-74CA-998A-F7DE-F06430AC1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0" y="2022475"/>
            <a:ext cx="1238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47" name="Text Box 183">
            <a:extLst>
              <a:ext uri="{FF2B5EF4-FFF2-40B4-BE49-F238E27FC236}">
                <a16:creationId xmlns:a16="http://schemas.microsoft.com/office/drawing/2014/main" id="{217130A0-088D-E263-2544-0E7F2333C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763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48" name="Text Box 183">
            <a:extLst>
              <a:ext uri="{FF2B5EF4-FFF2-40B4-BE49-F238E27FC236}">
                <a16:creationId xmlns:a16="http://schemas.microsoft.com/office/drawing/2014/main" id="{1DD66B8A-B25A-E8DE-B723-8E60D5C6C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25" y="2022475"/>
            <a:ext cx="1236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49" name="Text Box 183">
            <a:extLst>
              <a:ext uri="{FF2B5EF4-FFF2-40B4-BE49-F238E27FC236}">
                <a16:creationId xmlns:a16="http://schemas.microsoft.com/office/drawing/2014/main" id="{7BD69EF8-92E6-7342-1BBC-E7F9AD8B2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188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50" name="Text Box 183">
            <a:extLst>
              <a:ext uri="{FF2B5EF4-FFF2-40B4-BE49-F238E27FC236}">
                <a16:creationId xmlns:a16="http://schemas.microsoft.com/office/drawing/2014/main" id="{63BA7006-2C81-7935-6222-DF19E3A99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4550" y="2022475"/>
            <a:ext cx="1238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4347EC5-7468-52C5-923B-A78301D87DFE}"/>
              </a:ext>
            </a:extLst>
          </p:cNvPr>
          <p:cNvCxnSpPr/>
          <p:nvPr/>
        </p:nvCxnSpPr>
        <p:spPr>
          <a:xfrm rot="10800000" flipV="1">
            <a:off x="1166813" y="1219200"/>
            <a:ext cx="4300537" cy="4572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39490DC-891A-9C94-DB7C-578A025B4F9C}"/>
              </a:ext>
            </a:extLst>
          </p:cNvPr>
          <p:cNvCxnSpPr>
            <a:endCxn id="41" idx="0"/>
          </p:cNvCxnSpPr>
          <p:nvPr/>
        </p:nvCxnSpPr>
        <p:spPr>
          <a:xfrm rot="16200000" flipH="1">
            <a:off x="3177382" y="-718344"/>
            <a:ext cx="423862" cy="4365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Group 3">
            <a:extLst>
              <a:ext uri="{FF2B5EF4-FFF2-40B4-BE49-F238E27FC236}">
                <a16:creationId xmlns:a16="http://schemas.microsoft.com/office/drawing/2014/main" id="{F92CC076-E39D-5A4C-206A-B894AFA38049}"/>
              </a:ext>
            </a:extLst>
          </p:cNvPr>
          <p:cNvGraphicFramePr>
            <a:graphicFrameLocks/>
          </p:cNvGraphicFramePr>
          <p:nvPr/>
        </p:nvGraphicFramePr>
        <p:xfrm>
          <a:off x="777875" y="243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164" name="Text Box 24">
            <a:extLst>
              <a:ext uri="{FF2B5EF4-FFF2-40B4-BE49-F238E27FC236}">
                <a16:creationId xmlns:a16="http://schemas.microsoft.com/office/drawing/2014/main" id="{36026E96-D150-7D39-5890-07DDBB281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" y="2430463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88165" name="Text Box 183">
            <a:extLst>
              <a:ext uri="{FF2B5EF4-FFF2-40B4-BE49-F238E27FC236}">
                <a16:creationId xmlns:a16="http://schemas.microsoft.com/office/drawing/2014/main" id="{5DF68776-C009-ECC8-4D5B-08ECC2865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22860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5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3259F86-C526-128A-8B03-42C124D2F081}"/>
              </a:ext>
            </a:extLst>
          </p:cNvPr>
          <p:cNvSpPr/>
          <p:nvPr/>
        </p:nvSpPr>
        <p:spPr>
          <a:xfrm>
            <a:off x="2309813" y="2463800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9897E07-841B-4D9B-C8CE-DD496651FAF2}"/>
              </a:ext>
            </a:extLst>
          </p:cNvPr>
          <p:cNvSpPr/>
          <p:nvPr/>
        </p:nvSpPr>
        <p:spPr>
          <a:xfrm>
            <a:off x="3044825" y="24558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F7CB110-D0F4-BB6E-A771-6702C0CB9544}"/>
              </a:ext>
            </a:extLst>
          </p:cNvPr>
          <p:cNvSpPr/>
          <p:nvPr/>
        </p:nvSpPr>
        <p:spPr>
          <a:xfrm>
            <a:off x="3795713" y="2463800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8804309-D2E9-F13E-9E0E-49DFFD453925}"/>
              </a:ext>
            </a:extLst>
          </p:cNvPr>
          <p:cNvSpPr/>
          <p:nvPr/>
        </p:nvSpPr>
        <p:spPr>
          <a:xfrm>
            <a:off x="4532313" y="24558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500DA5B-B0E5-2FEA-4518-F6B8037217CD}"/>
              </a:ext>
            </a:extLst>
          </p:cNvPr>
          <p:cNvSpPr/>
          <p:nvPr/>
        </p:nvSpPr>
        <p:spPr>
          <a:xfrm>
            <a:off x="5254625" y="24638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6FF3653-82AE-C7E5-DA11-FDE99F9C8318}"/>
              </a:ext>
            </a:extLst>
          </p:cNvPr>
          <p:cNvSpPr/>
          <p:nvPr/>
        </p:nvSpPr>
        <p:spPr>
          <a:xfrm>
            <a:off x="5991225" y="24558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7" name="Text Box 183">
            <a:extLst>
              <a:ext uri="{FF2B5EF4-FFF2-40B4-BE49-F238E27FC236}">
                <a16:creationId xmlns:a16="http://schemas.microsoft.com/office/drawing/2014/main" id="{B486146F-DEE5-0A93-340B-70AA04457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68" name="Text Box 183">
            <a:extLst>
              <a:ext uri="{FF2B5EF4-FFF2-40B4-BE49-F238E27FC236}">
                <a16:creationId xmlns:a16="http://schemas.microsoft.com/office/drawing/2014/main" id="{F555073B-96CC-38C6-71E3-A1BCDD1BE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13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69" name="Text Box 183">
            <a:extLst>
              <a:ext uri="{FF2B5EF4-FFF2-40B4-BE49-F238E27FC236}">
                <a16:creationId xmlns:a16="http://schemas.microsoft.com/office/drawing/2014/main" id="{3DBEBC62-61CB-B4C2-3FAF-2A8D5A040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70" name="Text Box 183">
            <a:extLst>
              <a:ext uri="{FF2B5EF4-FFF2-40B4-BE49-F238E27FC236}">
                <a16:creationId xmlns:a16="http://schemas.microsoft.com/office/drawing/2014/main" id="{7F019AE7-5A05-64B7-BA70-BAFF42858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88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sp>
        <p:nvSpPr>
          <p:cNvPr id="71" name="Text Box 183">
            <a:extLst>
              <a:ext uri="{FF2B5EF4-FFF2-40B4-BE49-F238E27FC236}">
                <a16:creationId xmlns:a16="http://schemas.microsoft.com/office/drawing/2014/main" id="{A18B4E9B-94C2-A19F-8720-ECED97807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350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sp>
        <p:nvSpPr>
          <p:cNvPr id="72" name="Text Box 183">
            <a:extLst>
              <a:ext uri="{FF2B5EF4-FFF2-40B4-BE49-F238E27FC236}">
                <a16:creationId xmlns:a16="http://schemas.microsoft.com/office/drawing/2014/main" id="{49E7CC28-EB54-9FFE-7110-DEE546D77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713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1990D32-7235-30DA-C3BB-5DAEFE077F20}"/>
              </a:ext>
            </a:extLst>
          </p:cNvPr>
          <p:cNvCxnSpPr>
            <a:stCxn id="46" idx="0"/>
          </p:cNvCxnSpPr>
          <p:nvPr/>
        </p:nvCxnSpPr>
        <p:spPr>
          <a:xfrm rot="16200000" flipH="1" flipV="1">
            <a:off x="2489994" y="1356519"/>
            <a:ext cx="415925" cy="174783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E9D7780-6A50-EA79-6A89-79A0924298AD}"/>
              </a:ext>
            </a:extLst>
          </p:cNvPr>
          <p:cNvCxnSpPr>
            <a:endCxn id="61" idx="0"/>
          </p:cNvCxnSpPr>
          <p:nvPr/>
        </p:nvCxnSpPr>
        <p:spPr>
          <a:xfrm>
            <a:off x="1863725" y="2014538"/>
            <a:ext cx="1528763" cy="4413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BC0043E-FAF4-2D01-9E9E-B6E072F09D5B}"/>
              </a:ext>
            </a:extLst>
          </p:cNvPr>
          <p:cNvCxnSpPr/>
          <p:nvPr/>
        </p:nvCxnSpPr>
        <p:spPr>
          <a:xfrm rot="10800000" flipV="1">
            <a:off x="2619375" y="2819400"/>
            <a:ext cx="2162175" cy="42227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3" name="Group 3">
            <a:extLst>
              <a:ext uri="{FF2B5EF4-FFF2-40B4-BE49-F238E27FC236}">
                <a16:creationId xmlns:a16="http://schemas.microsoft.com/office/drawing/2014/main" id="{E13FE7E6-B57E-6808-0E63-8BD7CD79BAE8}"/>
              </a:ext>
            </a:extLst>
          </p:cNvPr>
          <p:cNvGraphicFramePr>
            <a:graphicFrameLocks/>
          </p:cNvGraphicFramePr>
          <p:nvPr/>
        </p:nvGraphicFramePr>
        <p:xfrm>
          <a:off x="815975" y="326072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201" name="Text Box 24">
            <a:extLst>
              <a:ext uri="{FF2B5EF4-FFF2-40B4-BE49-F238E27FC236}">
                <a16:creationId xmlns:a16="http://schemas.microsoft.com/office/drawing/2014/main" id="{6D390702-53F9-2299-8B64-DF37D6AB3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3260725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88202" name="Text Box 183">
            <a:extLst>
              <a:ext uri="{FF2B5EF4-FFF2-40B4-BE49-F238E27FC236}">
                <a16:creationId xmlns:a16="http://schemas.microsoft.com/office/drawing/2014/main" id="{ED39EF68-FD18-5D46-8889-22A4CFF37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6075" y="3124200"/>
            <a:ext cx="985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min = 4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22BC27E-2FAD-AA52-9FC0-4F8CCC5367BB}"/>
              </a:ext>
            </a:extLst>
          </p:cNvPr>
          <p:cNvSpPr/>
          <p:nvPr/>
        </p:nvSpPr>
        <p:spPr>
          <a:xfrm>
            <a:off x="3068638" y="3286125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DBDCB2B-0639-F3F8-9AAE-09A83E45C43D}"/>
              </a:ext>
            </a:extLst>
          </p:cNvPr>
          <p:cNvSpPr/>
          <p:nvPr/>
        </p:nvSpPr>
        <p:spPr>
          <a:xfrm>
            <a:off x="3819525" y="32940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15B8AB3-2DCD-DD85-2EB9-CA1E8C111BA6}"/>
              </a:ext>
            </a:extLst>
          </p:cNvPr>
          <p:cNvSpPr/>
          <p:nvPr/>
        </p:nvSpPr>
        <p:spPr>
          <a:xfrm>
            <a:off x="4556125" y="328612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EB3C129-EA79-B97C-873A-1A7E6E000BA7}"/>
              </a:ext>
            </a:extLst>
          </p:cNvPr>
          <p:cNvSpPr/>
          <p:nvPr/>
        </p:nvSpPr>
        <p:spPr>
          <a:xfrm>
            <a:off x="5278438" y="32940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DAE8723-6829-1E41-7F14-C61C9B7E2583}"/>
              </a:ext>
            </a:extLst>
          </p:cNvPr>
          <p:cNvSpPr/>
          <p:nvPr/>
        </p:nvSpPr>
        <p:spPr>
          <a:xfrm>
            <a:off x="6015038" y="3286125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3" name="Text Box 183">
            <a:extLst>
              <a:ext uri="{FF2B5EF4-FFF2-40B4-BE49-F238E27FC236}">
                <a16:creationId xmlns:a16="http://schemas.microsoft.com/office/drawing/2014/main" id="{7C53D287-3978-104E-FAFE-0D69AF280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6725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94" name="Text Box 183">
            <a:extLst>
              <a:ext uri="{FF2B5EF4-FFF2-40B4-BE49-F238E27FC236}">
                <a16:creationId xmlns:a16="http://schemas.microsoft.com/office/drawing/2014/main" id="{7EA18396-A1B1-E8BA-D4BC-665881877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738" y="364648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5" name="Text Box 183">
            <a:extLst>
              <a:ext uri="{FF2B5EF4-FFF2-40B4-BE49-F238E27FC236}">
                <a16:creationId xmlns:a16="http://schemas.microsoft.com/office/drawing/2014/main" id="{5B05C5FF-1A27-AE9B-334A-B10E62B48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100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6" name="Text Box 183">
            <a:extLst>
              <a:ext uri="{FF2B5EF4-FFF2-40B4-BE49-F238E27FC236}">
                <a16:creationId xmlns:a16="http://schemas.microsoft.com/office/drawing/2014/main" id="{F0024819-91AA-A7D2-471B-6ED22D04E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7163" y="364648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7" name="Text Box 183">
            <a:extLst>
              <a:ext uri="{FF2B5EF4-FFF2-40B4-BE49-F238E27FC236}">
                <a16:creationId xmlns:a16="http://schemas.microsoft.com/office/drawing/2014/main" id="{87E3C079-86EE-C90E-6FB7-3AA9BF25F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525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6D110CF-B59E-EA86-7C61-07333657347E}"/>
              </a:ext>
            </a:extLst>
          </p:cNvPr>
          <p:cNvSpPr/>
          <p:nvPr/>
        </p:nvSpPr>
        <p:spPr>
          <a:xfrm>
            <a:off x="803275" y="912813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E407AA5-7E8B-0CB0-3A50-6F4E237AFA40}"/>
              </a:ext>
            </a:extLst>
          </p:cNvPr>
          <p:cNvSpPr/>
          <p:nvPr/>
        </p:nvSpPr>
        <p:spPr>
          <a:xfrm>
            <a:off x="1560513" y="1700213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D05B6C9-B9EA-E28A-07A0-10155347A344}"/>
              </a:ext>
            </a:extLst>
          </p:cNvPr>
          <p:cNvSpPr/>
          <p:nvPr/>
        </p:nvSpPr>
        <p:spPr>
          <a:xfrm>
            <a:off x="2306638" y="247650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3CF5F1-2676-6C75-7066-041BA48B4E5C}"/>
              </a:ext>
            </a:extLst>
          </p:cNvPr>
          <p:cNvSpPr/>
          <p:nvPr/>
        </p:nvSpPr>
        <p:spPr>
          <a:xfrm>
            <a:off x="3071813" y="32940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C1C22D6-D603-846E-2012-6673F50C9F13}"/>
              </a:ext>
            </a:extLst>
          </p:cNvPr>
          <p:cNvSpPr/>
          <p:nvPr/>
        </p:nvSpPr>
        <p:spPr>
          <a:xfrm>
            <a:off x="5230813" y="91281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9F61A8A-ABB4-A0BC-AE32-439B3C3B24C0}"/>
              </a:ext>
            </a:extLst>
          </p:cNvPr>
          <p:cNvSpPr/>
          <p:nvPr/>
        </p:nvSpPr>
        <p:spPr>
          <a:xfrm>
            <a:off x="3021013" y="167481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1F742B0-54F5-812D-8D50-6B09C537DADE}"/>
              </a:ext>
            </a:extLst>
          </p:cNvPr>
          <p:cNvSpPr/>
          <p:nvPr/>
        </p:nvSpPr>
        <p:spPr>
          <a:xfrm>
            <a:off x="4545013" y="24701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E9234D7-0916-3338-8A91-D94D5765FB0F}"/>
              </a:ext>
            </a:extLst>
          </p:cNvPr>
          <p:cNvSpPr/>
          <p:nvPr/>
        </p:nvSpPr>
        <p:spPr>
          <a:xfrm>
            <a:off x="3819525" y="3294063"/>
            <a:ext cx="693738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8517FBD-15B9-559A-B266-DA00715AC896}"/>
              </a:ext>
            </a:extLst>
          </p:cNvPr>
          <p:cNvCxnSpPr/>
          <p:nvPr/>
        </p:nvCxnSpPr>
        <p:spPr>
          <a:xfrm>
            <a:off x="2659063" y="2819400"/>
            <a:ext cx="2122487" cy="4572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Footer Placeholder 81">
            <a:extLst>
              <a:ext uri="{FF2B5EF4-FFF2-40B4-BE49-F238E27FC236}">
                <a16:creationId xmlns:a16="http://schemas.microsoft.com/office/drawing/2014/main" id="{61AC0F62-CDEB-FC58-541A-F2610845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88223" name="Slide Number Placeholder 83">
            <a:extLst>
              <a:ext uri="{FF2B5EF4-FFF2-40B4-BE49-F238E27FC236}">
                <a16:creationId xmlns:a16="http://schemas.microsoft.com/office/drawing/2014/main" id="{D410CCC2-7B9D-B2A8-1581-2B2B003B30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E77E47-127B-4B62-88A8-D8FB86828387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88224" name="Text Box 183">
            <a:extLst>
              <a:ext uri="{FF2B5EF4-FFF2-40B4-BE49-F238E27FC236}">
                <a16:creationId xmlns:a16="http://schemas.microsoft.com/office/drawing/2014/main" id="{0C6C8ACD-52C1-7DDE-474F-B4F338032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913" y="1001713"/>
            <a:ext cx="1306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6</a:t>
            </a:r>
          </a:p>
        </p:txBody>
      </p:sp>
      <p:sp>
        <p:nvSpPr>
          <p:cNvPr id="88225" name="Text Box 183">
            <a:extLst>
              <a:ext uri="{FF2B5EF4-FFF2-40B4-BE49-F238E27FC236}">
                <a16:creationId xmlns:a16="http://schemas.microsoft.com/office/drawing/2014/main" id="{29290B3E-A4C6-6DDE-E5C4-21CF9DDF9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1763713"/>
            <a:ext cx="1435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10</a:t>
            </a:r>
          </a:p>
        </p:txBody>
      </p:sp>
      <p:sp>
        <p:nvSpPr>
          <p:cNvPr id="88226" name="Text Box 183">
            <a:extLst>
              <a:ext uri="{FF2B5EF4-FFF2-40B4-BE49-F238E27FC236}">
                <a16:creationId xmlns:a16="http://schemas.microsoft.com/office/drawing/2014/main" id="{793D2CF1-393A-3B29-7E0D-B9385A0C4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2525713"/>
            <a:ext cx="1435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44</a:t>
            </a:r>
          </a:p>
        </p:txBody>
      </p:sp>
      <p:sp>
        <p:nvSpPr>
          <p:cNvPr id="88227" name="Text Box 183">
            <a:extLst>
              <a:ext uri="{FF2B5EF4-FFF2-40B4-BE49-F238E27FC236}">
                <a16:creationId xmlns:a16="http://schemas.microsoft.com/office/drawing/2014/main" id="{01183361-F677-C148-5F6A-43847C6E7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3371850"/>
            <a:ext cx="1435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A</a:t>
            </a:r>
            <a:r>
              <a:rPr lang="en-US" altLang="en-US" sz="1800" b="1">
                <a:solidFill>
                  <a:srgbClr val="0000CC"/>
                </a:solidFill>
              </a:rPr>
              <a:t>[min] = 45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xit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 nodeType="clickPar">
                      <p:stCondLst>
                        <p:cond delay="indefinite"/>
                      </p:stCondLst>
                      <p:childTnLst>
                        <p:par>
                          <p:cTn id="2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8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 nodeType="clickPar">
                      <p:stCondLst>
                        <p:cond delay="indefinite"/>
                      </p:stCondLst>
                      <p:childTnLst>
                        <p:par>
                          <p:cTn id="3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4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5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 nodeType="clickPar">
                      <p:stCondLst>
                        <p:cond delay="indefinite"/>
                      </p:stCondLst>
                      <p:childTnLst>
                        <p:par>
                          <p:cTn id="3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8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2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 nodeType="clickPar">
                      <p:stCondLst>
                        <p:cond delay="indefinite"/>
                      </p:stCondLst>
                      <p:childTnLst>
                        <p:par>
                          <p:cTn id="3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6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0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 nodeType="clickPar">
                      <p:stCondLst>
                        <p:cond delay="indefinite"/>
                      </p:stCondLst>
                      <p:childTnLst>
                        <p:par>
                          <p:cTn id="3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4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5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 nodeType="clickPar">
                      <p:stCondLst>
                        <p:cond delay="indefinite"/>
                      </p:stCondLst>
                      <p:childTnLst>
                        <p:par>
                          <p:cTn id="3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2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3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 nodeType="clickPar">
                      <p:stCondLst>
                        <p:cond delay="indefinite"/>
                      </p:stCondLst>
                      <p:childTnLst>
                        <p:par>
                          <p:cTn id="3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5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 nodeType="clickPar">
                      <p:stCondLst>
                        <p:cond delay="indefinite"/>
                      </p:stCondLst>
                      <p:childTnLst>
                        <p:par>
                          <p:cTn id="4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6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0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1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6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 nodeType="clickPar">
                      <p:stCondLst>
                        <p:cond delay="indefinite"/>
                      </p:stCondLst>
                      <p:childTnLst>
                        <p:par>
                          <p:cTn id="4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4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5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8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 nodeType="clickPar">
                      <p:stCondLst>
                        <p:cond delay="indefinite"/>
                      </p:stCondLst>
                      <p:childTnLst>
                        <p:par>
                          <p:cTn id="4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2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7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 nodeType="clickPar">
                      <p:stCondLst>
                        <p:cond delay="indefinite"/>
                      </p:stCondLst>
                      <p:childTnLst>
                        <p:par>
                          <p:cTn id="4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0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1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4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5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 nodeType="clickPar">
                      <p:stCondLst>
                        <p:cond delay="indefinite"/>
                      </p:stCondLst>
                      <p:childTnLst>
                        <p:par>
                          <p:cTn id="4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8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2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3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3" grpId="2" animBg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4" grpId="0"/>
      <p:bldP spid="44" grpId="1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0" grpId="0"/>
      <p:bldP spid="50" grpId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7" grpId="0"/>
      <p:bldP spid="67" grpId="1"/>
      <p:bldP spid="68" grpId="0"/>
      <p:bldP spid="68" grpId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7AD61AE2-A59D-0F91-A286-6445DADFBEE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875"/>
            <a:ext cx="7239000" cy="6699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6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Selection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Sort Example - continued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805374B4-2C3F-8AC1-A9E4-6D9C5C943D9E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1009650" y="685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3319" name="Rectangle 23">
            <a:extLst>
              <a:ext uri="{FF2B5EF4-FFF2-40B4-BE49-F238E27FC236}">
                <a16:creationId xmlns:a16="http://schemas.microsoft.com/office/drawing/2014/main" id="{13BD1406-717E-1F15-D751-A8E7FAE75948}"/>
              </a:ext>
            </a:extLst>
          </p:cNvPr>
          <p:cNvSpPr>
            <a:spLocks/>
          </p:cNvSpPr>
          <p:nvPr/>
        </p:nvSpPr>
        <p:spPr bwMode="auto">
          <a:xfrm>
            <a:off x="304800" y="4724400"/>
            <a:ext cx="7239000" cy="21336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1400" dirty="0">
                <a:latin typeface="Times New Roman" pitchFamily="18" charset="0"/>
                <a:cs typeface="Arial" charset="0"/>
              </a:rPr>
              <a:t> (</a:t>
            </a:r>
            <a:r>
              <a:rPr lang="en-US" sz="14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1400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dirty="0">
                <a:latin typeface="Times New Roman" pitchFamily="18" charset="0"/>
                <a:cs typeface="Arial" charset="0"/>
              </a:rPr>
              <a:t>=0,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14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1400" dirty="0">
                <a:latin typeface="Times New Roman" pitchFamily="18" charset="0"/>
                <a:cs typeface="Arial" charset="0"/>
              </a:rPr>
              <a:t>,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++){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14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;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14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1400" dirty="0">
                <a:latin typeface="Times New Roman" pitchFamily="18" charset="0"/>
                <a:cs typeface="Arial" charset="0"/>
              </a:rPr>
              <a:t> (</a:t>
            </a:r>
            <a:r>
              <a:rPr lang="en-US" sz="14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1400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14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1400" dirty="0">
                <a:latin typeface="Times New Roman" pitchFamily="18" charset="0"/>
                <a:cs typeface="Arial" charset="0"/>
              </a:rPr>
              <a:t>,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1400" dirty="0">
                <a:latin typeface="Times New Roman" pitchFamily="18" charset="0"/>
                <a:cs typeface="Arial" charset="0"/>
              </a:rPr>
              <a:t>){</a:t>
            </a:r>
          </a:p>
          <a:p>
            <a:pPr eaLnBrk="1" hangingPunct="1"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1400" dirty="0">
                <a:latin typeface="Times New Roman" pitchFamily="18" charset="0"/>
                <a:cs typeface="Arial" charset="0"/>
              </a:rPr>
              <a:t>[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14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1400" dirty="0">
                <a:latin typeface="Times New Roman" pitchFamily="18" charset="0"/>
                <a:cs typeface="Arial" charset="0"/>
              </a:rPr>
              <a:t>[min]){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 eaLnBrk="1" hangingPunct="1"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14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 eaLnBrk="1" hangingPunct="1">
              <a:defRPr/>
            </a:pP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14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14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,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dirty="0">
                <a:latin typeface="Times New Roman" pitchFamily="18" charset="0"/>
                <a:cs typeface="Arial" charset="0"/>
              </a:rPr>
              <a:t>min)    </a:t>
            </a:r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}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1400" dirty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  <a:defRPr/>
            </a:pPr>
            <a:endParaRPr lang="en-US" sz="1400" dirty="0">
              <a:latin typeface="Times New Roman" pitchFamily="18" charset="0"/>
              <a:cs typeface="Arial" charset="0"/>
            </a:endParaRPr>
          </a:p>
          <a:p>
            <a:pPr marL="273050" indent="-273050"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1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90136" name="Text Box 24">
            <a:extLst>
              <a:ext uri="{FF2B5EF4-FFF2-40B4-BE49-F238E27FC236}">
                <a16:creationId xmlns:a16="http://schemas.microsoft.com/office/drawing/2014/main" id="{451A2114-74B2-F78F-B9B9-0510FBDCA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575" y="6858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90137" name="Text Box 183">
            <a:extLst>
              <a:ext uri="{FF2B5EF4-FFF2-40B4-BE49-F238E27FC236}">
                <a16:creationId xmlns:a16="http://schemas.microsoft.com/office/drawing/2014/main" id="{73EFA743-FB27-8A89-9E86-F6F94ECA0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763" y="533400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0A9EB1-4E5B-6AB8-F8E6-B8581FA1D327}"/>
              </a:ext>
            </a:extLst>
          </p:cNvPr>
          <p:cNvSpPr/>
          <p:nvPr/>
        </p:nvSpPr>
        <p:spPr>
          <a:xfrm>
            <a:off x="1004888" y="719138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aphicFrame>
        <p:nvGraphicFramePr>
          <p:cNvPr id="32" name="Group 3">
            <a:extLst>
              <a:ext uri="{FF2B5EF4-FFF2-40B4-BE49-F238E27FC236}">
                <a16:creationId xmlns:a16="http://schemas.microsoft.com/office/drawing/2014/main" id="{73258CDA-4AD4-EB04-A6AB-71B812F6F29F}"/>
              </a:ext>
            </a:extLst>
          </p:cNvPr>
          <p:cNvGraphicFramePr>
            <a:graphicFrameLocks/>
          </p:cNvGraphicFramePr>
          <p:nvPr/>
        </p:nvGraphicFramePr>
        <p:xfrm>
          <a:off x="990600" y="1066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159" name="Text Box 24">
            <a:extLst>
              <a:ext uri="{FF2B5EF4-FFF2-40B4-BE49-F238E27FC236}">
                <a16:creationId xmlns:a16="http://schemas.microsoft.com/office/drawing/2014/main" id="{FA078F34-BE3B-3411-C5D9-7E6C6AB41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50" y="10668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90160" name="Text Box 183">
            <a:extLst>
              <a:ext uri="{FF2B5EF4-FFF2-40B4-BE49-F238E27FC236}">
                <a16:creationId xmlns:a16="http://schemas.microsoft.com/office/drawing/2014/main" id="{16DFE3AA-1940-4418-B555-4C1452FF8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2288" y="957263"/>
            <a:ext cx="9001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3</a:t>
            </a:r>
          </a:p>
        </p:txBody>
      </p:sp>
      <p:graphicFrame>
        <p:nvGraphicFramePr>
          <p:cNvPr id="56" name="Group 3">
            <a:extLst>
              <a:ext uri="{FF2B5EF4-FFF2-40B4-BE49-F238E27FC236}">
                <a16:creationId xmlns:a16="http://schemas.microsoft.com/office/drawing/2014/main" id="{6EDAB3C2-828B-E1DB-96BA-14D711AE9DCC}"/>
              </a:ext>
            </a:extLst>
          </p:cNvPr>
          <p:cNvGraphicFramePr>
            <a:graphicFrameLocks/>
          </p:cNvGraphicFramePr>
          <p:nvPr/>
        </p:nvGraphicFramePr>
        <p:xfrm>
          <a:off x="1006475" y="1447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181" name="Text Box 24">
            <a:extLst>
              <a:ext uri="{FF2B5EF4-FFF2-40B4-BE49-F238E27FC236}">
                <a16:creationId xmlns:a16="http://schemas.microsoft.com/office/drawing/2014/main" id="{5D3487B8-F597-8BCD-82AC-0BF0D954C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" y="1447800"/>
            <a:ext cx="641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90182" name="Text Box 183">
            <a:extLst>
              <a:ext uri="{FF2B5EF4-FFF2-40B4-BE49-F238E27FC236}">
                <a16:creationId xmlns:a16="http://schemas.microsoft.com/office/drawing/2014/main" id="{F3611A2E-E826-C358-865F-E56316317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863" y="1363663"/>
            <a:ext cx="9001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5</a:t>
            </a:r>
          </a:p>
        </p:txBody>
      </p:sp>
      <p:graphicFrame>
        <p:nvGraphicFramePr>
          <p:cNvPr id="83" name="Group 3">
            <a:extLst>
              <a:ext uri="{FF2B5EF4-FFF2-40B4-BE49-F238E27FC236}">
                <a16:creationId xmlns:a16="http://schemas.microsoft.com/office/drawing/2014/main" id="{E95CAABB-AD4F-8C37-5730-11953F8EF1A7}"/>
              </a:ext>
            </a:extLst>
          </p:cNvPr>
          <p:cNvGraphicFramePr>
            <a:graphicFrameLocks/>
          </p:cNvGraphicFramePr>
          <p:nvPr/>
        </p:nvGraphicFramePr>
        <p:xfrm>
          <a:off x="990600" y="19050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203" name="Text Box 24">
            <a:extLst>
              <a:ext uri="{FF2B5EF4-FFF2-40B4-BE49-F238E27FC236}">
                <a16:creationId xmlns:a16="http://schemas.microsoft.com/office/drawing/2014/main" id="{D69534F1-B66A-ECE4-B020-2CA6E62E8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1905000"/>
            <a:ext cx="641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90204" name="Text Box 183">
            <a:extLst>
              <a:ext uri="{FF2B5EF4-FFF2-40B4-BE49-F238E27FC236}">
                <a16:creationId xmlns:a16="http://schemas.microsoft.com/office/drawing/2014/main" id="{7871765A-073C-3D79-B767-D35AE5DF3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0700" y="1795463"/>
            <a:ext cx="9001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4</a:t>
            </a:r>
          </a:p>
        </p:txBody>
      </p:sp>
      <p:graphicFrame>
        <p:nvGraphicFramePr>
          <p:cNvPr id="82" name="Group 3">
            <a:extLst>
              <a:ext uri="{FF2B5EF4-FFF2-40B4-BE49-F238E27FC236}">
                <a16:creationId xmlns:a16="http://schemas.microsoft.com/office/drawing/2014/main" id="{8656A16E-CD6F-0249-28F7-A4158ECA6B5C}"/>
              </a:ext>
            </a:extLst>
          </p:cNvPr>
          <p:cNvGraphicFramePr>
            <a:graphicFrameLocks/>
          </p:cNvGraphicFramePr>
          <p:nvPr/>
        </p:nvGraphicFramePr>
        <p:xfrm>
          <a:off x="990600" y="243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225" name="Text Box 24">
            <a:extLst>
              <a:ext uri="{FF2B5EF4-FFF2-40B4-BE49-F238E27FC236}">
                <a16:creationId xmlns:a16="http://schemas.microsoft.com/office/drawing/2014/main" id="{3ED5B217-E4AD-BD08-1F5E-0B0C8443F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2430463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90226" name="Text Box 183">
            <a:extLst>
              <a:ext uri="{FF2B5EF4-FFF2-40B4-BE49-F238E27FC236}">
                <a16:creationId xmlns:a16="http://schemas.microsoft.com/office/drawing/2014/main" id="{5051C5BC-CD89-64F8-5A68-64A63D3F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0700" y="2328863"/>
            <a:ext cx="1012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55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200DF24-9E23-9067-0F90-13D004BE5868}"/>
              </a:ext>
            </a:extLst>
          </p:cNvPr>
          <p:cNvSpPr/>
          <p:nvPr/>
        </p:nvSpPr>
        <p:spPr>
          <a:xfrm>
            <a:off x="3994150" y="24638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12AC4A2-9B92-2A8B-CB92-A3F2D2C6CAEB}"/>
              </a:ext>
            </a:extLst>
          </p:cNvPr>
          <p:cNvSpPr/>
          <p:nvPr/>
        </p:nvSpPr>
        <p:spPr>
          <a:xfrm>
            <a:off x="4730750" y="24558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0B828DD-E078-83ED-11C1-7F37640FA948}"/>
              </a:ext>
            </a:extLst>
          </p:cNvPr>
          <p:cNvSpPr/>
          <p:nvPr/>
        </p:nvSpPr>
        <p:spPr>
          <a:xfrm>
            <a:off x="5453063" y="24638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14F497E-8772-AB9F-9DBB-451AECF48EDB}"/>
              </a:ext>
            </a:extLst>
          </p:cNvPr>
          <p:cNvSpPr/>
          <p:nvPr/>
        </p:nvSpPr>
        <p:spPr>
          <a:xfrm>
            <a:off x="6189663" y="24558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4" name="Text Box 183">
            <a:extLst>
              <a:ext uri="{FF2B5EF4-FFF2-40B4-BE49-F238E27FC236}">
                <a16:creationId xmlns:a16="http://schemas.microsoft.com/office/drawing/2014/main" id="{E1A07512-B0FF-B60F-FBDA-494D15E08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100" y="2819400"/>
            <a:ext cx="1181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105" name="Text Box 183">
            <a:extLst>
              <a:ext uri="{FF2B5EF4-FFF2-40B4-BE49-F238E27FC236}">
                <a16:creationId xmlns:a16="http://schemas.microsoft.com/office/drawing/2014/main" id="{8B8A42CB-5A2B-39E7-1201-90F849F29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7725" y="2819400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A[min]= 55</a:t>
            </a:r>
          </a:p>
        </p:txBody>
      </p:sp>
      <p:sp>
        <p:nvSpPr>
          <p:cNvPr id="106" name="Text Box 183">
            <a:extLst>
              <a:ext uri="{FF2B5EF4-FFF2-40B4-BE49-F238E27FC236}">
                <a16:creationId xmlns:a16="http://schemas.microsoft.com/office/drawing/2014/main" id="{F28BD17D-1615-5365-B650-19CF9BAE2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88" y="2828925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107" name="Text Box 183">
            <a:extLst>
              <a:ext uri="{FF2B5EF4-FFF2-40B4-BE49-F238E27FC236}">
                <a16:creationId xmlns:a16="http://schemas.microsoft.com/office/drawing/2014/main" id="{F7A355D6-7815-1204-CE43-F133F8B3D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150" y="2819400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AD476BD-5A75-F994-A738-C52965AA8BE6}"/>
              </a:ext>
            </a:extLst>
          </p:cNvPr>
          <p:cNvCxnSpPr/>
          <p:nvPr/>
        </p:nvCxnSpPr>
        <p:spPr>
          <a:xfrm>
            <a:off x="3443288" y="2286000"/>
            <a:ext cx="10556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9234CFC-0470-3213-C164-23D219A4AF43}"/>
              </a:ext>
            </a:extLst>
          </p:cNvPr>
          <p:cNvCxnSpPr/>
          <p:nvPr/>
        </p:nvCxnSpPr>
        <p:spPr>
          <a:xfrm rot="10800000" flipV="1">
            <a:off x="3508375" y="2286000"/>
            <a:ext cx="762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1" name="Group 3">
            <a:extLst>
              <a:ext uri="{FF2B5EF4-FFF2-40B4-BE49-F238E27FC236}">
                <a16:creationId xmlns:a16="http://schemas.microsoft.com/office/drawing/2014/main" id="{15C03003-1C5B-9904-552B-662EAA4E5F13}"/>
              </a:ext>
            </a:extLst>
          </p:cNvPr>
          <p:cNvGraphicFramePr>
            <a:graphicFrameLocks/>
          </p:cNvGraphicFramePr>
          <p:nvPr/>
        </p:nvGraphicFramePr>
        <p:xfrm>
          <a:off x="993775" y="315912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257" name="Text Box 24">
            <a:extLst>
              <a:ext uri="{FF2B5EF4-FFF2-40B4-BE49-F238E27FC236}">
                <a16:creationId xmlns:a16="http://schemas.microsoft.com/office/drawing/2014/main" id="{654A531A-9719-3E6B-810E-75A0AD998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159125"/>
            <a:ext cx="639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90258" name="Text Box 183">
            <a:extLst>
              <a:ext uri="{FF2B5EF4-FFF2-40B4-BE49-F238E27FC236}">
                <a16:creationId xmlns:a16="http://schemas.microsoft.com/office/drawing/2014/main" id="{85CD19E3-9C38-A3B6-3FD6-70896F5D0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057525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5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D02C514-CD1D-9A6C-5481-CD1C936899C4}"/>
              </a:ext>
            </a:extLst>
          </p:cNvPr>
          <p:cNvSpPr/>
          <p:nvPr/>
        </p:nvSpPr>
        <p:spPr>
          <a:xfrm>
            <a:off x="4733925" y="3184525"/>
            <a:ext cx="695325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47BBF14-1406-D77A-7D13-152D201DF225}"/>
              </a:ext>
            </a:extLst>
          </p:cNvPr>
          <p:cNvCxnSpPr/>
          <p:nvPr/>
        </p:nvCxnSpPr>
        <p:spPr>
          <a:xfrm>
            <a:off x="4422775" y="2822575"/>
            <a:ext cx="838200" cy="301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C00ED32-3CE3-DC4F-227B-6CB4A05996FA}"/>
              </a:ext>
            </a:extLst>
          </p:cNvPr>
          <p:cNvCxnSpPr/>
          <p:nvPr/>
        </p:nvCxnSpPr>
        <p:spPr>
          <a:xfrm rot="10800000" flipV="1">
            <a:off x="4346575" y="2822575"/>
            <a:ext cx="914400" cy="301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2" name="Group 3">
            <a:extLst>
              <a:ext uri="{FF2B5EF4-FFF2-40B4-BE49-F238E27FC236}">
                <a16:creationId xmlns:a16="http://schemas.microsoft.com/office/drawing/2014/main" id="{C4B04651-8B69-094C-985B-FCAA582E303C}"/>
              </a:ext>
            </a:extLst>
          </p:cNvPr>
          <p:cNvGraphicFramePr>
            <a:graphicFrameLocks/>
          </p:cNvGraphicFramePr>
          <p:nvPr/>
        </p:nvGraphicFramePr>
        <p:xfrm>
          <a:off x="993775" y="370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282" name="Text Box 24">
            <a:extLst>
              <a:ext uri="{FF2B5EF4-FFF2-40B4-BE49-F238E27FC236}">
                <a16:creationId xmlns:a16="http://schemas.microsoft.com/office/drawing/2014/main" id="{7C0CEC31-DF8B-F669-DAF0-C8B266E05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700463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90283" name="Text Box 183">
            <a:extLst>
              <a:ext uri="{FF2B5EF4-FFF2-40B4-BE49-F238E27FC236}">
                <a16:creationId xmlns:a16="http://schemas.microsoft.com/office/drawing/2014/main" id="{96D9A88A-A700-1714-5E17-91561E9CF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590925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31AD113-DC96-8071-3A7E-1DE08ACEEDB7}"/>
              </a:ext>
            </a:extLst>
          </p:cNvPr>
          <p:cNvSpPr/>
          <p:nvPr/>
        </p:nvSpPr>
        <p:spPr>
          <a:xfrm>
            <a:off x="5519738" y="372586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8FCFAA03-4A6E-84ED-4588-B3234184F853}"/>
              </a:ext>
            </a:extLst>
          </p:cNvPr>
          <p:cNvCxnSpPr/>
          <p:nvPr/>
        </p:nvCxnSpPr>
        <p:spPr>
          <a:xfrm>
            <a:off x="4929188" y="3541713"/>
            <a:ext cx="3698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BB33F14-2B89-B37E-68AF-E1C488F38FC4}"/>
              </a:ext>
            </a:extLst>
          </p:cNvPr>
          <p:cNvCxnSpPr/>
          <p:nvPr/>
        </p:nvCxnSpPr>
        <p:spPr>
          <a:xfrm rot="10800000" flipV="1">
            <a:off x="4994275" y="3541713"/>
            <a:ext cx="381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8" name="Group 3">
            <a:extLst>
              <a:ext uri="{FF2B5EF4-FFF2-40B4-BE49-F238E27FC236}">
                <a16:creationId xmlns:a16="http://schemas.microsoft.com/office/drawing/2014/main" id="{56903D85-5635-CA30-E9FF-B51D4D6F29C9}"/>
              </a:ext>
            </a:extLst>
          </p:cNvPr>
          <p:cNvGraphicFramePr>
            <a:graphicFrameLocks/>
          </p:cNvGraphicFramePr>
          <p:nvPr/>
        </p:nvGraphicFramePr>
        <p:xfrm>
          <a:off x="993775" y="42338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0307" name="Text Box 24">
            <a:extLst>
              <a:ext uri="{FF2B5EF4-FFF2-40B4-BE49-F238E27FC236}">
                <a16:creationId xmlns:a16="http://schemas.microsoft.com/office/drawing/2014/main" id="{B5642AE6-B68E-6FA9-6F44-96164E465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233863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0000CC"/>
                </a:solidFill>
              </a:rPr>
              <a:t> = 7</a:t>
            </a:r>
          </a:p>
        </p:txBody>
      </p:sp>
      <p:sp>
        <p:nvSpPr>
          <p:cNvPr id="90308" name="Text Box 183">
            <a:extLst>
              <a:ext uri="{FF2B5EF4-FFF2-40B4-BE49-F238E27FC236}">
                <a16:creationId xmlns:a16="http://schemas.microsoft.com/office/drawing/2014/main" id="{FFB99BF5-523C-7AA3-E9CC-54B9C09ED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7850" y="4124325"/>
            <a:ext cx="9001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BF1C3FE-2B00-84BF-47D7-3722936A3A71}"/>
              </a:ext>
            </a:extLst>
          </p:cNvPr>
          <p:cNvSpPr/>
          <p:nvPr/>
        </p:nvSpPr>
        <p:spPr>
          <a:xfrm>
            <a:off x="6229350" y="4259263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CACF9585-7F4D-CD41-2E3F-A3498A73FF4C}"/>
              </a:ext>
            </a:extLst>
          </p:cNvPr>
          <p:cNvCxnSpPr/>
          <p:nvPr/>
        </p:nvCxnSpPr>
        <p:spPr>
          <a:xfrm>
            <a:off x="5691188" y="4075113"/>
            <a:ext cx="3698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E81BF147-0A67-871F-2DC3-7A9721FEE3FB}"/>
              </a:ext>
            </a:extLst>
          </p:cNvPr>
          <p:cNvCxnSpPr/>
          <p:nvPr/>
        </p:nvCxnSpPr>
        <p:spPr>
          <a:xfrm rot="10800000" flipV="1">
            <a:off x="5756275" y="4075113"/>
            <a:ext cx="381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9CDDC08-FC63-8D54-7727-9C2A10AE2E63}"/>
              </a:ext>
            </a:extLst>
          </p:cNvPr>
          <p:cNvSpPr/>
          <p:nvPr/>
        </p:nvSpPr>
        <p:spPr>
          <a:xfrm>
            <a:off x="1766888" y="1090613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40D97BA-9193-96E3-C902-1258804DA8C8}"/>
              </a:ext>
            </a:extLst>
          </p:cNvPr>
          <p:cNvSpPr/>
          <p:nvPr/>
        </p:nvSpPr>
        <p:spPr>
          <a:xfrm>
            <a:off x="2538413" y="14795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C725C59-1659-F454-2231-DB83D9E6E25C}"/>
              </a:ext>
            </a:extLst>
          </p:cNvPr>
          <p:cNvSpPr/>
          <p:nvPr/>
        </p:nvSpPr>
        <p:spPr>
          <a:xfrm>
            <a:off x="3209925" y="1943100"/>
            <a:ext cx="693738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2D9D84D6-6EAA-0574-0D3E-A7E15DC07458}"/>
              </a:ext>
            </a:extLst>
          </p:cNvPr>
          <p:cNvSpPr/>
          <p:nvPr/>
        </p:nvSpPr>
        <p:spPr>
          <a:xfrm>
            <a:off x="3990975" y="2490788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B8F99CC4-2BA4-37E6-97A3-FE1F612799B4}"/>
              </a:ext>
            </a:extLst>
          </p:cNvPr>
          <p:cNvSpPr/>
          <p:nvPr/>
        </p:nvSpPr>
        <p:spPr>
          <a:xfrm>
            <a:off x="5481638" y="733425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8E29A1E-C8FA-BC5D-B4B8-4E0D0AFCD951}"/>
              </a:ext>
            </a:extLst>
          </p:cNvPr>
          <p:cNvSpPr/>
          <p:nvPr/>
        </p:nvSpPr>
        <p:spPr>
          <a:xfrm>
            <a:off x="3249613" y="10985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83B38ECE-8037-AE55-B325-F301DD52114D}"/>
              </a:ext>
            </a:extLst>
          </p:cNvPr>
          <p:cNvSpPr/>
          <p:nvPr/>
        </p:nvSpPr>
        <p:spPr>
          <a:xfrm>
            <a:off x="4745038" y="14652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E7E68E5-C552-BD0C-503F-56928DAB99FC}"/>
              </a:ext>
            </a:extLst>
          </p:cNvPr>
          <p:cNvSpPr/>
          <p:nvPr/>
        </p:nvSpPr>
        <p:spPr>
          <a:xfrm>
            <a:off x="3917950" y="1947863"/>
            <a:ext cx="693738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0C329F6D-CC2B-0B58-EC65-928D8316977F}"/>
              </a:ext>
            </a:extLst>
          </p:cNvPr>
          <p:cNvSpPr/>
          <p:nvPr/>
        </p:nvSpPr>
        <p:spPr>
          <a:xfrm>
            <a:off x="4745038" y="24558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7" name="Footer Placeholder 56">
            <a:extLst>
              <a:ext uri="{FF2B5EF4-FFF2-40B4-BE49-F238E27FC236}">
                <a16:creationId xmlns:a16="http://schemas.microsoft.com/office/drawing/2014/main" id="{59A363C1-7F32-CDC3-2D35-98EED98D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0322" name="Slide Number Placeholder 57">
            <a:extLst>
              <a:ext uri="{FF2B5EF4-FFF2-40B4-BE49-F238E27FC236}">
                <a16:creationId xmlns:a16="http://schemas.microsoft.com/office/drawing/2014/main" id="{B243CFD6-36CB-8EAA-1BC6-A7C64177F6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A39DF6-48D1-4402-BEC5-0613F53939A9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90323" name="Text Box 183">
            <a:extLst>
              <a:ext uri="{FF2B5EF4-FFF2-40B4-BE49-F238E27FC236}">
                <a16:creationId xmlns:a16="http://schemas.microsoft.com/office/drawing/2014/main" id="{E251E3BE-12BB-2B8E-DCA6-BDDD6C833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50" y="728663"/>
            <a:ext cx="11842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</a:t>
            </a:r>
          </a:p>
        </p:txBody>
      </p:sp>
      <p:sp>
        <p:nvSpPr>
          <p:cNvPr id="90324" name="Text Box 183">
            <a:extLst>
              <a:ext uri="{FF2B5EF4-FFF2-40B4-BE49-F238E27FC236}">
                <a16:creationId xmlns:a16="http://schemas.microsoft.com/office/drawing/2014/main" id="{990815CC-BD14-0162-808F-2EBF0A41A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50" y="11858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10</a:t>
            </a:r>
          </a:p>
        </p:txBody>
      </p:sp>
      <p:sp>
        <p:nvSpPr>
          <p:cNvPr id="90325" name="Text Box 183">
            <a:extLst>
              <a:ext uri="{FF2B5EF4-FFF2-40B4-BE49-F238E27FC236}">
                <a16:creationId xmlns:a16="http://schemas.microsoft.com/office/drawing/2014/main" id="{1C490070-08AD-4AB6-ADD1-C72C1E162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350" y="1566863"/>
            <a:ext cx="13001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44</a:t>
            </a:r>
          </a:p>
        </p:txBody>
      </p:sp>
      <p:sp>
        <p:nvSpPr>
          <p:cNvPr id="90326" name="Text Box 183">
            <a:extLst>
              <a:ext uri="{FF2B5EF4-FFF2-40B4-BE49-F238E27FC236}">
                <a16:creationId xmlns:a16="http://schemas.microsoft.com/office/drawing/2014/main" id="{79FC033C-5A98-AC3D-09EF-B6BD300FF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981200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45</a:t>
            </a:r>
          </a:p>
        </p:txBody>
      </p:sp>
      <p:sp>
        <p:nvSpPr>
          <p:cNvPr id="90327" name="Text Box 183">
            <a:extLst>
              <a:ext uri="{FF2B5EF4-FFF2-40B4-BE49-F238E27FC236}">
                <a16:creationId xmlns:a16="http://schemas.microsoft.com/office/drawing/2014/main" id="{54626B47-882A-39EB-F5EB-9189CFD68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1175" y="25574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45</a:t>
            </a:r>
          </a:p>
        </p:txBody>
      </p:sp>
      <p:sp>
        <p:nvSpPr>
          <p:cNvPr id="90328" name="Text Box 183">
            <a:extLst>
              <a:ext uri="{FF2B5EF4-FFF2-40B4-BE49-F238E27FC236}">
                <a16:creationId xmlns:a16="http://schemas.microsoft.com/office/drawing/2014/main" id="{381E84FC-C8FB-159C-DE4D-74EE4C268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3286125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58</a:t>
            </a:r>
          </a:p>
        </p:txBody>
      </p:sp>
      <p:sp>
        <p:nvSpPr>
          <p:cNvPr id="90329" name="Text Box 183">
            <a:extLst>
              <a:ext uri="{FF2B5EF4-FFF2-40B4-BE49-F238E27FC236}">
                <a16:creationId xmlns:a16="http://schemas.microsoft.com/office/drawing/2014/main" id="{B25D34F6-2DD7-1837-B9D6-134818341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3819525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62</a:t>
            </a:r>
          </a:p>
        </p:txBody>
      </p:sp>
      <p:sp>
        <p:nvSpPr>
          <p:cNvPr id="90330" name="Text Box 183">
            <a:extLst>
              <a:ext uri="{FF2B5EF4-FFF2-40B4-BE49-F238E27FC236}">
                <a16:creationId xmlns:a16="http://schemas.microsoft.com/office/drawing/2014/main" id="{63F6B760-DCDC-4E7F-711D-6DD105918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913" y="43862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4" grpId="0"/>
      <p:bldP spid="104" grpId="1"/>
      <p:bldP spid="105" grpId="0"/>
      <p:bldP spid="105" grpId="1"/>
      <p:bldP spid="106" grpId="0"/>
      <p:bldP spid="106" grpId="1"/>
      <p:bldP spid="107" grpId="0"/>
      <p:bldP spid="107" grpId="1"/>
      <p:bldP spid="115" grpId="0" animBg="1"/>
      <p:bldP spid="135" grpId="0" animBg="1"/>
      <p:bldP spid="14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D2FD0DC1-1A96-9DB4-AA2C-BC76FCCD468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Selection Sort vs Insertion Sort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AD2C9D13-58B3-14CF-EC83-8B85B95699F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914400"/>
            <a:ext cx="7315200" cy="5334000"/>
          </a:xfrm>
        </p:spPr>
        <p:txBody>
          <a:bodyPr/>
          <a:lstStyle/>
          <a:p>
            <a:r>
              <a:rPr lang="en-US" altLang="en-US" sz="2800"/>
              <a:t>Selection sort's advantage is that </a:t>
            </a:r>
          </a:p>
          <a:p>
            <a:pPr lvl="1"/>
            <a:r>
              <a:rPr lang="en-US" altLang="en-US" sz="2400"/>
              <a:t>While </a:t>
            </a:r>
            <a:r>
              <a:rPr lang="en-US" altLang="en-US" sz="2400">
                <a:solidFill>
                  <a:srgbClr val="0000CC"/>
                </a:solidFill>
              </a:rPr>
              <a:t>insertion sort</a:t>
            </a:r>
            <a:r>
              <a:rPr lang="en-US" altLang="en-US" sz="2400"/>
              <a:t> typically makes fewer comparisons than </a:t>
            </a:r>
            <a:r>
              <a:rPr lang="en-US" altLang="en-US" sz="2400">
                <a:solidFill>
                  <a:srgbClr val="0000CC"/>
                </a:solidFill>
              </a:rPr>
              <a:t>selection sort</a:t>
            </a:r>
            <a:r>
              <a:rPr lang="en-US" altLang="en-US" sz="2400"/>
              <a:t>, </a:t>
            </a:r>
          </a:p>
          <a:p>
            <a:pPr lvl="1"/>
            <a:r>
              <a:rPr lang="en-US" altLang="en-US" sz="2400">
                <a:solidFill>
                  <a:srgbClr val="0000CC"/>
                </a:solidFill>
              </a:rPr>
              <a:t>Insertion sort </a:t>
            </a:r>
            <a:r>
              <a:rPr lang="en-US" altLang="en-US" sz="2400"/>
              <a:t>requires more writes than the </a:t>
            </a:r>
            <a:r>
              <a:rPr lang="en-US" altLang="en-US" sz="2400">
                <a:solidFill>
                  <a:srgbClr val="0000CC"/>
                </a:solidFill>
              </a:rPr>
              <a:t>selection sort</a:t>
            </a:r>
            <a:r>
              <a:rPr lang="en-US" altLang="en-US" sz="2400"/>
              <a:t> because the inner loop of the </a:t>
            </a:r>
            <a:r>
              <a:rPr lang="en-US" altLang="en-US" sz="2400">
                <a:solidFill>
                  <a:srgbClr val="0000CC"/>
                </a:solidFill>
              </a:rPr>
              <a:t>insertion sort </a:t>
            </a:r>
            <a:r>
              <a:rPr lang="en-US" altLang="en-US" sz="2400"/>
              <a:t>can require shifting large sections of the sorted portion of the array. </a:t>
            </a:r>
          </a:p>
          <a:p>
            <a:pPr lvl="2"/>
            <a:r>
              <a:rPr lang="en-US" altLang="en-US" sz="1800"/>
              <a:t>In general, insertion sort will write to the array O(</a:t>
            </a:r>
            <a:r>
              <a:rPr lang="en-US" altLang="en-US" sz="1800" i="1"/>
              <a:t>n</a:t>
            </a:r>
            <a:r>
              <a:rPr lang="en-US" altLang="en-US" sz="1800" baseline="30000"/>
              <a:t>2</a:t>
            </a:r>
            <a:r>
              <a:rPr lang="en-US" altLang="en-US" sz="1800"/>
              <a:t>) times</a:t>
            </a:r>
          </a:p>
          <a:p>
            <a:pPr lvl="2"/>
            <a:r>
              <a:rPr lang="en-US" altLang="en-US" sz="1800"/>
              <a:t>Whereas selection sort will write/swap only O(</a:t>
            </a:r>
            <a:r>
              <a:rPr lang="en-US" altLang="en-US" sz="1800" i="1"/>
              <a:t>n</a:t>
            </a:r>
            <a:r>
              <a:rPr lang="en-US" altLang="en-US" sz="1800"/>
              <a:t>) times</a:t>
            </a:r>
          </a:p>
          <a:p>
            <a:pPr lvl="1"/>
            <a:r>
              <a:rPr lang="en-US" altLang="en-US" sz="2400"/>
              <a:t>For this reason </a:t>
            </a:r>
            <a:r>
              <a:rPr lang="en-US" altLang="en-US" sz="2400">
                <a:solidFill>
                  <a:srgbClr val="0000CC"/>
                </a:solidFill>
              </a:rPr>
              <a:t>selection sort </a:t>
            </a:r>
            <a:r>
              <a:rPr lang="en-US" altLang="en-US" sz="2400"/>
              <a:t>may be preferable in cases where writing to memory is significantly more expensive than reading, </a:t>
            </a:r>
          </a:p>
          <a:p>
            <a:pPr lvl="2"/>
            <a:r>
              <a:rPr lang="en-US" altLang="en-US" sz="2400"/>
              <a:t>such as with EPROM or flash memory</a:t>
            </a:r>
            <a:endParaRPr lang="en-US" altLang="en-US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0B845B-4E07-F257-CF0F-EE2C92C67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2165" name="Slide Number Placeholder 4">
            <a:extLst>
              <a:ext uri="{FF2B5EF4-FFF2-40B4-BE49-F238E27FC236}">
                <a16:creationId xmlns:a16="http://schemas.microsoft.com/office/drawing/2014/main" id="{4AFAB04C-CD3D-3621-8B97-884B81A6F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BF2216-ADDC-4A5B-B0DD-D27CCD4E830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A7BB8A8-80C1-EE84-FEE4-B0C8BC63C7B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228600"/>
            <a:ext cx="7239000" cy="7620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Comparisons of different sorting algorithms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5F5AE3-8EDD-3074-6AA8-29AE426FFB66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397000"/>
          <a:ext cx="7239000" cy="38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3075">
                <a:tc>
                  <a:txBody>
                    <a:bodyPr/>
                    <a:lstStyle/>
                    <a:p>
                      <a:r>
                        <a:rPr lang="en-US" dirty="0"/>
                        <a:t>Bubble</a:t>
                      </a:r>
                      <a:r>
                        <a:rPr lang="en-US" baseline="0" dirty="0"/>
                        <a:t> Sort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Insertion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Selection 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075"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comparisons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comparisons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comparisons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075"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swaps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writes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n) swaps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1575">
                <a:tc>
                  <a:txBody>
                    <a:bodyPr/>
                    <a:lstStyle/>
                    <a:p>
                      <a:r>
                        <a:rPr lang="en-US" dirty="0"/>
                        <a:t>Adaptive: O(n) running time when nearly sorted (Best case running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Adaptive: O(n) running time when nearly sorted (Best case running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adaptive </a:t>
                      </a:r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 running time when nearly sorted (Best case running time)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F9CA-65F0-C411-4455-B1E25CB8F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4234" name="Slide Number Placeholder 5">
            <a:extLst>
              <a:ext uri="{FF2B5EF4-FFF2-40B4-BE49-F238E27FC236}">
                <a16:creationId xmlns:a16="http://schemas.microsoft.com/office/drawing/2014/main" id="{9743024E-E701-B21E-5562-9C37D21B79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4880A7-A7D1-41C3-AD23-69B57A5085F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E2D6C4DF-B30D-B876-18E9-6001BE4B71F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D77E9E4-C4C0-1696-2AC6-DEFC2E27D78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143000"/>
            <a:ext cx="7239000" cy="4846638"/>
          </a:xfrm>
        </p:spPr>
        <p:txBody>
          <a:bodyPr/>
          <a:lstStyle/>
          <a:p>
            <a:r>
              <a:rPr lang="en-US" altLang="en-US" sz="2200"/>
              <a:t>The fundamental operation in this algorithm is merging two sorted lists.</a:t>
            </a:r>
          </a:p>
          <a:p>
            <a:r>
              <a:rPr lang="en-US" altLang="en-US" sz="2200"/>
              <a:t>Because the lists are sorted, this can be done in one pass through the input, if the output is put in a third list. </a:t>
            </a:r>
          </a:p>
          <a:p>
            <a:r>
              <a:rPr lang="en-US" altLang="en-US" sz="2200"/>
              <a:t>The basic merging algorithm takes </a:t>
            </a:r>
          </a:p>
          <a:p>
            <a:pPr lvl="1"/>
            <a:r>
              <a:rPr lang="en-US" altLang="en-US" sz="1900"/>
              <a:t>two input arrays: </a:t>
            </a:r>
            <a:r>
              <a:rPr lang="en-US" altLang="en-US" sz="1900" i="1">
                <a:solidFill>
                  <a:srgbClr val="0000CC"/>
                </a:solidFill>
              </a:rPr>
              <a:t>a</a:t>
            </a:r>
            <a:r>
              <a:rPr lang="en-US" altLang="en-US" sz="1900"/>
              <a:t> and </a:t>
            </a:r>
            <a:r>
              <a:rPr lang="en-US" altLang="en-US" sz="1900" i="1">
                <a:solidFill>
                  <a:srgbClr val="0000CC"/>
                </a:solidFill>
              </a:rPr>
              <a:t>b</a:t>
            </a:r>
            <a:r>
              <a:rPr lang="en-US" altLang="en-US" sz="1900"/>
              <a:t>,</a:t>
            </a:r>
          </a:p>
          <a:p>
            <a:pPr lvl="1"/>
            <a:r>
              <a:rPr lang="en-US" altLang="en-US" sz="1900"/>
              <a:t>an output array: </a:t>
            </a:r>
            <a:r>
              <a:rPr lang="en-US" altLang="en-US" sz="1900" i="1">
                <a:solidFill>
                  <a:srgbClr val="0000CC"/>
                </a:solidFill>
              </a:rPr>
              <a:t>c</a:t>
            </a:r>
            <a:r>
              <a:rPr lang="en-US" altLang="en-US" sz="1900"/>
              <a:t> </a:t>
            </a:r>
          </a:p>
          <a:p>
            <a:pPr lvl="1"/>
            <a:r>
              <a:rPr lang="en-US" altLang="en-US" sz="1900"/>
              <a:t>three counters:  </a:t>
            </a:r>
            <a:r>
              <a:rPr lang="en-US" altLang="en-US" sz="1900" i="1">
                <a:solidFill>
                  <a:srgbClr val="0000CC"/>
                </a:solidFill>
              </a:rPr>
              <a:t>aptr</a:t>
            </a:r>
            <a:r>
              <a:rPr lang="en-US" altLang="en-US" sz="1900"/>
              <a:t>, </a:t>
            </a:r>
            <a:r>
              <a:rPr lang="en-US" altLang="en-US" sz="1900" i="1">
                <a:solidFill>
                  <a:srgbClr val="0000CC"/>
                </a:solidFill>
              </a:rPr>
              <a:t>bptr</a:t>
            </a:r>
            <a:r>
              <a:rPr lang="en-US" altLang="en-US" sz="1900"/>
              <a:t>, and </a:t>
            </a:r>
            <a:r>
              <a:rPr lang="en-US" altLang="en-US" sz="1900" i="1">
                <a:solidFill>
                  <a:srgbClr val="0000CC"/>
                </a:solidFill>
              </a:rPr>
              <a:t>cptr</a:t>
            </a:r>
            <a:r>
              <a:rPr lang="en-US" altLang="en-US" sz="1900"/>
              <a:t>, </a:t>
            </a:r>
          </a:p>
          <a:p>
            <a:pPr lvl="2"/>
            <a:r>
              <a:rPr lang="en-US" altLang="en-US" sz="1600"/>
              <a:t>which are initially set to the beginning of their respective arrays.</a:t>
            </a:r>
          </a:p>
          <a:p>
            <a:r>
              <a:rPr lang="en-US" altLang="en-US" sz="2200"/>
              <a:t>The smaller of </a:t>
            </a: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aptr</a:t>
            </a:r>
            <a:r>
              <a:rPr lang="en-US" altLang="en-US" sz="2200">
                <a:solidFill>
                  <a:srgbClr val="0000CC"/>
                </a:solidFill>
              </a:rPr>
              <a:t>] </a:t>
            </a:r>
            <a:r>
              <a:rPr lang="en-US" altLang="en-US" sz="2200"/>
              <a:t>and </a:t>
            </a:r>
            <a:r>
              <a:rPr lang="en-US" altLang="en-US" sz="2200" i="1">
                <a:solidFill>
                  <a:srgbClr val="0000CC"/>
                </a:solidFill>
              </a:rPr>
              <a:t>b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bptr</a:t>
            </a:r>
            <a:r>
              <a:rPr lang="en-US" altLang="en-US" sz="2200">
                <a:solidFill>
                  <a:srgbClr val="0000CC"/>
                </a:solidFill>
              </a:rPr>
              <a:t>] </a:t>
            </a:r>
            <a:r>
              <a:rPr lang="en-US" altLang="en-US" sz="2200"/>
              <a:t>is copied to the next entry in </a:t>
            </a:r>
            <a:r>
              <a:rPr lang="en-US" altLang="en-US" sz="2200" i="1">
                <a:solidFill>
                  <a:srgbClr val="0000CC"/>
                </a:solidFill>
              </a:rPr>
              <a:t>c</a:t>
            </a:r>
            <a:r>
              <a:rPr lang="en-US" altLang="en-US" sz="2200"/>
              <a:t>, and the appropriate counters are advanced. </a:t>
            </a:r>
          </a:p>
          <a:p>
            <a:r>
              <a:rPr lang="en-US" altLang="en-US" sz="2200"/>
              <a:t>When either input list is exhausted, the remainder of the other list is copied to </a:t>
            </a:r>
            <a:r>
              <a:rPr lang="en-US" altLang="en-US" sz="2200" i="1">
                <a:solidFill>
                  <a:srgbClr val="0000CC"/>
                </a:solidFill>
              </a:rPr>
              <a:t>c</a:t>
            </a:r>
            <a:r>
              <a:rPr lang="en-US" altLang="en-US" sz="2200"/>
              <a:t>.</a:t>
            </a:r>
            <a:endParaRPr lang="en-US" altLang="en-US" sz="22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C2B1F-2834-F458-49E0-67534E671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6261" name="Slide Number Placeholder 4">
            <a:extLst>
              <a:ext uri="{FF2B5EF4-FFF2-40B4-BE49-F238E27FC236}">
                <a16:creationId xmlns:a16="http://schemas.microsoft.com/office/drawing/2014/main" id="{2CCD689C-5A38-9BC5-CD5E-1076F263DC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B5AA3A-BDA5-4BD2-9576-3CC8682CEE68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98B268AD-A033-AA8D-5C28-E88997EE100E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7F76C84E-5633-49BF-7494-29674352763F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CE867C6E-8E63-3CF5-62E5-ED21A03C9DE9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9C3672DE-AAB1-5B27-304F-C5AC6270862E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8351" name="TextBox 7">
            <a:extLst>
              <a:ext uri="{FF2B5EF4-FFF2-40B4-BE49-F238E27FC236}">
                <a16:creationId xmlns:a16="http://schemas.microsoft.com/office/drawing/2014/main" id="{5F5F586E-1A48-B17C-0686-FC3392CA0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E1B2AA-9F5A-F44D-D974-D5B74B1D13E5}"/>
              </a:ext>
            </a:extLst>
          </p:cNvPr>
          <p:cNvCxnSpPr/>
          <p:nvPr/>
        </p:nvCxnSpPr>
        <p:spPr>
          <a:xfrm rot="5400000" flipH="1" flipV="1">
            <a:off x="9913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53" name="TextBox 13">
            <a:extLst>
              <a:ext uri="{FF2B5EF4-FFF2-40B4-BE49-F238E27FC236}">
                <a16:creationId xmlns:a16="http://schemas.microsoft.com/office/drawing/2014/main" id="{B544EE2A-36D2-75A7-49C2-D2E88E941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F77623-BA20-B5E0-ECFE-0F8A55DB7A23}"/>
              </a:ext>
            </a:extLst>
          </p:cNvPr>
          <p:cNvCxnSpPr/>
          <p:nvPr/>
        </p:nvCxnSpPr>
        <p:spPr>
          <a:xfrm rot="5400000" flipH="1" flipV="1">
            <a:off x="40393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10374C7-C317-15B9-5295-8291AD792287}"/>
              </a:ext>
            </a:extLst>
          </p:cNvPr>
          <p:cNvCxnSpPr/>
          <p:nvPr/>
        </p:nvCxnSpPr>
        <p:spPr>
          <a:xfrm rot="5400000" flipH="1" flipV="1">
            <a:off x="989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56" name="TextBox 17">
            <a:extLst>
              <a:ext uri="{FF2B5EF4-FFF2-40B4-BE49-F238E27FC236}">
                <a16:creationId xmlns:a16="http://schemas.microsoft.com/office/drawing/2014/main" id="{9678BF3D-420C-7C7F-622E-5753B98E1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F18B43-8A1E-40CB-C092-B3BA176C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98358" name="Slide Number Placeholder 13">
            <a:extLst>
              <a:ext uri="{FF2B5EF4-FFF2-40B4-BE49-F238E27FC236}">
                <a16:creationId xmlns:a16="http://schemas.microsoft.com/office/drawing/2014/main" id="{02291B97-DCE0-5B7F-3D9A-CD70E0B399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57E227-602D-46A3-B2A1-1520CCF3C12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0CF1D31A-3BAA-664A-3E78-6FA0FBA1E308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60E2C0E0-79F5-51A1-55EB-5788514B20EF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FDF1D196-3BA1-1147-8FFC-8D2932616916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EA962C42-FD0D-AC59-9B20-EA0922B6C196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0399" name="TextBox 7">
            <a:extLst>
              <a:ext uri="{FF2B5EF4-FFF2-40B4-BE49-F238E27FC236}">
                <a16:creationId xmlns:a16="http://schemas.microsoft.com/office/drawing/2014/main" id="{849D9355-79F5-C5BD-867C-FCDE9C174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9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2DCFD2-6A4F-C591-1953-D56CEC20EA69}"/>
              </a:ext>
            </a:extLst>
          </p:cNvPr>
          <p:cNvCxnSpPr/>
          <p:nvPr/>
        </p:nvCxnSpPr>
        <p:spPr>
          <a:xfrm rot="5400000" flipH="1" flipV="1">
            <a:off x="17041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01" name="TextBox 13">
            <a:extLst>
              <a:ext uri="{FF2B5EF4-FFF2-40B4-BE49-F238E27FC236}">
                <a16:creationId xmlns:a16="http://schemas.microsoft.com/office/drawing/2014/main" id="{C6E69C33-76B8-CE85-CE50-FB2A07D2E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DBEE53-49B9-E0FC-251F-DEF72C280CB5}"/>
              </a:ext>
            </a:extLst>
          </p:cNvPr>
          <p:cNvCxnSpPr/>
          <p:nvPr/>
        </p:nvCxnSpPr>
        <p:spPr>
          <a:xfrm rot="5400000" flipH="1" flipV="1">
            <a:off x="40393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69D775-EDDF-94DD-D849-3A305EE1E8F3}"/>
              </a:ext>
            </a:extLst>
          </p:cNvPr>
          <p:cNvCxnSpPr/>
          <p:nvPr/>
        </p:nvCxnSpPr>
        <p:spPr>
          <a:xfrm rot="5400000" flipH="1" flipV="1">
            <a:off x="17914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04" name="TextBox 17">
            <a:extLst>
              <a:ext uri="{FF2B5EF4-FFF2-40B4-BE49-F238E27FC236}">
                <a16:creationId xmlns:a16="http://schemas.microsoft.com/office/drawing/2014/main" id="{B8C1E13A-3D1F-2CFD-2787-322007DBB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0BB361F-278E-9200-0A70-0D4779FE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0406" name="Slide Number Placeholder 13">
            <a:extLst>
              <a:ext uri="{FF2B5EF4-FFF2-40B4-BE49-F238E27FC236}">
                <a16:creationId xmlns:a16="http://schemas.microsoft.com/office/drawing/2014/main" id="{F9F46BF1-D19B-9F3B-0CE4-73B8023746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C6012D-58D4-4CAC-993D-7A2EA1E697E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B728C419-DA19-E7C4-EDD1-257330B8E3A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27572575-4DB7-8BE3-DE8D-B9C12F6BCFC2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3E5582A0-DBC0-3114-915B-73AA1D86068F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3ED19F8F-1E8E-5C4D-9F9C-834777EF16CF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2447" name="TextBox 7">
            <a:extLst>
              <a:ext uri="{FF2B5EF4-FFF2-40B4-BE49-F238E27FC236}">
                <a16:creationId xmlns:a16="http://schemas.microsoft.com/office/drawing/2014/main" id="{180EB3C5-3958-5CB2-C06A-6BA492DE7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1CC05A-FBB1-844A-9F92-A2AA9D89E27F}"/>
              </a:ext>
            </a:extLst>
          </p:cNvPr>
          <p:cNvCxnSpPr/>
          <p:nvPr/>
        </p:nvCxnSpPr>
        <p:spPr>
          <a:xfrm rot="5400000" flipH="1" flipV="1">
            <a:off x="16771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49" name="TextBox 13">
            <a:extLst>
              <a:ext uri="{FF2B5EF4-FFF2-40B4-BE49-F238E27FC236}">
                <a16:creationId xmlns:a16="http://schemas.microsoft.com/office/drawing/2014/main" id="{6916547A-F1CA-19AE-42CB-BF1116B9A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A525D91-0A71-3933-4BCF-25824C2CFE2B}"/>
              </a:ext>
            </a:extLst>
          </p:cNvPr>
          <p:cNvCxnSpPr/>
          <p:nvPr/>
        </p:nvCxnSpPr>
        <p:spPr>
          <a:xfrm rot="5400000" flipH="1" flipV="1">
            <a:off x="48775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36A426-4045-A779-2084-2443F1A8B767}"/>
              </a:ext>
            </a:extLst>
          </p:cNvPr>
          <p:cNvCxnSpPr/>
          <p:nvPr/>
        </p:nvCxnSpPr>
        <p:spPr>
          <a:xfrm rot="5400000" flipH="1" flipV="1">
            <a:off x="2513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52" name="TextBox 17">
            <a:extLst>
              <a:ext uri="{FF2B5EF4-FFF2-40B4-BE49-F238E27FC236}">
                <a16:creationId xmlns:a16="http://schemas.microsoft.com/office/drawing/2014/main" id="{BFC7B3D8-D1C0-D7A1-57A6-0602BA781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68D91BC-9979-24AF-FCF7-16DE4F973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2454" name="Slide Number Placeholder 13">
            <a:extLst>
              <a:ext uri="{FF2B5EF4-FFF2-40B4-BE49-F238E27FC236}">
                <a16:creationId xmlns:a16="http://schemas.microsoft.com/office/drawing/2014/main" id="{6187C075-9526-FE6A-DB3F-0EABBFC313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A1D42D-B97F-46DC-8DEF-B721E7FEDADF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A5CC31F9-B07A-23BA-EF64-8941C524DBE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C31E9DC3-82E8-CF46-FC42-CB4BE7547CA6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C3444723-9BC6-E065-9055-E96194FAE1D9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6EFAC515-4A6D-D694-B118-7C558B85CC26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495" name="TextBox 7">
            <a:extLst>
              <a:ext uri="{FF2B5EF4-FFF2-40B4-BE49-F238E27FC236}">
                <a16:creationId xmlns:a16="http://schemas.microsoft.com/office/drawing/2014/main" id="{AD92AEA5-5388-EAF5-3A13-F367BE0A3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C2BB75-8E73-C566-6F9C-72C266297646}"/>
              </a:ext>
            </a:extLst>
          </p:cNvPr>
          <p:cNvCxnSpPr/>
          <p:nvPr/>
        </p:nvCxnSpPr>
        <p:spPr>
          <a:xfrm rot="5400000" flipH="1" flipV="1">
            <a:off x="2389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97" name="TextBox 13">
            <a:extLst>
              <a:ext uri="{FF2B5EF4-FFF2-40B4-BE49-F238E27FC236}">
                <a16:creationId xmlns:a16="http://schemas.microsoft.com/office/drawing/2014/main" id="{C6E4F60E-2889-2485-58E5-69BCCCEB7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39636E-BEEB-7295-DE47-206CCBD8FF9F}"/>
              </a:ext>
            </a:extLst>
          </p:cNvPr>
          <p:cNvCxnSpPr/>
          <p:nvPr/>
        </p:nvCxnSpPr>
        <p:spPr>
          <a:xfrm rot="5400000" flipH="1" flipV="1">
            <a:off x="48775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ACE25E-42BB-CD93-B2CA-AB9407AF6607}"/>
              </a:ext>
            </a:extLst>
          </p:cNvPr>
          <p:cNvCxnSpPr/>
          <p:nvPr/>
        </p:nvCxnSpPr>
        <p:spPr>
          <a:xfrm rot="5400000" flipH="1" flipV="1">
            <a:off x="3239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00" name="TextBox 17">
            <a:extLst>
              <a:ext uri="{FF2B5EF4-FFF2-40B4-BE49-F238E27FC236}">
                <a16:creationId xmlns:a16="http://schemas.microsoft.com/office/drawing/2014/main" id="{3F716EC3-7415-0326-2C7E-0E69CEEB1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983911D-C0B7-0C52-4D4E-A40E55905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4502" name="Slide Number Placeholder 13">
            <a:extLst>
              <a:ext uri="{FF2B5EF4-FFF2-40B4-BE49-F238E27FC236}">
                <a16:creationId xmlns:a16="http://schemas.microsoft.com/office/drawing/2014/main" id="{0D29174F-01C6-5787-0B15-E5069FD1E7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353D5E-3509-4503-B3A8-EAB42A1E2906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8F323076-E36B-A7BE-7EC0-4DFDA58314D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2C67378C-B857-A7B8-1EFF-18FE567C693B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421F59E5-3727-5117-F6C8-84355298537C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682F5255-98DB-ABBA-08D9-7868E0D28C8C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6543" name="TextBox 7">
            <a:extLst>
              <a:ext uri="{FF2B5EF4-FFF2-40B4-BE49-F238E27FC236}">
                <a16:creationId xmlns:a16="http://schemas.microsoft.com/office/drawing/2014/main" id="{F531C041-8702-3C4D-58D2-D8463FE62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E9C1D3-C253-2A00-62B8-D89C0B87877D}"/>
              </a:ext>
            </a:extLst>
          </p:cNvPr>
          <p:cNvCxnSpPr/>
          <p:nvPr/>
        </p:nvCxnSpPr>
        <p:spPr>
          <a:xfrm rot="5400000" flipH="1" flipV="1">
            <a:off x="2389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545" name="TextBox 13">
            <a:extLst>
              <a:ext uri="{FF2B5EF4-FFF2-40B4-BE49-F238E27FC236}">
                <a16:creationId xmlns:a16="http://schemas.microsoft.com/office/drawing/2014/main" id="{8837542C-7CE4-E251-6169-745E155E4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24CB74-AA93-8757-67D8-3B0E623CB873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A37A829-33A3-055D-A72F-10751EFA87E6}"/>
              </a:ext>
            </a:extLst>
          </p:cNvPr>
          <p:cNvCxnSpPr/>
          <p:nvPr/>
        </p:nvCxnSpPr>
        <p:spPr>
          <a:xfrm rot="5400000" flipH="1" flipV="1">
            <a:off x="4001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548" name="TextBox 17">
            <a:extLst>
              <a:ext uri="{FF2B5EF4-FFF2-40B4-BE49-F238E27FC236}">
                <a16:creationId xmlns:a16="http://schemas.microsoft.com/office/drawing/2014/main" id="{751A04E2-0458-273D-708E-17C499D74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AD4F99E-4B84-16A3-547B-F36E9C128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6550" name="Slide Number Placeholder 13">
            <a:extLst>
              <a:ext uri="{FF2B5EF4-FFF2-40B4-BE49-F238E27FC236}">
                <a16:creationId xmlns:a16="http://schemas.microsoft.com/office/drawing/2014/main" id="{2450EBFD-5EA2-2D6D-A822-E1BBEC03B5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E28BDA-7459-44A4-8A92-2DB07CC8EABF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F4607FE1-2247-4F8E-536B-3B78D16AFB2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7885C7E5-4BE7-5420-0095-6032D5D25351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DF7D3159-0D9F-956E-8F23-3DD1A96A0836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C3BB5620-771F-6E3D-7E93-6AFA5A9E759D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8591" name="TextBox 7">
            <a:extLst>
              <a:ext uri="{FF2B5EF4-FFF2-40B4-BE49-F238E27FC236}">
                <a16:creationId xmlns:a16="http://schemas.microsoft.com/office/drawing/2014/main" id="{F58C1663-F0B1-DB43-70F2-97758734C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31B4F4-51C5-BE5D-9D71-EE76EB3B49C7}"/>
              </a:ext>
            </a:extLst>
          </p:cNvPr>
          <p:cNvCxnSpPr/>
          <p:nvPr/>
        </p:nvCxnSpPr>
        <p:spPr>
          <a:xfrm rot="5400000" flipH="1" flipV="1">
            <a:off x="31249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593" name="TextBox 13">
            <a:extLst>
              <a:ext uri="{FF2B5EF4-FFF2-40B4-BE49-F238E27FC236}">
                <a16:creationId xmlns:a16="http://schemas.microsoft.com/office/drawing/2014/main" id="{6E0F5840-6568-9E34-C511-4036EB452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CE2443-A2DC-7609-D1F8-0CA0725E7C47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B90EA9-3F16-88F5-A11A-ABD31F46522B}"/>
              </a:ext>
            </a:extLst>
          </p:cNvPr>
          <p:cNvCxnSpPr/>
          <p:nvPr/>
        </p:nvCxnSpPr>
        <p:spPr>
          <a:xfrm rot="5400000" flipH="1" flipV="1">
            <a:off x="4763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596" name="TextBox 17">
            <a:extLst>
              <a:ext uri="{FF2B5EF4-FFF2-40B4-BE49-F238E27FC236}">
                <a16:creationId xmlns:a16="http://schemas.microsoft.com/office/drawing/2014/main" id="{80EC3661-001F-CCBF-7858-F136A4E7A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8E822A-1EE0-DEB0-DBE4-587DB858B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08598" name="Slide Number Placeholder 13">
            <a:extLst>
              <a:ext uri="{FF2B5EF4-FFF2-40B4-BE49-F238E27FC236}">
                <a16:creationId xmlns:a16="http://schemas.microsoft.com/office/drawing/2014/main" id="{6E61A191-1E3E-E670-9B44-BC96B42CEB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857A5F-3FC1-417C-80D7-DE90C3A9F5D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6CEEBB52-84A4-1E76-C9B3-E4B86D4BFCAB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A38D2061-7BFA-EE7C-C57D-EFA6770421D4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78012DF9-76CC-92D6-6674-C80E9E8DB730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DAB903B5-4BD4-5F6D-D024-5B9645ABD9E3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0639" name="TextBox 7">
            <a:extLst>
              <a:ext uri="{FF2B5EF4-FFF2-40B4-BE49-F238E27FC236}">
                <a16:creationId xmlns:a16="http://schemas.microsoft.com/office/drawing/2014/main" id="{FFDD034E-4FF0-6C86-7108-59CA32041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1905000"/>
            <a:ext cx="581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0C3B65-8316-A522-CF7E-E65C19A3ABB9}"/>
              </a:ext>
            </a:extLst>
          </p:cNvPr>
          <p:cNvCxnSpPr/>
          <p:nvPr/>
        </p:nvCxnSpPr>
        <p:spPr>
          <a:xfrm rot="5400000" flipH="1" flipV="1">
            <a:off x="3644107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41" name="TextBox 13">
            <a:extLst>
              <a:ext uri="{FF2B5EF4-FFF2-40B4-BE49-F238E27FC236}">
                <a16:creationId xmlns:a16="http://schemas.microsoft.com/office/drawing/2014/main" id="{32733A46-EA88-C6BF-4183-675D52EC0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513CF1-C6B2-0D53-4DC8-52B37CB9B2CF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397437-B58E-666D-AC42-B31E029BF846}"/>
              </a:ext>
            </a:extLst>
          </p:cNvPr>
          <p:cNvCxnSpPr/>
          <p:nvPr/>
        </p:nvCxnSpPr>
        <p:spPr>
          <a:xfrm rot="5400000" flipH="1" flipV="1">
            <a:off x="54490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44" name="TextBox 17">
            <a:extLst>
              <a:ext uri="{FF2B5EF4-FFF2-40B4-BE49-F238E27FC236}">
                <a16:creationId xmlns:a16="http://schemas.microsoft.com/office/drawing/2014/main" id="{6638528D-E537-4E7D-A393-4C8B5D4DF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FFDD921-3598-ED71-5450-0F0D2D980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0646" name="Slide Number Placeholder 13">
            <a:extLst>
              <a:ext uri="{FF2B5EF4-FFF2-40B4-BE49-F238E27FC236}">
                <a16:creationId xmlns:a16="http://schemas.microsoft.com/office/drawing/2014/main" id="{57DA15D6-4FE5-2135-8E26-09E16F0176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1C784F-7F9E-4C0A-9045-42D083045AE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2D5B6BC9-0670-86F0-5405-F42ACE596FB8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E81A978D-0F5E-2B2B-8D97-986A1F7AF09C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030D3F48-6580-9E95-EFD0-8085FEDFF6F7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2BE25ED7-9D09-86D6-3161-8F8723AE7454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687" name="TextBox 7">
            <a:extLst>
              <a:ext uri="{FF2B5EF4-FFF2-40B4-BE49-F238E27FC236}">
                <a16:creationId xmlns:a16="http://schemas.microsoft.com/office/drawing/2014/main" id="{E6036674-3642-CC20-C66D-B929DAB09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1905000"/>
            <a:ext cx="581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32F1E1-DC24-7D19-0B32-A182088F99A9}"/>
              </a:ext>
            </a:extLst>
          </p:cNvPr>
          <p:cNvCxnSpPr/>
          <p:nvPr/>
        </p:nvCxnSpPr>
        <p:spPr>
          <a:xfrm rot="5400000" flipH="1" flipV="1">
            <a:off x="3644107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89" name="TextBox 13">
            <a:extLst>
              <a:ext uri="{FF2B5EF4-FFF2-40B4-BE49-F238E27FC236}">
                <a16:creationId xmlns:a16="http://schemas.microsoft.com/office/drawing/2014/main" id="{B921869A-12D1-8D01-6E13-C870D548E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5173F5-E3E3-0D25-AF2C-04EA67245493}"/>
              </a:ext>
            </a:extLst>
          </p:cNvPr>
          <p:cNvCxnSpPr/>
          <p:nvPr/>
        </p:nvCxnSpPr>
        <p:spPr>
          <a:xfrm rot="5400000" flipH="1" flipV="1">
            <a:off x="68587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D957E2F-6672-A6A3-89E4-F46ED565372C}"/>
              </a:ext>
            </a:extLst>
          </p:cNvPr>
          <p:cNvCxnSpPr/>
          <p:nvPr/>
        </p:nvCxnSpPr>
        <p:spPr>
          <a:xfrm rot="5400000" flipH="1" flipV="1">
            <a:off x="6704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92" name="TextBox 17">
            <a:extLst>
              <a:ext uri="{FF2B5EF4-FFF2-40B4-BE49-F238E27FC236}">
                <a16:creationId xmlns:a16="http://schemas.microsoft.com/office/drawing/2014/main" id="{42EB9841-FC9D-1E4A-74FB-6E3F3080F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9A755FE-56AB-72B0-C01E-5F31207EB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2694" name="Slide Number Placeholder 13">
            <a:extLst>
              <a:ext uri="{FF2B5EF4-FFF2-40B4-BE49-F238E27FC236}">
                <a16:creationId xmlns:a16="http://schemas.microsoft.com/office/drawing/2014/main" id="{DA01958A-7FD0-98E8-BE5F-747683B57F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8A7C09-886B-4EC5-BC3B-360E5ECB4D7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6C36FB5-CB6D-DEA6-0462-C7E0C706C35B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Merge Sort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DEEC6772-5907-A77D-F896-08F4337CC37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066800"/>
            <a:ext cx="7467600" cy="4846638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</a:rPr>
              <a:t>void</a:t>
            </a:r>
            <a:r>
              <a:rPr lang="en-US" altLang="en-US" sz="2000"/>
              <a:t> mergesort( input_type a[], unsigned int n 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input_type *tmp_array;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tmp_array = (input_type *) malloc ( (n) </a:t>
            </a:r>
            <a:r>
              <a:rPr lang="en-US" altLang="en-US" sz="2000">
                <a:solidFill>
                  <a:srgbClr val="0000CC"/>
                </a:solidFill>
              </a:rPr>
              <a:t>* sizeof </a:t>
            </a:r>
            <a:r>
              <a:rPr lang="en-US" altLang="en-US" sz="2000"/>
              <a:t>(input_type)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</a:rPr>
              <a:t>if</a:t>
            </a:r>
            <a:r>
              <a:rPr lang="en-US" altLang="en-US" sz="2000"/>
              <a:t>( tmp_array != NULL 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    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    m_sort( a, tmp_array, 0, n-1 );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    free( tmp_array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     }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</a:rPr>
              <a:t> else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     cout&lt;&lt;"No space for tmp array!!!”;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}</a:t>
            </a:r>
            <a:endParaRPr lang="en-US" altLang="en-US" sz="20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7A5A0-5021-927E-1182-40BE63A0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4693" name="Slide Number Placeholder 4">
            <a:extLst>
              <a:ext uri="{FF2B5EF4-FFF2-40B4-BE49-F238E27FC236}">
                <a16:creationId xmlns:a16="http://schemas.microsoft.com/office/drawing/2014/main" id="{E3F9B3F6-530F-EB7D-72F6-4D13921DD2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FCA89D-BF75-426D-A372-2EE462A10426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95FB91-89B0-AB09-28D8-99312A02D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09800"/>
            <a:ext cx="72390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tmp_array = </a:t>
            </a:r>
            <a:r>
              <a:rPr lang="en-US" altLang="en-US" sz="2000">
                <a:solidFill>
                  <a:srgbClr val="0000CC"/>
                </a:solidFill>
              </a:rPr>
              <a:t>new</a:t>
            </a:r>
            <a:r>
              <a:rPr lang="en-US" altLang="en-US" sz="2000"/>
              <a:t> input_type [</a:t>
            </a:r>
            <a:r>
              <a:rPr lang="en-US" altLang="en-US" sz="600"/>
              <a:t> </a:t>
            </a:r>
            <a:r>
              <a:rPr lang="en-US" altLang="en-US" sz="2000"/>
              <a:t>n];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C30992-E490-9218-1DA9-02AFB12E3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733800"/>
            <a:ext cx="35814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delete [](temp_array);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BC0832A-BFC5-CCC0-0869-8405D50F4021}"/>
              </a:ext>
            </a:extLst>
          </p:cNvPr>
          <p:cNvSpPr/>
          <p:nvPr/>
        </p:nvSpPr>
        <p:spPr>
          <a:xfrm>
            <a:off x="496888" y="3810000"/>
            <a:ext cx="4379912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B4E0C8-D550-4136-6F0D-3289078B416E}"/>
              </a:ext>
            </a:extLst>
          </p:cNvPr>
          <p:cNvSpPr/>
          <p:nvPr/>
        </p:nvSpPr>
        <p:spPr>
          <a:xfrm>
            <a:off x="493713" y="4114800"/>
            <a:ext cx="47244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2AABB4-5FF8-44DF-FF6D-723E528205E1}"/>
              </a:ext>
            </a:extLst>
          </p:cNvPr>
          <p:cNvSpPr/>
          <p:nvPr/>
        </p:nvSpPr>
        <p:spPr>
          <a:xfrm>
            <a:off x="496888" y="3416300"/>
            <a:ext cx="3922712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B46542-0B79-D4A7-F932-FC3CEB6F3FA8}"/>
              </a:ext>
            </a:extLst>
          </p:cNvPr>
          <p:cNvSpPr/>
          <p:nvPr/>
        </p:nvSpPr>
        <p:spPr>
          <a:xfrm>
            <a:off x="508000" y="2971800"/>
            <a:ext cx="29718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288C73F6-6436-F710-8406-01700D047E9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Merge Sort</a:t>
            </a:r>
          </a:p>
        </p:txBody>
      </p:sp>
      <p:sp>
        <p:nvSpPr>
          <p:cNvPr id="116743" name="Rectangle 3">
            <a:extLst>
              <a:ext uri="{FF2B5EF4-FFF2-40B4-BE49-F238E27FC236}">
                <a16:creationId xmlns:a16="http://schemas.microsoft.com/office/drawing/2014/main" id="{8E199FCA-8498-0BFE-DA52-EDC6074E265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2400" y="1066800"/>
            <a:ext cx="7924800" cy="4846638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</a:rPr>
              <a:t>void</a:t>
            </a:r>
            <a:r>
              <a:rPr lang="en-US" altLang="en-US" sz="2000"/>
              <a:t> m_sort( input_type a[], input_type tmp_array[ ], int left, int right 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int center;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>
                <a:solidFill>
                  <a:srgbClr val="0000CC"/>
                </a:solidFill>
              </a:rPr>
              <a:t>if</a:t>
            </a:r>
            <a:r>
              <a:rPr lang="en-US" altLang="en-US" sz="2000"/>
              <a:t>( left </a:t>
            </a:r>
            <a:r>
              <a:rPr lang="en-US" altLang="en-US" sz="2000" b="1"/>
              <a:t>&lt;</a:t>
            </a:r>
            <a:r>
              <a:rPr lang="en-US" altLang="en-US" sz="2000"/>
              <a:t> right 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center = (left + right) / 2;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m_sort( a, tmp_array, left, center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m_sort( a, tmp_array, center+1, right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merge( a, tmp_array, left, center+1, right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	}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000"/>
              <a:t>}</a:t>
            </a:r>
            <a:endParaRPr lang="en-US" altLang="en-US" sz="20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3FEE8-88FA-6E81-B2B1-ED166D28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6745" name="Slide Number Placeholder 4">
            <a:extLst>
              <a:ext uri="{FF2B5EF4-FFF2-40B4-BE49-F238E27FC236}">
                <a16:creationId xmlns:a16="http://schemas.microsoft.com/office/drawing/2014/main" id="{E69E58ED-B810-6587-31DF-67B3817716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452141-3EEC-4395-9447-9C3A46F38D5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E91AA-B4C8-113E-94EB-576419815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921000"/>
            <a:ext cx="44545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Calculate the </a:t>
            </a:r>
            <a:r>
              <a:rPr lang="en-US" altLang="en-US" sz="1800" b="1">
                <a:solidFill>
                  <a:srgbClr val="FF0000"/>
                </a:solidFill>
              </a:rPr>
              <a:t>centre</a:t>
            </a:r>
            <a:r>
              <a:rPr lang="en-US" altLang="en-US" sz="1800">
                <a:solidFill>
                  <a:srgbClr val="FF0000"/>
                </a:solidFill>
              </a:rPr>
              <a:t> index of the input 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D9332-5313-9B5B-8C82-F5BA3AC98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975" y="3200400"/>
            <a:ext cx="410845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Recursively call the </a:t>
            </a:r>
            <a:r>
              <a:rPr lang="en-US" altLang="en-US" sz="1800" b="1">
                <a:solidFill>
                  <a:srgbClr val="FF0000"/>
                </a:solidFill>
              </a:rPr>
              <a:t>m_sort</a:t>
            </a:r>
            <a:r>
              <a:rPr lang="en-US" altLang="en-US" sz="1800">
                <a:solidFill>
                  <a:srgbClr val="FF0000"/>
                </a:solidFill>
              </a:rPr>
              <a:t> procedure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for the </a:t>
            </a:r>
            <a:r>
              <a:rPr lang="en-US" altLang="en-US" sz="1800" b="1">
                <a:solidFill>
                  <a:srgbClr val="FF0000"/>
                </a:solidFill>
              </a:rPr>
              <a:t>left-half</a:t>
            </a:r>
            <a:r>
              <a:rPr lang="en-US" altLang="en-US" sz="1800">
                <a:solidFill>
                  <a:srgbClr val="FF0000"/>
                </a:solidFill>
              </a:rPr>
              <a:t> of the input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A14BB-8CA8-3C9D-B714-77A85B263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350" y="3505200"/>
            <a:ext cx="4173538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Recursively call the </a:t>
            </a:r>
            <a:r>
              <a:rPr lang="en-US" altLang="en-US" sz="1800" b="1">
                <a:solidFill>
                  <a:srgbClr val="FF0000"/>
                </a:solidFill>
              </a:rPr>
              <a:t>m_sort</a:t>
            </a:r>
            <a:r>
              <a:rPr lang="en-US" altLang="en-US" sz="1800">
                <a:solidFill>
                  <a:srgbClr val="FF0000"/>
                </a:solidFill>
              </a:rPr>
              <a:t> procedure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for the </a:t>
            </a:r>
            <a:r>
              <a:rPr lang="en-US" altLang="en-US" sz="1800" b="1">
                <a:solidFill>
                  <a:srgbClr val="FF0000"/>
                </a:solidFill>
              </a:rPr>
              <a:t>right-half</a:t>
            </a:r>
            <a:r>
              <a:rPr lang="en-US" altLang="en-US" sz="1800">
                <a:solidFill>
                  <a:srgbClr val="FF0000"/>
                </a:solidFill>
              </a:rPr>
              <a:t> of the input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55968-A8CE-B689-7A7D-65AAB61EB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4154488"/>
            <a:ext cx="281305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Merge</a:t>
            </a:r>
            <a:r>
              <a:rPr lang="en-US" altLang="en-US" sz="1800">
                <a:solidFill>
                  <a:srgbClr val="FF0000"/>
                </a:solidFill>
              </a:rPr>
              <a:t> the two sorted lists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1" grpId="0" animBg="1"/>
      <p:bldP spid="11" grpId="1" animBg="1"/>
      <p:bldP spid="10" grpId="0" animBg="1"/>
      <p:bldP spid="10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05F91E5-6CEA-C2FB-AC01-725D5312F58D}"/>
              </a:ext>
            </a:extLst>
          </p:cNvPr>
          <p:cNvSpPr/>
          <p:nvPr/>
        </p:nvSpPr>
        <p:spPr>
          <a:xfrm>
            <a:off x="228600" y="5791200"/>
            <a:ext cx="4038600" cy="609600"/>
          </a:xfrm>
          <a:prstGeom prst="rect">
            <a:avLst/>
          </a:prstGeom>
          <a:solidFill>
            <a:srgbClr val="FEF3DE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88DC93-EF9D-AB00-86F5-951033118BB6}"/>
              </a:ext>
            </a:extLst>
          </p:cNvPr>
          <p:cNvSpPr/>
          <p:nvPr/>
        </p:nvSpPr>
        <p:spPr>
          <a:xfrm>
            <a:off x="215900" y="4886325"/>
            <a:ext cx="3429000" cy="609600"/>
          </a:xfrm>
          <a:prstGeom prst="rect">
            <a:avLst/>
          </a:prstGeom>
          <a:solidFill>
            <a:srgbClr val="FEF3DE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09A9A1A-9EC2-C15E-1AC5-7A4E13B67F00}"/>
              </a:ext>
            </a:extLst>
          </p:cNvPr>
          <p:cNvSpPr/>
          <p:nvPr/>
        </p:nvSpPr>
        <p:spPr>
          <a:xfrm>
            <a:off x="215900" y="4254500"/>
            <a:ext cx="3429000" cy="609600"/>
          </a:xfrm>
          <a:prstGeom prst="rect">
            <a:avLst/>
          </a:prstGeom>
          <a:solidFill>
            <a:srgbClr val="FEF3DE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5B0789-4C25-12E6-63BE-2F997A40ABD4}"/>
              </a:ext>
            </a:extLst>
          </p:cNvPr>
          <p:cNvSpPr/>
          <p:nvPr/>
        </p:nvSpPr>
        <p:spPr>
          <a:xfrm>
            <a:off x="228600" y="3048000"/>
            <a:ext cx="3962400" cy="1143000"/>
          </a:xfrm>
          <a:prstGeom prst="rect">
            <a:avLst/>
          </a:prstGeom>
          <a:solidFill>
            <a:srgbClr val="FEF3DE"/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521E00D6-9E8F-F9F7-7F49-0D1CCAE5589D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Merge procedure</a:t>
            </a:r>
          </a:p>
        </p:txBody>
      </p:sp>
      <p:sp>
        <p:nvSpPr>
          <p:cNvPr id="118791" name="Rectangle 3">
            <a:extLst>
              <a:ext uri="{FF2B5EF4-FFF2-40B4-BE49-F238E27FC236}">
                <a16:creationId xmlns:a16="http://schemas.microsoft.com/office/drawing/2014/main" id="{683B94A1-0E0D-BBC9-08FC-C37A0CE969E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2400" y="563563"/>
            <a:ext cx="7924800" cy="4846637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void</a:t>
            </a:r>
            <a:r>
              <a:rPr lang="en-US" altLang="en-US" sz="1500"/>
              <a:t> merge(input_type a[], input_type tmp_array[], int left, int center_plus, int right_end) {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int i, left_end, num_elements, new_pos;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left_end = centre_plus - 1;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right = center_plus;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new_pos = left;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num_elements = right_end - left + 1;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/* main loop */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((left &lt;= left_end) &amp;&amp; (right &lt;= right_end)) 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</a:t>
            </a:r>
            <a:r>
              <a:rPr lang="en-US" altLang="en-US" sz="1500">
                <a:solidFill>
                  <a:srgbClr val="0000CC"/>
                </a:solidFill>
              </a:rPr>
              <a:t>if</a:t>
            </a:r>
            <a:r>
              <a:rPr lang="en-US" altLang="en-US" sz="1500"/>
              <a:t> (a[left] &lt;= a[right]) 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      tmp_array[new_pos++] = a[left++];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</a:t>
            </a:r>
            <a:r>
              <a:rPr lang="en-US" altLang="en-US" sz="1500">
                <a:solidFill>
                  <a:srgbClr val="0000CC"/>
                </a:solidFill>
              </a:rPr>
              <a:t>else</a:t>
            </a:r>
            <a:r>
              <a:rPr lang="en-US" altLang="en-US" sz="1500"/>
              <a:t>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      tmp_array[new_pos++] = a[right++];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(left &lt;= left_end)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tmp_array[new_pos++] = a[left++]; 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(right &lt;= right_end)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tmp_array[new_pos++] = a[right++];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FF0000"/>
                </a:solidFill>
              </a:rPr>
              <a:t> /* copy tmp_array back to the main list a */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for</a:t>
            </a:r>
            <a:r>
              <a:rPr lang="en-US" altLang="en-US" sz="1500"/>
              <a:t> (i = 1; i &lt;= num_elements; i++, right_end--)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a[right_end] = tmp_array[right_end];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}</a:t>
            </a:r>
            <a:endParaRPr lang="en-US" altLang="en-US" sz="1500"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3C08D2-7001-5C98-021F-D9456D27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18793" name="Slide Number Placeholder 4">
            <a:extLst>
              <a:ext uri="{FF2B5EF4-FFF2-40B4-BE49-F238E27FC236}">
                <a16:creationId xmlns:a16="http://schemas.microsoft.com/office/drawing/2014/main" id="{C5812E7A-0EAA-81CD-6885-49335E0265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DEDBEE-97B5-4FE2-8EC0-9E3584936130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6A925-14AB-F75B-D1F3-E061A231F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762000"/>
            <a:ext cx="693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                    a,                 tmp_array,  left,     center+1,    right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9CF5DF-413B-D846-1297-70BF1B7653B0}"/>
              </a:ext>
            </a:extLst>
          </p:cNvPr>
          <p:cNvCxnSpPr/>
          <p:nvPr/>
        </p:nvCxnSpPr>
        <p:spPr>
          <a:xfrm>
            <a:off x="2133600" y="838200"/>
            <a:ext cx="381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2983F2-BA0D-A892-8887-0869D967DBF8}"/>
              </a:ext>
            </a:extLst>
          </p:cNvPr>
          <p:cNvCxnSpPr/>
          <p:nvPr/>
        </p:nvCxnSpPr>
        <p:spPr>
          <a:xfrm>
            <a:off x="3505200" y="838200"/>
            <a:ext cx="10668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1913FB-5E95-16EF-BF69-C3072275CA2A}"/>
              </a:ext>
            </a:extLst>
          </p:cNvPr>
          <p:cNvCxnSpPr/>
          <p:nvPr/>
        </p:nvCxnSpPr>
        <p:spPr>
          <a:xfrm>
            <a:off x="4648200" y="836613"/>
            <a:ext cx="381000" cy="158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A661B4-3DAE-0987-60A3-F36E8334AA44}"/>
              </a:ext>
            </a:extLst>
          </p:cNvPr>
          <p:cNvCxnSpPr/>
          <p:nvPr/>
        </p:nvCxnSpPr>
        <p:spPr>
          <a:xfrm>
            <a:off x="5562600" y="838200"/>
            <a:ext cx="8382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576B61-8749-1883-D67C-24090E130996}"/>
              </a:ext>
            </a:extLst>
          </p:cNvPr>
          <p:cNvCxnSpPr/>
          <p:nvPr/>
        </p:nvCxnSpPr>
        <p:spPr>
          <a:xfrm>
            <a:off x="6629400" y="838200"/>
            <a:ext cx="3810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35CDFC4-D977-857D-E62D-102AA9CFA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3" y="1447800"/>
            <a:ext cx="26543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Mark the end of the left list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DE1361-A42D-5E20-3B16-6CD504B09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600200"/>
            <a:ext cx="37512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Initialize the index pointer of the new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temp_array</a:t>
            </a:r>
            <a:r>
              <a:rPr lang="en-US" altLang="en-US" sz="1600">
                <a:solidFill>
                  <a:srgbClr val="FF0000"/>
                </a:solidFill>
              </a:rPr>
              <a:t> to the start of the left array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A078D8-3D3B-0838-5FF5-90D938314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108200"/>
            <a:ext cx="3756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Calculate the total number of elements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in the current </a:t>
            </a:r>
            <a:r>
              <a:rPr lang="en-US" altLang="en-US" sz="1600" b="1">
                <a:solidFill>
                  <a:srgbClr val="FF0000"/>
                </a:solidFill>
              </a:rPr>
              <a:t>merged list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CE5DA3-6B43-874B-E75B-EFE304503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3" y="2678113"/>
            <a:ext cx="30353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While both the input lists still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have elements to be processed</a:t>
            </a:r>
            <a:endParaRPr lang="en-US" altLang="en-US" sz="1600" b="1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E488EF-ABFC-1E58-2BCC-C4D8D20B2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124200"/>
            <a:ext cx="40576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Copy the smaller of the two elements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Pointed by</a:t>
            </a:r>
            <a:r>
              <a:rPr lang="en-US" altLang="en-US" sz="1600" b="1">
                <a:solidFill>
                  <a:srgbClr val="FF0000"/>
                </a:solidFill>
              </a:rPr>
              <a:t> l_pos </a:t>
            </a:r>
            <a:r>
              <a:rPr lang="en-US" altLang="en-US" sz="1600">
                <a:solidFill>
                  <a:srgbClr val="FF0000"/>
                </a:solidFill>
              </a:rPr>
              <a:t>and</a:t>
            </a:r>
            <a:r>
              <a:rPr lang="en-US" altLang="en-US" sz="1600" b="1">
                <a:solidFill>
                  <a:srgbClr val="FF0000"/>
                </a:solidFill>
              </a:rPr>
              <a:t> r_pos, </a:t>
            </a:r>
            <a:r>
              <a:rPr lang="en-US" altLang="en-US" sz="1600">
                <a:solidFill>
                  <a:srgbClr val="FF0000"/>
                </a:solidFill>
              </a:rPr>
              <a:t>respectively,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into the </a:t>
            </a:r>
            <a:r>
              <a:rPr lang="en-US" altLang="en-US" sz="1600" b="1">
                <a:solidFill>
                  <a:srgbClr val="FF0000"/>
                </a:solidFill>
              </a:rPr>
              <a:t>temp_array.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F3BC59-9512-A10E-A8C8-10728CEBD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3852863"/>
            <a:ext cx="37671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Increment the respective index pointers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8EFA9A-231B-0253-11BB-B9F81DE71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4191000"/>
            <a:ext cx="5199062" cy="338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If only the </a:t>
            </a:r>
            <a:r>
              <a:rPr lang="en-US" altLang="en-US" sz="1600" b="1">
                <a:solidFill>
                  <a:srgbClr val="FF0000"/>
                </a:solidFill>
              </a:rPr>
              <a:t>left input list</a:t>
            </a:r>
            <a:r>
              <a:rPr lang="en-US" altLang="en-US" sz="1600">
                <a:solidFill>
                  <a:srgbClr val="FF0000"/>
                </a:solidFill>
              </a:rPr>
              <a:t> has elements to be processed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14EC40-472A-9629-DE8F-FC447C621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938" y="4840288"/>
            <a:ext cx="5300662" cy="3397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If only the </a:t>
            </a:r>
            <a:r>
              <a:rPr lang="en-US" altLang="en-US" sz="1600" b="1">
                <a:solidFill>
                  <a:srgbClr val="FF0000"/>
                </a:solidFill>
              </a:rPr>
              <a:t>right input list</a:t>
            </a:r>
            <a:r>
              <a:rPr lang="en-US" altLang="en-US" sz="1600">
                <a:solidFill>
                  <a:srgbClr val="FF0000"/>
                </a:solidFill>
              </a:rPr>
              <a:t> has elements to be processed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6BB215-9B11-BF92-6FA0-98A835014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4524375"/>
            <a:ext cx="24733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/* copy rest of first half */</a:t>
            </a:r>
            <a:r>
              <a:rPr lang="en-US" altLang="en-US" sz="1600"/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ED8DF2-1777-45AC-668E-B6047DF2C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75" y="5116513"/>
            <a:ext cx="28019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/* copy rest of second half */ </a:t>
            </a:r>
            <a:endParaRPr lang="en-US" altLang="en-US" sz="160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301A889-A879-9C2B-A68F-7D86AE770B4F}"/>
              </a:ext>
            </a:extLst>
          </p:cNvPr>
          <p:cNvCxnSpPr>
            <a:cxnSpLocks/>
          </p:cNvCxnSpPr>
          <p:nvPr/>
        </p:nvCxnSpPr>
        <p:spPr>
          <a:xfrm>
            <a:off x="304800" y="1490663"/>
            <a:ext cx="21336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F1F02FF-1608-DAF2-D93B-7C349FB5743F}"/>
              </a:ext>
            </a:extLst>
          </p:cNvPr>
          <p:cNvCxnSpPr/>
          <p:nvPr/>
        </p:nvCxnSpPr>
        <p:spPr>
          <a:xfrm>
            <a:off x="228600" y="2057400"/>
            <a:ext cx="175260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2F917A-D0B0-975B-BAA2-8EF63932EE2D}"/>
              </a:ext>
            </a:extLst>
          </p:cNvPr>
          <p:cNvCxnSpPr/>
          <p:nvPr/>
        </p:nvCxnSpPr>
        <p:spPr>
          <a:xfrm flipV="1">
            <a:off x="228600" y="2362200"/>
            <a:ext cx="28956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B222931-45FA-B0D2-F0A0-1444931B2685}"/>
              </a:ext>
            </a:extLst>
          </p:cNvPr>
          <p:cNvCxnSpPr>
            <a:endCxn id="20" idx="1"/>
          </p:cNvCxnSpPr>
          <p:nvPr/>
        </p:nvCxnSpPr>
        <p:spPr>
          <a:xfrm>
            <a:off x="228600" y="2959100"/>
            <a:ext cx="4652963" cy="1111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AE23F0C-77B4-352E-7C06-7C6F3031875C}"/>
              </a:ext>
            </a:extLst>
          </p:cNvPr>
          <p:cNvCxnSpPr/>
          <p:nvPr/>
        </p:nvCxnSpPr>
        <p:spPr>
          <a:xfrm rot="10800000">
            <a:off x="3505200" y="3581400"/>
            <a:ext cx="9906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0CD0192-4A4C-276C-B90F-ED6EE468A4FD}"/>
              </a:ext>
            </a:extLst>
          </p:cNvPr>
          <p:cNvCxnSpPr/>
          <p:nvPr/>
        </p:nvCxnSpPr>
        <p:spPr>
          <a:xfrm rot="10800000" flipV="1">
            <a:off x="3962400" y="3962400"/>
            <a:ext cx="533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D59A207-00DE-B9CE-F497-4306C3F25A53}"/>
              </a:ext>
            </a:extLst>
          </p:cNvPr>
          <p:cNvCxnSpPr/>
          <p:nvPr/>
        </p:nvCxnSpPr>
        <p:spPr>
          <a:xfrm rot="10800000">
            <a:off x="2286000" y="3581400"/>
            <a:ext cx="22098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3D55FD7-4BF3-A37A-F485-908BC955353B}"/>
              </a:ext>
            </a:extLst>
          </p:cNvPr>
          <p:cNvCxnSpPr/>
          <p:nvPr/>
        </p:nvCxnSpPr>
        <p:spPr>
          <a:xfrm rot="10800000">
            <a:off x="2590800" y="3962400"/>
            <a:ext cx="1981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Group 3">
            <a:extLst>
              <a:ext uri="{FF2B5EF4-FFF2-40B4-BE49-F238E27FC236}">
                <a16:creationId xmlns:a16="http://schemas.microsoft.com/office/drawing/2014/main" id="{CE10CF23-68F8-0803-9484-BE46155DA17F}"/>
              </a:ext>
            </a:extLst>
          </p:cNvPr>
          <p:cNvGraphicFramePr>
            <a:graphicFrameLocks/>
          </p:cNvGraphicFramePr>
          <p:nvPr/>
        </p:nvGraphicFramePr>
        <p:xfrm>
          <a:off x="2895600" y="11430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72D8672-CC39-DE53-438B-1FDC34B5CA00}"/>
              </a:ext>
            </a:extLst>
          </p:cNvPr>
          <p:cNvCxnSpPr>
            <a:cxnSpLocks/>
          </p:cNvCxnSpPr>
          <p:nvPr/>
        </p:nvCxnSpPr>
        <p:spPr>
          <a:xfrm flipH="1">
            <a:off x="3276600" y="990600"/>
            <a:ext cx="16637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16FF435-F516-B43B-957E-E89DB54E199D}"/>
              </a:ext>
            </a:extLst>
          </p:cNvPr>
          <p:cNvCxnSpPr>
            <a:cxnSpLocks/>
          </p:cNvCxnSpPr>
          <p:nvPr/>
        </p:nvCxnSpPr>
        <p:spPr>
          <a:xfrm>
            <a:off x="6059488" y="1066800"/>
            <a:ext cx="265112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2FA78E5-9955-4BA4-D52B-E000C704775E}"/>
              </a:ext>
            </a:extLst>
          </p:cNvPr>
          <p:cNvCxnSpPr>
            <a:cxnSpLocks/>
          </p:cNvCxnSpPr>
          <p:nvPr/>
        </p:nvCxnSpPr>
        <p:spPr>
          <a:xfrm>
            <a:off x="7010400" y="1066800"/>
            <a:ext cx="14478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52C240E-0009-A8DC-5348-144D1497CDEB}"/>
              </a:ext>
            </a:extLst>
          </p:cNvPr>
          <p:cNvCxnSpPr>
            <a:cxnSpLocks/>
          </p:cNvCxnSpPr>
          <p:nvPr/>
        </p:nvCxnSpPr>
        <p:spPr>
          <a:xfrm flipV="1">
            <a:off x="2438400" y="1295400"/>
            <a:ext cx="3048000" cy="18891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B7B50E6-3C71-AAD6-A396-9334A32E509A}"/>
              </a:ext>
            </a:extLst>
          </p:cNvPr>
          <p:cNvCxnSpPr/>
          <p:nvPr/>
        </p:nvCxnSpPr>
        <p:spPr>
          <a:xfrm flipV="1">
            <a:off x="1676400" y="1371600"/>
            <a:ext cx="15240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8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8" grpId="0" animBg="1"/>
      <p:bldP spid="38" grpId="1" animBg="1"/>
      <p:bldP spid="37" grpId="0" animBg="1"/>
      <p:bldP spid="37" grpId="1" animBg="1"/>
      <p:bldP spid="35" grpId="0" animBg="1"/>
      <p:bldP spid="6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2" grpId="0"/>
      <p:bldP spid="22" grpId="1"/>
      <p:bldP spid="23" grpId="0" animBg="1"/>
      <p:bldP spid="23" grpId="1" animBg="1"/>
      <p:bldP spid="24" grpId="0" animBg="1"/>
      <p:bldP spid="24" grpId="1" animBg="1"/>
      <p:bldP spid="25" grpId="0"/>
      <p:bldP spid="2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4C14371-C46E-AC37-83B4-8425D2AFA559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Merge procedure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EDFE6E64-06FA-920E-EE48-A6FD2A8DE78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52400" y="533400"/>
            <a:ext cx="7696200" cy="6096000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void</a:t>
            </a:r>
            <a:r>
              <a:rPr lang="en-US" altLang="en-US" sz="1500"/>
              <a:t> merge(input_type a[], input_type tmp_array[], int left, int center_plus, int right_end) {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int i, left_end, num_elements, new_pos;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left_end = centre_plus - 1;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right = center_plus;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new_pos = left;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num_elements = right_end - left + 1;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/* main loop */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((left &lt;= left_end) &amp;&amp; (right &lt;= right_end)) 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</a:t>
            </a:r>
            <a:r>
              <a:rPr lang="en-US" altLang="en-US" sz="1500">
                <a:solidFill>
                  <a:srgbClr val="0000CC"/>
                </a:solidFill>
              </a:rPr>
              <a:t>if</a:t>
            </a:r>
            <a:r>
              <a:rPr lang="en-US" altLang="en-US" sz="1500"/>
              <a:t> (a[left] &lt;= a[right]) 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      tmp_array[new_pos++] = a[left++];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</a:t>
            </a:r>
            <a:r>
              <a:rPr lang="en-US" altLang="en-US" sz="1500">
                <a:solidFill>
                  <a:srgbClr val="0000CC"/>
                </a:solidFill>
              </a:rPr>
              <a:t>else</a:t>
            </a:r>
            <a:r>
              <a:rPr lang="en-US" altLang="en-US" sz="1500"/>
              <a:t>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      tmp_array[new_pos++] = a[right++];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(left &lt;= left_end)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tmp_array[new_pos++] = a[left++]; 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while</a:t>
            </a:r>
            <a:r>
              <a:rPr lang="en-US" altLang="en-US" sz="1500"/>
              <a:t> (right &lt;= right_end)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tmp_array[new_pos++] = a[right++];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FF0000"/>
                </a:solidFill>
              </a:rPr>
              <a:t> /* copy tmp_array back to the main list a */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>
                <a:solidFill>
                  <a:srgbClr val="0000CC"/>
                </a:solidFill>
              </a:rPr>
              <a:t>for</a:t>
            </a:r>
            <a:r>
              <a:rPr lang="en-US" altLang="en-US" sz="1500"/>
              <a:t> (i = 1; i &lt;= num_elements; i++, right_end--)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    a[right_end] = tmp_array[right_end];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1500"/>
              <a:t> }</a:t>
            </a:r>
            <a:endParaRPr lang="en-US" altLang="en-US" sz="150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4B1DA721-ACB2-EA17-3D60-0C1B0848D5FA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228600" y="0"/>
            <a:ext cx="7924800" cy="517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2800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Example (recursive Function Calls)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8B56D325-8E43-5E40-8D46-5649FE9024AA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98425" y="1295400"/>
          <a:ext cx="8054975" cy="381000"/>
        </p:xfrm>
        <a:graphic>
          <a:graphicData uri="http://schemas.openxmlformats.org/drawingml/2006/table">
            <a:tbl>
              <a:tblPr/>
              <a:tblGrid>
                <a:gridCol w="100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9D379609-F8C1-B74F-3522-56A1CEF0513E}"/>
              </a:ext>
            </a:extLst>
          </p:cNvPr>
          <p:cNvSpPr/>
          <p:nvPr/>
        </p:nvSpPr>
        <p:spPr>
          <a:xfrm>
            <a:off x="2819400" y="566738"/>
            <a:ext cx="2057400" cy="2714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Mergesort</a:t>
            </a:r>
            <a:r>
              <a:rPr lang="en-US" dirty="0">
                <a:solidFill>
                  <a:schemeClr val="tx1"/>
                </a:solidFill>
              </a:rPr>
              <a:t>(a, 8)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B08BC0-1CEE-BEAE-156A-DE63C81E7E87}"/>
              </a:ext>
            </a:extLst>
          </p:cNvPr>
          <p:cNvSpPr/>
          <p:nvPr/>
        </p:nvSpPr>
        <p:spPr>
          <a:xfrm>
            <a:off x="2286000" y="914400"/>
            <a:ext cx="3581400" cy="2762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7 )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20DD1E-853B-52FA-1369-19CB171EF9AC}"/>
              </a:ext>
            </a:extLst>
          </p:cNvPr>
          <p:cNvSpPr/>
          <p:nvPr/>
        </p:nvSpPr>
        <p:spPr>
          <a:xfrm>
            <a:off x="0" y="2243138"/>
            <a:ext cx="40386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3)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83E06C-4993-E5FB-041E-042EB65C72B9}"/>
              </a:ext>
            </a:extLst>
          </p:cNvPr>
          <p:cNvSpPr/>
          <p:nvPr/>
        </p:nvSpPr>
        <p:spPr>
          <a:xfrm>
            <a:off x="4114800" y="2230438"/>
            <a:ext cx="4038600" cy="3937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4, 7)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1B1AFA-325E-09F5-EDE7-55B4BB1EA82E}"/>
              </a:ext>
            </a:extLst>
          </p:cNvPr>
          <p:cNvSpPr/>
          <p:nvPr/>
        </p:nvSpPr>
        <p:spPr>
          <a:xfrm>
            <a:off x="42863" y="3849688"/>
            <a:ext cx="1981200" cy="4159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(0, 1)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8F4D4-D969-1B7B-D4D4-B6C6C0C0248F}"/>
              </a:ext>
            </a:extLst>
          </p:cNvPr>
          <p:cNvSpPr/>
          <p:nvPr/>
        </p:nvSpPr>
        <p:spPr>
          <a:xfrm>
            <a:off x="2085975" y="3843338"/>
            <a:ext cx="20574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(2, 3 )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079B91-36D8-E359-FC6A-0516054AE887}"/>
              </a:ext>
            </a:extLst>
          </p:cNvPr>
          <p:cNvSpPr/>
          <p:nvPr/>
        </p:nvSpPr>
        <p:spPr>
          <a:xfrm>
            <a:off x="4233863" y="3814763"/>
            <a:ext cx="1981200" cy="4572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(4, 5)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876758-5F5F-0A02-5F4F-F0098A458614}"/>
              </a:ext>
            </a:extLst>
          </p:cNvPr>
          <p:cNvSpPr/>
          <p:nvPr/>
        </p:nvSpPr>
        <p:spPr>
          <a:xfrm>
            <a:off x="6332538" y="3810000"/>
            <a:ext cx="1905000" cy="46355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(6, 7 )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7BCB0E-732D-6861-462E-A67EEBD9E989}"/>
              </a:ext>
            </a:extLst>
          </p:cNvPr>
          <p:cNvSpPr/>
          <p:nvPr/>
        </p:nvSpPr>
        <p:spPr>
          <a:xfrm>
            <a:off x="2133600" y="1724025"/>
            <a:ext cx="4038600" cy="442913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4, 7 )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DA1C5A-6B03-172D-46EE-9BFD6326329A}"/>
              </a:ext>
            </a:extLst>
          </p:cNvPr>
          <p:cNvSpPr/>
          <p:nvPr/>
        </p:nvSpPr>
        <p:spPr>
          <a:xfrm>
            <a:off x="0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(0,0)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D522D8-F9D8-9ED8-1B78-0052B7521675}"/>
              </a:ext>
            </a:extLst>
          </p:cNvPr>
          <p:cNvSpPr/>
          <p:nvPr/>
        </p:nvSpPr>
        <p:spPr>
          <a:xfrm>
            <a:off x="990600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(1,1)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220C07-5CFD-0460-3C4A-9F22267DD2DD}"/>
              </a:ext>
            </a:extLst>
          </p:cNvPr>
          <p:cNvSpPr/>
          <p:nvPr/>
        </p:nvSpPr>
        <p:spPr>
          <a:xfrm>
            <a:off x="2105025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(2,2)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736B94-5554-AE63-BDE2-9C7E71691C01}"/>
              </a:ext>
            </a:extLst>
          </p:cNvPr>
          <p:cNvSpPr/>
          <p:nvPr/>
        </p:nvSpPr>
        <p:spPr>
          <a:xfrm>
            <a:off x="3095625" y="5548313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(3,3)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E3C21D-9040-AA88-4E61-E2157E762038}"/>
              </a:ext>
            </a:extLst>
          </p:cNvPr>
          <p:cNvSpPr/>
          <p:nvPr/>
        </p:nvSpPr>
        <p:spPr>
          <a:xfrm>
            <a:off x="4238625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(4,4)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4EA52D-5087-6BBE-B106-EA648064B9A6}"/>
              </a:ext>
            </a:extLst>
          </p:cNvPr>
          <p:cNvSpPr/>
          <p:nvPr/>
        </p:nvSpPr>
        <p:spPr>
          <a:xfrm>
            <a:off x="5229225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(5,5)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AC783A-63CF-3166-C8E2-8B44878E19DC}"/>
              </a:ext>
            </a:extLst>
          </p:cNvPr>
          <p:cNvSpPr/>
          <p:nvPr/>
        </p:nvSpPr>
        <p:spPr>
          <a:xfrm>
            <a:off x="6345238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(6,6)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8C4B3A-91C6-F94E-225B-6DEFE962D118}"/>
              </a:ext>
            </a:extLst>
          </p:cNvPr>
          <p:cNvSpPr/>
          <p:nvPr/>
        </p:nvSpPr>
        <p:spPr>
          <a:xfrm>
            <a:off x="7335838" y="5543550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(7,7)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97F794-7622-F879-FD0E-DBB6C0226726}"/>
              </a:ext>
            </a:extLst>
          </p:cNvPr>
          <p:cNvSpPr/>
          <p:nvPr/>
        </p:nvSpPr>
        <p:spPr>
          <a:xfrm>
            <a:off x="228600" y="4357688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2, 3 )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8700DC-9DF7-B649-BDBA-B2D95F3936BB}"/>
              </a:ext>
            </a:extLst>
          </p:cNvPr>
          <p:cNvSpPr/>
          <p:nvPr/>
        </p:nvSpPr>
        <p:spPr>
          <a:xfrm>
            <a:off x="4267200" y="4343400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4, 6, 7 )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55E2C7-E8FF-5D15-C2AF-3505E1AB856B}"/>
              </a:ext>
            </a:extLst>
          </p:cNvPr>
          <p:cNvSpPr/>
          <p:nvPr/>
        </p:nvSpPr>
        <p:spPr>
          <a:xfrm>
            <a:off x="0" y="6110288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Merge(0, 1, 1 )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A25E82-C41C-AA1B-865A-FDE4961D7B8C}"/>
              </a:ext>
            </a:extLst>
          </p:cNvPr>
          <p:cNvSpPr/>
          <p:nvPr/>
        </p:nvSpPr>
        <p:spPr>
          <a:xfrm>
            <a:off x="2181225" y="6124575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Merge(2, 3, 3 )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31997B-9057-A5D6-6B1D-D854DE187DBB}"/>
              </a:ext>
            </a:extLst>
          </p:cNvPr>
          <p:cNvSpPr/>
          <p:nvPr/>
        </p:nvSpPr>
        <p:spPr>
          <a:xfrm>
            <a:off x="4267200" y="6124575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Merge(4, 5, 5 )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7B44908-818F-222E-BD9E-D4E3BC4D45AB}"/>
              </a:ext>
            </a:extLst>
          </p:cNvPr>
          <p:cNvSpPr/>
          <p:nvPr/>
        </p:nvSpPr>
        <p:spPr>
          <a:xfrm>
            <a:off x="6372225" y="6124575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Merge(6, 7, 7 )</a:t>
            </a:r>
          </a:p>
        </p:txBody>
      </p: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AB4491A0-5BF3-66AF-A8A5-CB4A2889DF48}"/>
              </a:ext>
            </a:extLst>
          </p:cNvPr>
          <p:cNvGraphicFramePr>
            <a:graphicFrameLocks/>
          </p:cNvGraphicFramePr>
          <p:nvPr/>
        </p:nvGraphicFramePr>
        <p:xfrm>
          <a:off x="73025" y="2700338"/>
          <a:ext cx="3875088" cy="381000"/>
        </p:xfrm>
        <a:graphic>
          <a:graphicData uri="http://schemas.openxmlformats.org/drawingml/2006/table">
            <a:tbl>
              <a:tblPr/>
              <a:tblGrid>
                <a:gridCol w="96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Group 3">
            <a:extLst>
              <a:ext uri="{FF2B5EF4-FFF2-40B4-BE49-F238E27FC236}">
                <a16:creationId xmlns:a16="http://schemas.microsoft.com/office/drawing/2014/main" id="{B1B5EA6D-767F-94AA-4B25-7527C238F1D0}"/>
              </a:ext>
            </a:extLst>
          </p:cNvPr>
          <p:cNvGraphicFramePr>
            <a:graphicFrameLocks/>
          </p:cNvGraphicFramePr>
          <p:nvPr/>
        </p:nvGraphicFramePr>
        <p:xfrm>
          <a:off x="4252913" y="2700338"/>
          <a:ext cx="3886200" cy="38100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1E90102A-3D6E-2DB4-38D5-B62F19F54B01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3352800"/>
          <a:ext cx="1600200" cy="3810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78B53CC3-8580-E427-E157-1E3867A977EA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3352800"/>
          <a:ext cx="1905000" cy="3810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DBC1BD61-E99E-2E45-625C-7F833EE1D120}"/>
              </a:ext>
            </a:extLst>
          </p:cNvPr>
          <p:cNvGraphicFramePr>
            <a:graphicFrameLocks noGrp="1"/>
          </p:cNvGraphicFramePr>
          <p:nvPr/>
        </p:nvGraphicFramePr>
        <p:xfrm>
          <a:off x="4289425" y="3332163"/>
          <a:ext cx="1752600" cy="381000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37265A22-C24D-97BA-0C92-1448E5A97A1D}"/>
              </a:ext>
            </a:extLst>
          </p:cNvPr>
          <p:cNvGraphicFramePr>
            <a:graphicFrameLocks noGrp="1"/>
          </p:cNvGraphicFramePr>
          <p:nvPr/>
        </p:nvGraphicFramePr>
        <p:xfrm>
          <a:off x="6138863" y="3346450"/>
          <a:ext cx="1943100" cy="38100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4AE210E6-CCC4-F15F-0D83-8EF745CCE3EF}"/>
              </a:ext>
            </a:extLst>
          </p:cNvPr>
          <p:cNvGraphicFramePr>
            <a:graphicFrameLocks noGrp="1"/>
          </p:cNvGraphicFramePr>
          <p:nvPr/>
        </p:nvGraphicFramePr>
        <p:xfrm>
          <a:off x="123825" y="5133975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9C34A421-4AD4-47DB-3617-39D2D71D41F1}"/>
              </a:ext>
            </a:extLst>
          </p:cNvPr>
          <p:cNvGraphicFramePr>
            <a:graphicFrameLocks noGrp="1"/>
          </p:cNvGraphicFramePr>
          <p:nvPr/>
        </p:nvGraphicFramePr>
        <p:xfrm>
          <a:off x="1076325" y="5133975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C344FF74-1CB5-5927-6B3D-2D1CFFCDB548}"/>
              </a:ext>
            </a:extLst>
          </p:cNvPr>
          <p:cNvGraphicFramePr>
            <a:graphicFrameLocks noGrp="1"/>
          </p:cNvGraphicFramePr>
          <p:nvPr/>
        </p:nvGraphicFramePr>
        <p:xfrm>
          <a:off x="2111375" y="5119688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30E3BA9B-84E6-F2AB-8A30-3F3CDA9132CF}"/>
              </a:ext>
            </a:extLst>
          </p:cNvPr>
          <p:cNvGraphicFramePr>
            <a:graphicFrameLocks noGrp="1"/>
          </p:cNvGraphicFramePr>
          <p:nvPr/>
        </p:nvGraphicFramePr>
        <p:xfrm>
          <a:off x="3157538" y="5119688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3E0CA9E2-8F60-28BE-D1FE-CC4290A335E3}"/>
              </a:ext>
            </a:extLst>
          </p:cNvPr>
          <p:cNvGraphicFramePr>
            <a:graphicFrameLocks noGrp="1"/>
          </p:cNvGraphicFramePr>
          <p:nvPr/>
        </p:nvGraphicFramePr>
        <p:xfrm>
          <a:off x="4295775" y="5105400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CC56EC38-398E-6BA7-90D0-5656A7175E8E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5091113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178025E2-EF0A-D29B-6F1E-5267D80BE4A3}"/>
              </a:ext>
            </a:extLst>
          </p:cNvPr>
          <p:cNvGraphicFramePr>
            <a:graphicFrameLocks noGrp="1"/>
          </p:cNvGraphicFramePr>
          <p:nvPr/>
        </p:nvGraphicFramePr>
        <p:xfrm>
          <a:off x="6413500" y="5099050"/>
          <a:ext cx="847725" cy="381000"/>
        </p:xfrm>
        <a:graphic>
          <a:graphicData uri="http://schemas.openxmlformats.org/drawingml/2006/table">
            <a:tbl>
              <a:tblPr/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87" marR="9148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03238544-1B2E-A4BF-56E9-55620DDC0041}"/>
              </a:ext>
            </a:extLst>
          </p:cNvPr>
          <p:cNvGraphicFramePr>
            <a:graphicFrameLocks noGrp="1"/>
          </p:cNvGraphicFramePr>
          <p:nvPr/>
        </p:nvGraphicFramePr>
        <p:xfrm>
          <a:off x="7399338" y="5091113"/>
          <a:ext cx="811212" cy="3810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70" marR="9147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8CE69BEF-D0B5-D598-C3A9-9AF70B2B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23031" name="Slide Number Placeholder 44">
            <a:extLst>
              <a:ext uri="{FF2B5EF4-FFF2-40B4-BE49-F238E27FC236}">
                <a16:creationId xmlns:a16="http://schemas.microsoft.com/office/drawing/2014/main" id="{2C9185E1-089B-D05A-CD6E-82C2EFE3F9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A9C509-D370-4098-8ACB-C8568367415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CE59639-8E7B-65D5-C79A-98883202A45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685800" y="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Merge Sort Example (Merging process)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5D731DE3-89FD-FE24-ED5D-3A8C68B83996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98425" y="1295400"/>
          <a:ext cx="8054975" cy="381000"/>
        </p:xfrm>
        <a:graphic>
          <a:graphicData uri="http://schemas.openxmlformats.org/drawingml/2006/table">
            <a:tbl>
              <a:tblPr/>
              <a:tblGrid>
                <a:gridCol w="100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FC77C9DF-8C47-1A7F-8666-F19FA2222396}"/>
              </a:ext>
            </a:extLst>
          </p:cNvPr>
          <p:cNvSpPr/>
          <p:nvPr/>
        </p:nvSpPr>
        <p:spPr>
          <a:xfrm>
            <a:off x="2819400" y="566738"/>
            <a:ext cx="2057400" cy="2714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Mergesort</a:t>
            </a:r>
            <a:r>
              <a:rPr lang="en-US" dirty="0">
                <a:solidFill>
                  <a:schemeClr val="tx1"/>
                </a:solidFill>
              </a:rPr>
              <a:t>(a, 8)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5650F5-7199-B80E-111F-EBB1FC06E955}"/>
              </a:ext>
            </a:extLst>
          </p:cNvPr>
          <p:cNvSpPr/>
          <p:nvPr/>
        </p:nvSpPr>
        <p:spPr>
          <a:xfrm>
            <a:off x="2286000" y="914400"/>
            <a:ext cx="3581400" cy="2762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7 )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F27802-BBD0-146A-D88A-ABD4CE86BC2A}"/>
              </a:ext>
            </a:extLst>
          </p:cNvPr>
          <p:cNvSpPr/>
          <p:nvPr/>
        </p:nvSpPr>
        <p:spPr>
          <a:xfrm>
            <a:off x="0" y="2159000"/>
            <a:ext cx="4038600" cy="271463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0, 3)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66B779-0D22-9598-BB35-CCD5DB2DACCF}"/>
              </a:ext>
            </a:extLst>
          </p:cNvPr>
          <p:cNvSpPr/>
          <p:nvPr/>
        </p:nvSpPr>
        <p:spPr>
          <a:xfrm>
            <a:off x="4114800" y="2146300"/>
            <a:ext cx="4038600" cy="284163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 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4, 7)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57E80C-20A1-B245-3ACE-5C90AEB5BBD4}"/>
              </a:ext>
            </a:extLst>
          </p:cNvPr>
          <p:cNvSpPr/>
          <p:nvPr/>
        </p:nvSpPr>
        <p:spPr>
          <a:xfrm>
            <a:off x="42863" y="3468688"/>
            <a:ext cx="1981200" cy="2460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(0, 1)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A93726-C287-649D-7193-EDCE41E78F2A}"/>
              </a:ext>
            </a:extLst>
          </p:cNvPr>
          <p:cNvSpPr/>
          <p:nvPr/>
        </p:nvSpPr>
        <p:spPr>
          <a:xfrm>
            <a:off x="2085975" y="3462338"/>
            <a:ext cx="2057400" cy="25082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(2, 3 )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D9EC3C-EBA6-199A-9AA3-ED86AB095156}"/>
              </a:ext>
            </a:extLst>
          </p:cNvPr>
          <p:cNvSpPr/>
          <p:nvPr/>
        </p:nvSpPr>
        <p:spPr>
          <a:xfrm>
            <a:off x="4233863" y="3433763"/>
            <a:ext cx="1981200" cy="2714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(4, 5)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7F8B5B-1E77-F103-C616-952F51E81B55}"/>
              </a:ext>
            </a:extLst>
          </p:cNvPr>
          <p:cNvSpPr/>
          <p:nvPr/>
        </p:nvSpPr>
        <p:spPr>
          <a:xfrm>
            <a:off x="6332538" y="3429000"/>
            <a:ext cx="1905000" cy="274638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>
                <a:solidFill>
                  <a:schemeClr val="tx1"/>
                </a:solidFill>
              </a:rPr>
              <a:t>m_sort</a:t>
            </a:r>
            <a:r>
              <a:rPr lang="en-US" dirty="0">
                <a:solidFill>
                  <a:schemeClr val="tx1"/>
                </a:solidFill>
              </a:rPr>
              <a:t>(6, 7 )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F1389E-77CC-510A-F20F-261016A9B9DD}"/>
              </a:ext>
            </a:extLst>
          </p:cNvPr>
          <p:cNvSpPr/>
          <p:nvPr/>
        </p:nvSpPr>
        <p:spPr>
          <a:xfrm>
            <a:off x="2133600" y="1724025"/>
            <a:ext cx="4038600" cy="3333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4, 7 )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E558E0-53E7-2BC3-813C-B10C25F30868}"/>
              </a:ext>
            </a:extLst>
          </p:cNvPr>
          <p:cNvSpPr/>
          <p:nvPr/>
        </p:nvSpPr>
        <p:spPr>
          <a:xfrm>
            <a:off x="0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(0,0)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AD011A-32DA-C729-09D6-C4F72CD63942}"/>
              </a:ext>
            </a:extLst>
          </p:cNvPr>
          <p:cNvSpPr/>
          <p:nvPr/>
        </p:nvSpPr>
        <p:spPr>
          <a:xfrm>
            <a:off x="990600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(1,1)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71F5B5-7769-83D9-FB8A-7818AAE9E653}"/>
              </a:ext>
            </a:extLst>
          </p:cNvPr>
          <p:cNvSpPr/>
          <p:nvPr/>
        </p:nvSpPr>
        <p:spPr>
          <a:xfrm>
            <a:off x="2105025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(2,2)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F9639D-972C-BA7C-3000-0FDF72DA8E49}"/>
              </a:ext>
            </a:extLst>
          </p:cNvPr>
          <p:cNvSpPr/>
          <p:nvPr/>
        </p:nvSpPr>
        <p:spPr>
          <a:xfrm>
            <a:off x="3095625" y="5284788"/>
            <a:ext cx="1066800" cy="423862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(3,3)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240007-DDC6-5AD6-976D-DD482C15C810}"/>
              </a:ext>
            </a:extLst>
          </p:cNvPr>
          <p:cNvSpPr/>
          <p:nvPr/>
        </p:nvSpPr>
        <p:spPr>
          <a:xfrm>
            <a:off x="4238625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(4,4)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9E48D7-9BCC-A025-E7A2-529A3BF5CC09}"/>
              </a:ext>
            </a:extLst>
          </p:cNvPr>
          <p:cNvSpPr/>
          <p:nvPr/>
        </p:nvSpPr>
        <p:spPr>
          <a:xfrm>
            <a:off x="5229225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(5,5)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80E5B5-2ED5-C4E9-9026-E55D236B275A}"/>
              </a:ext>
            </a:extLst>
          </p:cNvPr>
          <p:cNvSpPr/>
          <p:nvPr/>
        </p:nvSpPr>
        <p:spPr>
          <a:xfrm>
            <a:off x="6345238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(6,6)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E4A2AA-BAA5-9C2E-CFA2-C476B8238874}"/>
              </a:ext>
            </a:extLst>
          </p:cNvPr>
          <p:cNvSpPr/>
          <p:nvPr/>
        </p:nvSpPr>
        <p:spPr>
          <a:xfrm>
            <a:off x="7335838" y="5280025"/>
            <a:ext cx="1066800" cy="422275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200" b="1" dirty="0" err="1">
                <a:solidFill>
                  <a:schemeClr val="tx1"/>
                </a:solidFill>
              </a:rPr>
              <a:t>m_sort</a:t>
            </a:r>
            <a:r>
              <a:rPr lang="en-US" sz="1200" b="1" dirty="0">
                <a:solidFill>
                  <a:schemeClr val="tx1"/>
                </a:solidFill>
              </a:rPr>
              <a:t>(7,7)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A91BC4-DE6D-330A-8042-37CD965D7999}"/>
              </a:ext>
            </a:extLst>
          </p:cNvPr>
          <p:cNvSpPr/>
          <p:nvPr/>
        </p:nvSpPr>
        <p:spPr>
          <a:xfrm>
            <a:off x="228600" y="4433888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0, 2, 3 )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0F5837-D232-A93D-4BF3-30625C79ADB8}"/>
              </a:ext>
            </a:extLst>
          </p:cNvPr>
          <p:cNvSpPr/>
          <p:nvPr/>
        </p:nvSpPr>
        <p:spPr>
          <a:xfrm>
            <a:off x="4343400" y="4419600"/>
            <a:ext cx="3581400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Merge(a, </a:t>
            </a:r>
            <a:r>
              <a:rPr lang="en-US" dirty="0" err="1">
                <a:solidFill>
                  <a:schemeClr val="tx1"/>
                </a:solidFill>
              </a:rPr>
              <a:t>tmp_array</a:t>
            </a:r>
            <a:r>
              <a:rPr lang="en-US" dirty="0">
                <a:solidFill>
                  <a:schemeClr val="tx1"/>
                </a:solidFill>
              </a:rPr>
              <a:t>,  4, 6, 7 )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753C01-123C-7BB2-2392-6ED1E56EEC43}"/>
              </a:ext>
            </a:extLst>
          </p:cNvPr>
          <p:cNvSpPr/>
          <p:nvPr/>
        </p:nvSpPr>
        <p:spPr>
          <a:xfrm>
            <a:off x="0" y="5846763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Merge(0, 1, 1 )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58B8075-EE5C-D40E-AC08-29DD4B154BB9}"/>
              </a:ext>
            </a:extLst>
          </p:cNvPr>
          <p:cNvSpPr/>
          <p:nvPr/>
        </p:nvSpPr>
        <p:spPr>
          <a:xfrm>
            <a:off x="2181225" y="5861050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Merge(2, 3, 3 )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E3C8B0-67F6-CFC0-D4A7-A4BA8C27E686}"/>
              </a:ext>
            </a:extLst>
          </p:cNvPr>
          <p:cNvSpPr/>
          <p:nvPr/>
        </p:nvSpPr>
        <p:spPr>
          <a:xfrm>
            <a:off x="4267200" y="5861050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Merge(4, 5, 5 )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F75FDB-16C4-6169-78BF-393174DFA5FF}"/>
              </a:ext>
            </a:extLst>
          </p:cNvPr>
          <p:cNvSpPr/>
          <p:nvPr/>
        </p:nvSpPr>
        <p:spPr>
          <a:xfrm>
            <a:off x="6372225" y="5861050"/>
            <a:ext cx="1933575" cy="381000"/>
          </a:xfrm>
          <a:prstGeom prst="rect">
            <a:avLst/>
          </a:prstGeom>
          <a:solidFill>
            <a:schemeClr val="bg2"/>
          </a:solidFill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Merge(6, 7, 7 )</a:t>
            </a:r>
          </a:p>
        </p:txBody>
      </p:sp>
      <p:graphicFrame>
        <p:nvGraphicFramePr>
          <p:cNvPr id="42" name="Group 3">
            <a:extLst>
              <a:ext uri="{FF2B5EF4-FFF2-40B4-BE49-F238E27FC236}">
                <a16:creationId xmlns:a16="http://schemas.microsoft.com/office/drawing/2014/main" id="{EE2F8102-5256-E6E2-8EEB-BE84B0A47CFE}"/>
              </a:ext>
            </a:extLst>
          </p:cNvPr>
          <p:cNvGraphicFramePr>
            <a:graphicFrameLocks/>
          </p:cNvGraphicFramePr>
          <p:nvPr/>
        </p:nvGraphicFramePr>
        <p:xfrm>
          <a:off x="73025" y="2532063"/>
          <a:ext cx="3875088" cy="320675"/>
        </p:xfrm>
        <a:graphic>
          <a:graphicData uri="http://schemas.openxmlformats.org/drawingml/2006/table">
            <a:tbl>
              <a:tblPr/>
              <a:tblGrid>
                <a:gridCol w="96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Group 3">
            <a:extLst>
              <a:ext uri="{FF2B5EF4-FFF2-40B4-BE49-F238E27FC236}">
                <a16:creationId xmlns:a16="http://schemas.microsoft.com/office/drawing/2014/main" id="{83862F16-A7B9-5C99-8B1F-91A3754E0D5E}"/>
              </a:ext>
            </a:extLst>
          </p:cNvPr>
          <p:cNvGraphicFramePr>
            <a:graphicFrameLocks/>
          </p:cNvGraphicFramePr>
          <p:nvPr/>
        </p:nvGraphicFramePr>
        <p:xfrm>
          <a:off x="4252913" y="2532063"/>
          <a:ext cx="38862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902C1818-D9B5-3F0D-6F65-203DC4357EC2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3068638"/>
          <a:ext cx="1600200" cy="32067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76D198CB-D058-EF55-15BE-4303C6726ACC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3068638"/>
          <a:ext cx="1905000" cy="32067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E109903D-A5E9-4F81-4320-DAFA28053E3E}"/>
              </a:ext>
            </a:extLst>
          </p:cNvPr>
          <p:cNvGraphicFramePr>
            <a:graphicFrameLocks noGrp="1"/>
          </p:cNvGraphicFramePr>
          <p:nvPr/>
        </p:nvGraphicFramePr>
        <p:xfrm>
          <a:off x="4289425" y="3048000"/>
          <a:ext cx="1752600" cy="32067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88F90FC3-31C0-8810-D6EC-19663FEED217}"/>
              </a:ext>
            </a:extLst>
          </p:cNvPr>
          <p:cNvGraphicFramePr>
            <a:graphicFrameLocks noGrp="1"/>
          </p:cNvGraphicFramePr>
          <p:nvPr/>
        </p:nvGraphicFramePr>
        <p:xfrm>
          <a:off x="6138863" y="3062288"/>
          <a:ext cx="19431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755F0A3D-D217-1972-BEDA-801C87AA502D}"/>
              </a:ext>
            </a:extLst>
          </p:cNvPr>
          <p:cNvGraphicFramePr>
            <a:graphicFrameLocks noGrp="1"/>
          </p:cNvGraphicFramePr>
          <p:nvPr/>
        </p:nvGraphicFramePr>
        <p:xfrm>
          <a:off x="123825" y="4872038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7CD091AC-5F4A-6F90-E16F-15B33BF4FF1E}"/>
              </a:ext>
            </a:extLst>
          </p:cNvPr>
          <p:cNvGraphicFramePr>
            <a:graphicFrameLocks noGrp="1"/>
          </p:cNvGraphicFramePr>
          <p:nvPr/>
        </p:nvGraphicFramePr>
        <p:xfrm>
          <a:off x="1076325" y="4872038"/>
          <a:ext cx="800100" cy="35242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889C1E3C-9BDF-C1A0-DE5E-74410F616253}"/>
              </a:ext>
            </a:extLst>
          </p:cNvPr>
          <p:cNvGraphicFramePr>
            <a:graphicFrameLocks noGrp="1"/>
          </p:cNvGraphicFramePr>
          <p:nvPr/>
        </p:nvGraphicFramePr>
        <p:xfrm>
          <a:off x="2111375" y="4857750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DB4A029D-9150-17EE-CBDD-81E7545E02E7}"/>
              </a:ext>
            </a:extLst>
          </p:cNvPr>
          <p:cNvGraphicFramePr>
            <a:graphicFrameLocks noGrp="1"/>
          </p:cNvGraphicFramePr>
          <p:nvPr/>
        </p:nvGraphicFramePr>
        <p:xfrm>
          <a:off x="3157538" y="4857750"/>
          <a:ext cx="952500" cy="35242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0AE62F96-5C11-4CBE-4FE6-29D4FD1F6970}"/>
              </a:ext>
            </a:extLst>
          </p:cNvPr>
          <p:cNvGraphicFramePr>
            <a:graphicFrameLocks noGrp="1"/>
          </p:cNvGraphicFramePr>
          <p:nvPr/>
        </p:nvGraphicFramePr>
        <p:xfrm>
          <a:off x="4295775" y="4843463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3CC76D64-F768-A613-5CF5-F31E25D4FF58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4829175"/>
          <a:ext cx="876300" cy="35242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663" marB="4566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1AD1C4D6-4F9B-4174-FE76-F1FA5148B192}"/>
              </a:ext>
            </a:extLst>
          </p:cNvPr>
          <p:cNvGraphicFramePr>
            <a:graphicFrameLocks noGrp="1"/>
          </p:cNvGraphicFramePr>
          <p:nvPr/>
        </p:nvGraphicFramePr>
        <p:xfrm>
          <a:off x="6413500" y="4837113"/>
          <a:ext cx="847725" cy="381000"/>
        </p:xfrm>
        <a:graphic>
          <a:graphicData uri="http://schemas.openxmlformats.org/drawingml/2006/table">
            <a:tbl>
              <a:tblPr/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87" marR="9148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" name="Table 57">
            <a:extLst>
              <a:ext uri="{FF2B5EF4-FFF2-40B4-BE49-F238E27FC236}">
                <a16:creationId xmlns:a16="http://schemas.microsoft.com/office/drawing/2014/main" id="{7554C50B-FD5D-5A6C-5D33-29D7372D6FB6}"/>
              </a:ext>
            </a:extLst>
          </p:cNvPr>
          <p:cNvGraphicFramePr>
            <a:graphicFrameLocks noGrp="1"/>
          </p:cNvGraphicFramePr>
          <p:nvPr/>
        </p:nvGraphicFramePr>
        <p:xfrm>
          <a:off x="7399338" y="4829175"/>
          <a:ext cx="811212" cy="381000"/>
        </p:xfrm>
        <a:graphic>
          <a:graphicData uri="http://schemas.openxmlformats.org/drawingml/2006/table">
            <a:tbl>
              <a:tblPr/>
              <a:tblGrid>
                <a:gridCol w="811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70" marR="9147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D1EDACCB-E9BB-5C53-D120-CE12C3FC6781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6384925"/>
          <a:ext cx="1600200" cy="32067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4CE46DC0-912C-B355-8CC2-FCEA22F9119E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6400800"/>
          <a:ext cx="1905000" cy="320675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" name="Group 3">
            <a:extLst>
              <a:ext uri="{FF2B5EF4-FFF2-40B4-BE49-F238E27FC236}">
                <a16:creationId xmlns:a16="http://schemas.microsoft.com/office/drawing/2014/main" id="{B3656394-1167-F760-AEAA-44811A1B8B36}"/>
              </a:ext>
            </a:extLst>
          </p:cNvPr>
          <p:cNvGraphicFramePr>
            <a:graphicFrameLocks/>
          </p:cNvGraphicFramePr>
          <p:nvPr/>
        </p:nvGraphicFramePr>
        <p:xfrm>
          <a:off x="152400" y="3981450"/>
          <a:ext cx="3875088" cy="320675"/>
        </p:xfrm>
        <a:graphic>
          <a:graphicData uri="http://schemas.openxmlformats.org/drawingml/2006/table">
            <a:tbl>
              <a:tblPr/>
              <a:tblGrid>
                <a:gridCol w="968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Group 3">
            <a:extLst>
              <a:ext uri="{FF2B5EF4-FFF2-40B4-BE49-F238E27FC236}">
                <a16:creationId xmlns:a16="http://schemas.microsoft.com/office/drawing/2014/main" id="{052EF176-5DE7-56B8-3FB8-0BC876320954}"/>
              </a:ext>
            </a:extLst>
          </p:cNvPr>
          <p:cNvGraphicFramePr>
            <a:graphicFrameLocks/>
          </p:cNvGraphicFramePr>
          <p:nvPr/>
        </p:nvGraphicFramePr>
        <p:xfrm>
          <a:off x="4267200" y="3960813"/>
          <a:ext cx="38862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F3A1AE83-5131-55D2-8587-9932EFA240A4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6384925"/>
          <a:ext cx="1752600" cy="320675"/>
        </p:xfrm>
        <a:graphic>
          <a:graphicData uri="http://schemas.openxmlformats.org/drawingml/2006/table">
            <a:tbl>
              <a:tblPr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BB156A21-0504-EA80-D790-FADF0C8B516A}"/>
              </a:ext>
            </a:extLst>
          </p:cNvPr>
          <p:cNvGraphicFramePr>
            <a:graphicFrameLocks noGrp="1"/>
          </p:cNvGraphicFramePr>
          <p:nvPr/>
        </p:nvGraphicFramePr>
        <p:xfrm>
          <a:off x="6116638" y="6372225"/>
          <a:ext cx="1943100" cy="320675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Group 3">
            <a:extLst>
              <a:ext uri="{FF2B5EF4-FFF2-40B4-BE49-F238E27FC236}">
                <a16:creationId xmlns:a16="http://schemas.microsoft.com/office/drawing/2014/main" id="{9169F9CB-36AF-8CA2-129B-3A33D3C84014}"/>
              </a:ext>
            </a:extLst>
          </p:cNvPr>
          <p:cNvGraphicFramePr>
            <a:graphicFrameLocks/>
          </p:cNvGraphicFramePr>
          <p:nvPr/>
        </p:nvGraphicFramePr>
        <p:xfrm>
          <a:off x="76200" y="1316038"/>
          <a:ext cx="8054975" cy="381000"/>
        </p:xfrm>
        <a:graphic>
          <a:graphicData uri="http://schemas.openxmlformats.org/drawingml/2006/table">
            <a:tbl>
              <a:tblPr/>
              <a:tblGrid>
                <a:gridCol w="100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B4E16E2-6788-F814-AF0B-C243F9D394BB}"/>
              </a:ext>
            </a:extLst>
          </p:cNvPr>
          <p:cNvCxnSpPr/>
          <p:nvPr/>
        </p:nvCxnSpPr>
        <p:spPr>
          <a:xfrm rot="16200000" flipV="1">
            <a:off x="114300" y="4305300"/>
            <a:ext cx="152400" cy="76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3230341-562F-B115-E34D-051427BA7D3B}"/>
              </a:ext>
            </a:extLst>
          </p:cNvPr>
          <p:cNvCxnSpPr/>
          <p:nvPr/>
        </p:nvCxnSpPr>
        <p:spPr>
          <a:xfrm flipV="1">
            <a:off x="3810000" y="4267200"/>
            <a:ext cx="228600" cy="1524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FD0F4C9-3134-89E9-6074-837E3C9A0937}"/>
              </a:ext>
            </a:extLst>
          </p:cNvPr>
          <p:cNvCxnSpPr/>
          <p:nvPr/>
        </p:nvCxnSpPr>
        <p:spPr>
          <a:xfrm rot="16200000" flipV="1">
            <a:off x="4229100" y="4305300"/>
            <a:ext cx="152400" cy="762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95BF645-AF85-9A7B-D3F0-48A4F84165D5}"/>
              </a:ext>
            </a:extLst>
          </p:cNvPr>
          <p:cNvCxnSpPr/>
          <p:nvPr/>
        </p:nvCxnSpPr>
        <p:spPr>
          <a:xfrm flipV="1">
            <a:off x="7924800" y="4267200"/>
            <a:ext cx="228600" cy="1524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A5FDA68-F0A0-BE39-7F8E-0E4BD638813A}"/>
              </a:ext>
            </a:extLst>
          </p:cNvPr>
          <p:cNvCxnSpPr/>
          <p:nvPr/>
        </p:nvCxnSpPr>
        <p:spPr>
          <a:xfrm rot="10800000">
            <a:off x="76200" y="1676400"/>
            <a:ext cx="2057400" cy="381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850D57B-D6E9-27DD-AA68-89D1B7861F9A}"/>
              </a:ext>
            </a:extLst>
          </p:cNvPr>
          <p:cNvCxnSpPr/>
          <p:nvPr/>
        </p:nvCxnSpPr>
        <p:spPr>
          <a:xfrm flipV="1">
            <a:off x="6172200" y="1676400"/>
            <a:ext cx="1981200" cy="38100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Footer Placeholder 68">
            <a:extLst>
              <a:ext uri="{FF2B5EF4-FFF2-40B4-BE49-F238E27FC236}">
                <a16:creationId xmlns:a16="http://schemas.microsoft.com/office/drawing/2014/main" id="{E39D32A9-E5F7-5749-E44E-8882BA0D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25161" name="Slide Number Placeholder 69">
            <a:extLst>
              <a:ext uri="{FF2B5EF4-FFF2-40B4-BE49-F238E27FC236}">
                <a16:creationId xmlns:a16="http://schemas.microsoft.com/office/drawing/2014/main" id="{A215A997-2299-EE0C-951A-E96136EAEE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229868-7E3E-4FDE-9B23-535ADC7F373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24" grpId="0" animBg="1"/>
      <p:bldP spid="26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02A5085D-585E-70DE-1DC7-ED180E5CFB1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0ACBFF50-D8E7-67EE-57DB-DA93E78A7F62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6999" name="TextBox 7">
            <a:extLst>
              <a:ext uri="{FF2B5EF4-FFF2-40B4-BE49-F238E27FC236}">
                <a16:creationId xmlns:a16="http://schemas.microsoft.com/office/drawing/2014/main" id="{D2202DB9-CB12-F191-23C7-44585301E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A947C5-97F8-EEE6-3E05-24FA3FB50D5F}"/>
              </a:ext>
            </a:extLst>
          </p:cNvPr>
          <p:cNvCxnSpPr/>
          <p:nvPr/>
        </p:nvCxnSpPr>
        <p:spPr>
          <a:xfrm rot="5400000" flipH="1" flipV="1">
            <a:off x="9913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01" name="TextBox 13">
            <a:extLst>
              <a:ext uri="{FF2B5EF4-FFF2-40B4-BE49-F238E27FC236}">
                <a16:creationId xmlns:a16="http://schemas.microsoft.com/office/drawing/2014/main" id="{69AA31EF-3FDD-8155-92F6-0E8B7B4E6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1871663"/>
            <a:ext cx="582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96D246-A459-2766-1335-7AF15064FE26}"/>
              </a:ext>
            </a:extLst>
          </p:cNvPr>
          <p:cNvCxnSpPr/>
          <p:nvPr/>
        </p:nvCxnSpPr>
        <p:spPr>
          <a:xfrm rot="5400000" flipH="1" flipV="1">
            <a:off x="4039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781D20-8EEE-352B-8119-A80EBF8A3220}"/>
              </a:ext>
            </a:extLst>
          </p:cNvPr>
          <p:cNvCxnSpPr/>
          <p:nvPr/>
        </p:nvCxnSpPr>
        <p:spPr>
          <a:xfrm rot="5400000" flipH="1" flipV="1">
            <a:off x="989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004" name="TextBox 17">
            <a:extLst>
              <a:ext uri="{FF2B5EF4-FFF2-40B4-BE49-F238E27FC236}">
                <a16:creationId xmlns:a16="http://schemas.microsoft.com/office/drawing/2014/main" id="{87AC816E-1DC0-5CAC-F8B5-99541B104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22" name="Group 3">
            <a:extLst>
              <a:ext uri="{FF2B5EF4-FFF2-40B4-BE49-F238E27FC236}">
                <a16:creationId xmlns:a16="http://schemas.microsoft.com/office/drawing/2014/main" id="{0D498815-778E-63C6-5E7C-5A5E30590192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Group 3">
            <a:extLst>
              <a:ext uri="{FF2B5EF4-FFF2-40B4-BE49-F238E27FC236}">
                <a16:creationId xmlns:a16="http://schemas.microsoft.com/office/drawing/2014/main" id="{F07C0D6B-F435-207A-81C5-69896F069257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Group 3">
            <a:extLst>
              <a:ext uri="{FF2B5EF4-FFF2-40B4-BE49-F238E27FC236}">
                <a16:creationId xmlns:a16="http://schemas.microsoft.com/office/drawing/2014/main" id="{B7646783-C3D5-9444-9A02-0827666C9A04}"/>
              </a:ext>
            </a:extLst>
          </p:cNvPr>
          <p:cNvGraphicFramePr>
            <a:graphicFrameLocks/>
          </p:cNvGraphicFramePr>
          <p:nvPr/>
        </p:nvGraphicFramePr>
        <p:xfrm>
          <a:off x="98425" y="4648200"/>
          <a:ext cx="8054975" cy="381000"/>
        </p:xfrm>
        <a:graphic>
          <a:graphicData uri="http://schemas.openxmlformats.org/drawingml/2006/table">
            <a:tbl>
              <a:tblPr/>
              <a:tblGrid>
                <a:gridCol w="100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68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L="91441" marR="9144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269C313-2AB8-2CC6-2BF2-E42372CC6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27050" name="Slide Number Placeholder 14">
            <a:extLst>
              <a:ext uri="{FF2B5EF4-FFF2-40B4-BE49-F238E27FC236}">
                <a16:creationId xmlns:a16="http://schemas.microsoft.com/office/drawing/2014/main" id="{6AF312F5-8859-4D3D-BFC2-184DA22D62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170539-279D-4601-BC1D-A8B59E954886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1475D023-4D20-B594-61B6-3812A5E5E6E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91B2A6A8-25D0-4EBD-A308-DC7C5DD69EB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9047" name="TextBox 7">
            <a:extLst>
              <a:ext uri="{FF2B5EF4-FFF2-40B4-BE49-F238E27FC236}">
                <a16:creationId xmlns:a16="http://schemas.microsoft.com/office/drawing/2014/main" id="{77813597-093B-F830-E035-C8D6851FB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125B28-50C5-FED0-0900-46DB5B8E6D0B}"/>
              </a:ext>
            </a:extLst>
          </p:cNvPr>
          <p:cNvCxnSpPr/>
          <p:nvPr/>
        </p:nvCxnSpPr>
        <p:spPr>
          <a:xfrm rot="5400000" flipH="1" flipV="1">
            <a:off x="9913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049" name="TextBox 13">
            <a:extLst>
              <a:ext uri="{FF2B5EF4-FFF2-40B4-BE49-F238E27FC236}">
                <a16:creationId xmlns:a16="http://schemas.microsoft.com/office/drawing/2014/main" id="{816CF068-E0E1-D16F-D15C-6FBC26B2E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1871663"/>
            <a:ext cx="582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5B058A-EEEC-E815-CF1A-0B777F9D2D5B}"/>
              </a:ext>
            </a:extLst>
          </p:cNvPr>
          <p:cNvCxnSpPr/>
          <p:nvPr/>
        </p:nvCxnSpPr>
        <p:spPr>
          <a:xfrm rot="5400000" flipH="1" flipV="1">
            <a:off x="48775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801CFC-271C-752A-D6B2-5ACB18B8D710}"/>
              </a:ext>
            </a:extLst>
          </p:cNvPr>
          <p:cNvCxnSpPr/>
          <p:nvPr/>
        </p:nvCxnSpPr>
        <p:spPr>
          <a:xfrm rot="5400000" flipH="1" flipV="1">
            <a:off x="1751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052" name="TextBox 17">
            <a:extLst>
              <a:ext uri="{FF2B5EF4-FFF2-40B4-BE49-F238E27FC236}">
                <a16:creationId xmlns:a16="http://schemas.microsoft.com/office/drawing/2014/main" id="{9A0C8240-377F-9D9D-4489-9E5C846A6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22" name="Group 3">
            <a:extLst>
              <a:ext uri="{FF2B5EF4-FFF2-40B4-BE49-F238E27FC236}">
                <a16:creationId xmlns:a16="http://schemas.microsoft.com/office/drawing/2014/main" id="{2061CAA1-FBE7-5229-0F21-FCA4B8A55A31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Group 3">
            <a:extLst>
              <a:ext uri="{FF2B5EF4-FFF2-40B4-BE49-F238E27FC236}">
                <a16:creationId xmlns:a16="http://schemas.microsoft.com/office/drawing/2014/main" id="{1DE02EE8-51D2-3EA5-4F4F-E5A18730F897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C8CF29C-9496-4B56-3A94-8F7E3D23F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29078" name="Slide Number Placeholder 13">
            <a:extLst>
              <a:ext uri="{FF2B5EF4-FFF2-40B4-BE49-F238E27FC236}">
                <a16:creationId xmlns:a16="http://schemas.microsoft.com/office/drawing/2014/main" id="{F50CE0A7-84EB-5C9E-5550-14A6DEE6A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11BF694-2A75-40E7-A8D6-9953DBD5518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840F6866-11B2-BBD6-4D9B-F2F120602A8A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D27428CC-8C79-91EF-8C68-7140EB50801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1095" name="TextBox 7">
            <a:extLst>
              <a:ext uri="{FF2B5EF4-FFF2-40B4-BE49-F238E27FC236}">
                <a16:creationId xmlns:a16="http://schemas.microsoft.com/office/drawing/2014/main" id="{6A67520E-2CDA-7E86-0CD7-E5D53ADEE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5EA030-4CFA-9DF8-1C90-5F6CBFF9C4BF}"/>
              </a:ext>
            </a:extLst>
          </p:cNvPr>
          <p:cNvCxnSpPr/>
          <p:nvPr/>
        </p:nvCxnSpPr>
        <p:spPr>
          <a:xfrm rot="5400000" flipH="1" flipV="1">
            <a:off x="1627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D07E21-C2D8-1A16-CECF-EA2FC49DC468}"/>
              </a:ext>
            </a:extLst>
          </p:cNvPr>
          <p:cNvCxnSpPr/>
          <p:nvPr/>
        </p:nvCxnSpPr>
        <p:spPr>
          <a:xfrm rot="5400000" flipH="1" flipV="1">
            <a:off x="4801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0BFBA55-909F-420C-979A-54850E94CF7A}"/>
              </a:ext>
            </a:extLst>
          </p:cNvPr>
          <p:cNvCxnSpPr/>
          <p:nvPr/>
        </p:nvCxnSpPr>
        <p:spPr>
          <a:xfrm rot="5400000" flipH="1" flipV="1">
            <a:off x="25534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099" name="TextBox 17">
            <a:extLst>
              <a:ext uri="{FF2B5EF4-FFF2-40B4-BE49-F238E27FC236}">
                <a16:creationId xmlns:a16="http://schemas.microsoft.com/office/drawing/2014/main" id="{F1E241F8-1940-CC97-B13E-7D049E0A1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0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62D93A58-689E-F6E5-EDE1-896DE4AF0708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5E94F78A-5E16-6DBE-72D4-60A98BCC6731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1124" name="TextBox 13">
            <a:extLst>
              <a:ext uri="{FF2B5EF4-FFF2-40B4-BE49-F238E27FC236}">
                <a16:creationId xmlns:a16="http://schemas.microsoft.com/office/drawing/2014/main" id="{249B92D7-0F83-B827-6632-F34B926EA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F5049034-5230-3B16-2A57-6B548D99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31126" name="Slide Number Placeholder 17">
            <a:extLst>
              <a:ext uri="{FF2B5EF4-FFF2-40B4-BE49-F238E27FC236}">
                <a16:creationId xmlns:a16="http://schemas.microsoft.com/office/drawing/2014/main" id="{35963BFC-9068-CCB2-7F7F-33A4ACF44F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C74E15-2589-4FE3-88C6-A7874522701E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CFDAD527-7D9B-5779-A0C0-50E95D407DDD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2708DC6F-C492-F67B-AD11-5206486628B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143" name="TextBox 7">
            <a:extLst>
              <a:ext uri="{FF2B5EF4-FFF2-40B4-BE49-F238E27FC236}">
                <a16:creationId xmlns:a16="http://schemas.microsoft.com/office/drawing/2014/main" id="{01E7A54F-D70B-D1C1-CE74-2F4AD6870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4FE6D7-2D57-0464-8987-B69A37884766}"/>
              </a:ext>
            </a:extLst>
          </p:cNvPr>
          <p:cNvCxnSpPr/>
          <p:nvPr/>
        </p:nvCxnSpPr>
        <p:spPr>
          <a:xfrm rot="5400000" flipH="1" flipV="1">
            <a:off x="1627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1C2143-37BF-B0AB-F9D6-2A1F7E68CCB0}"/>
              </a:ext>
            </a:extLst>
          </p:cNvPr>
          <p:cNvCxnSpPr/>
          <p:nvPr/>
        </p:nvCxnSpPr>
        <p:spPr>
          <a:xfrm rot="5400000" flipH="1" flipV="1">
            <a:off x="5563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F32593-C865-9E78-5AC6-CDDD998A614C}"/>
              </a:ext>
            </a:extLst>
          </p:cNvPr>
          <p:cNvCxnSpPr/>
          <p:nvPr/>
        </p:nvCxnSpPr>
        <p:spPr>
          <a:xfrm rot="5400000" flipH="1" flipV="1">
            <a:off x="3239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47" name="TextBox 17">
            <a:extLst>
              <a:ext uri="{FF2B5EF4-FFF2-40B4-BE49-F238E27FC236}">
                <a16:creationId xmlns:a16="http://schemas.microsoft.com/office/drawing/2014/main" id="{09EF4083-F3E7-0F14-7DC1-F39C0F5E6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ECC38806-2F60-E32D-731E-41598A0F37C6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C4417D4D-D146-424F-8E73-FC84CBB675F8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172" name="TextBox 13">
            <a:extLst>
              <a:ext uri="{FF2B5EF4-FFF2-40B4-BE49-F238E27FC236}">
                <a16:creationId xmlns:a16="http://schemas.microsoft.com/office/drawing/2014/main" id="{3F7541CB-FEF7-3436-F7BA-CCBC66D74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4EB1B95-49D9-B30A-E41B-617B2342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33174" name="Slide Number Placeholder 17">
            <a:extLst>
              <a:ext uri="{FF2B5EF4-FFF2-40B4-BE49-F238E27FC236}">
                <a16:creationId xmlns:a16="http://schemas.microsoft.com/office/drawing/2014/main" id="{6D94D7BA-23A0-D280-E346-9094756C0E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C36343-8FEA-4D26-8DC3-F16BA7016202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98634C17-5398-79EC-005C-AE2B8B34D9E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083F3653-C9DB-93A5-6949-62EC8CF8F2E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5191" name="TextBox 7">
            <a:extLst>
              <a:ext uri="{FF2B5EF4-FFF2-40B4-BE49-F238E27FC236}">
                <a16:creationId xmlns:a16="http://schemas.microsoft.com/office/drawing/2014/main" id="{4FBAEEA5-A77A-64DD-9138-23A37929F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81C0E4-3081-B1DC-7946-837AC240C15E}"/>
              </a:ext>
            </a:extLst>
          </p:cNvPr>
          <p:cNvCxnSpPr/>
          <p:nvPr/>
        </p:nvCxnSpPr>
        <p:spPr>
          <a:xfrm rot="5400000" flipH="1" flipV="1">
            <a:off x="1627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B0B0C6-183F-7885-B414-9150AAD924C5}"/>
              </a:ext>
            </a:extLst>
          </p:cNvPr>
          <p:cNvCxnSpPr/>
          <p:nvPr/>
        </p:nvCxnSpPr>
        <p:spPr>
          <a:xfrm rot="5400000" flipH="1" flipV="1">
            <a:off x="6325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60039EC-53F5-425B-4A17-E104F34BDCB7}"/>
              </a:ext>
            </a:extLst>
          </p:cNvPr>
          <p:cNvCxnSpPr/>
          <p:nvPr/>
        </p:nvCxnSpPr>
        <p:spPr>
          <a:xfrm rot="5400000" flipH="1" flipV="1">
            <a:off x="4001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195" name="TextBox 17">
            <a:extLst>
              <a:ext uri="{FF2B5EF4-FFF2-40B4-BE49-F238E27FC236}">
                <a16:creationId xmlns:a16="http://schemas.microsoft.com/office/drawing/2014/main" id="{418133C1-9EAA-535A-464F-5C9F9C75E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0201CD86-5292-EEB7-32A2-FABF417D1788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09681299-50A1-1E16-171A-814EA699DD30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5220" name="TextBox 13">
            <a:extLst>
              <a:ext uri="{FF2B5EF4-FFF2-40B4-BE49-F238E27FC236}">
                <a16:creationId xmlns:a16="http://schemas.microsoft.com/office/drawing/2014/main" id="{1152A906-831C-A2D0-D39E-F52481E95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3E708F-56EF-729E-D7B4-D2D1DA7D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35222" name="Slide Number Placeholder 17">
            <a:extLst>
              <a:ext uri="{FF2B5EF4-FFF2-40B4-BE49-F238E27FC236}">
                <a16:creationId xmlns:a16="http://schemas.microsoft.com/office/drawing/2014/main" id="{5ADB6293-1A67-7AE6-CBED-5CA4357CB9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C3CEAB-ECDE-4E14-943D-E68A3D0953AB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52BB23D6-8C17-771F-7647-DEEE0E384DD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C51EEA0E-CC0F-D687-DF4C-3E4D1C7F21A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7239" name="TextBox 7">
            <a:extLst>
              <a:ext uri="{FF2B5EF4-FFF2-40B4-BE49-F238E27FC236}">
                <a16:creationId xmlns:a16="http://schemas.microsoft.com/office/drawing/2014/main" id="{AC1480D9-BAA7-759E-4F0A-FE870C554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D98572-1058-64CC-DC98-392151C37170}"/>
              </a:ext>
            </a:extLst>
          </p:cNvPr>
          <p:cNvCxnSpPr/>
          <p:nvPr/>
        </p:nvCxnSpPr>
        <p:spPr>
          <a:xfrm rot="5400000" flipH="1" flipV="1">
            <a:off x="2389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71C967-18AF-CCB8-E660-1EE0879269C3}"/>
              </a:ext>
            </a:extLst>
          </p:cNvPr>
          <p:cNvCxnSpPr/>
          <p:nvPr/>
        </p:nvCxnSpPr>
        <p:spPr>
          <a:xfrm rot="5400000" flipH="1" flipV="1">
            <a:off x="6325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F71197-D69B-9C88-8AB7-DACF1E552CB1}"/>
              </a:ext>
            </a:extLst>
          </p:cNvPr>
          <p:cNvCxnSpPr/>
          <p:nvPr/>
        </p:nvCxnSpPr>
        <p:spPr>
          <a:xfrm rot="5400000" flipH="1" flipV="1">
            <a:off x="4763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243" name="TextBox 17">
            <a:extLst>
              <a:ext uri="{FF2B5EF4-FFF2-40B4-BE49-F238E27FC236}">
                <a16:creationId xmlns:a16="http://schemas.microsoft.com/office/drawing/2014/main" id="{212F2FD5-F7DB-C553-0376-39185A18B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2430D85D-13A6-FF79-C6B3-0B98AA99DFD1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615ACD1C-243C-04BD-83F7-15ECA2B2F9FC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7268" name="TextBox 13">
            <a:extLst>
              <a:ext uri="{FF2B5EF4-FFF2-40B4-BE49-F238E27FC236}">
                <a16:creationId xmlns:a16="http://schemas.microsoft.com/office/drawing/2014/main" id="{8A9AFA7D-9496-D887-0F48-C8FE4B3AC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2076FBD-DEAE-C999-4BD2-AECE2175E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37270" name="Slide Number Placeholder 17">
            <a:extLst>
              <a:ext uri="{FF2B5EF4-FFF2-40B4-BE49-F238E27FC236}">
                <a16:creationId xmlns:a16="http://schemas.microsoft.com/office/drawing/2014/main" id="{328FFB13-AFD1-9F8B-E65F-531F5F9F79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465BE1-A5DD-4B6F-9B10-667C90465E4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0E342A02-BFFA-3BCF-0926-CFD6232F96FD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16E8A539-0C50-B1BE-99A2-9603685E520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9287" name="TextBox 7">
            <a:extLst>
              <a:ext uri="{FF2B5EF4-FFF2-40B4-BE49-F238E27FC236}">
                <a16:creationId xmlns:a16="http://schemas.microsoft.com/office/drawing/2014/main" id="{E0CAAADC-D7A6-54CB-AF76-080474507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8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92FFA4-A33F-FD39-6615-016CD510F6D0}"/>
              </a:ext>
            </a:extLst>
          </p:cNvPr>
          <p:cNvCxnSpPr/>
          <p:nvPr/>
        </p:nvCxnSpPr>
        <p:spPr>
          <a:xfrm rot="5400000" flipH="1" flipV="1">
            <a:off x="3151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C4E36CB-F6CE-3657-8478-1FB45DC4D378}"/>
              </a:ext>
            </a:extLst>
          </p:cNvPr>
          <p:cNvCxnSpPr/>
          <p:nvPr/>
        </p:nvCxnSpPr>
        <p:spPr>
          <a:xfrm rot="5400000" flipH="1" flipV="1">
            <a:off x="6325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D39C27-D6A6-7037-E125-4513B1ACA31C}"/>
              </a:ext>
            </a:extLst>
          </p:cNvPr>
          <p:cNvCxnSpPr/>
          <p:nvPr/>
        </p:nvCxnSpPr>
        <p:spPr>
          <a:xfrm rot="5400000" flipH="1" flipV="1">
            <a:off x="54490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91" name="TextBox 17">
            <a:extLst>
              <a:ext uri="{FF2B5EF4-FFF2-40B4-BE49-F238E27FC236}">
                <a16:creationId xmlns:a16="http://schemas.microsoft.com/office/drawing/2014/main" id="{4FFB79B6-5313-66FF-4AC6-64BCD8892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CF044AAF-F4C0-84D2-7200-F6C9E923CC0A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772CDEA2-BD1E-7F0F-DB9C-18A7A5B41465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9316" name="TextBox 13">
            <a:extLst>
              <a:ext uri="{FF2B5EF4-FFF2-40B4-BE49-F238E27FC236}">
                <a16:creationId xmlns:a16="http://schemas.microsoft.com/office/drawing/2014/main" id="{C62E2D7D-4893-6D35-6E5E-E852FDD32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A8D126-8A54-A96F-2F5E-4ED8EF1F5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39318" name="Slide Number Placeholder 17">
            <a:extLst>
              <a:ext uri="{FF2B5EF4-FFF2-40B4-BE49-F238E27FC236}">
                <a16:creationId xmlns:a16="http://schemas.microsoft.com/office/drawing/2014/main" id="{FB4486AF-1A09-E208-2E98-AC3C809414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71D683-3467-4ED5-9A28-80C20F538F6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7B4A71B8-E8B3-DF48-08C2-F2E81FB603CD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0B1D2571-7609-911B-8015-F4FC7C7969A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335" name="TextBox 7">
            <a:extLst>
              <a:ext uri="{FF2B5EF4-FFF2-40B4-BE49-F238E27FC236}">
                <a16:creationId xmlns:a16="http://schemas.microsoft.com/office/drawing/2014/main" id="{D33A50AD-1C61-90E7-DC86-A2C7B6F8B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79A57D5-9D46-6488-5F6A-D53111B446A8}"/>
              </a:ext>
            </a:extLst>
          </p:cNvPr>
          <p:cNvCxnSpPr/>
          <p:nvPr/>
        </p:nvCxnSpPr>
        <p:spPr>
          <a:xfrm rot="5400000" flipH="1" flipV="1">
            <a:off x="3629819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219FD3-8250-0E39-75AF-86F1CCD13023}"/>
              </a:ext>
            </a:extLst>
          </p:cNvPr>
          <p:cNvCxnSpPr/>
          <p:nvPr/>
        </p:nvCxnSpPr>
        <p:spPr>
          <a:xfrm rot="5400000" flipH="1" flipV="1">
            <a:off x="63253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DB0E784-F274-A981-BD6B-89DC531ECD8A}"/>
              </a:ext>
            </a:extLst>
          </p:cNvPr>
          <p:cNvCxnSpPr/>
          <p:nvPr/>
        </p:nvCxnSpPr>
        <p:spPr>
          <a:xfrm rot="5400000" flipH="1" flipV="1">
            <a:off x="62110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339" name="TextBox 17">
            <a:extLst>
              <a:ext uri="{FF2B5EF4-FFF2-40B4-BE49-F238E27FC236}">
                <a16:creationId xmlns:a16="http://schemas.microsoft.com/office/drawing/2014/main" id="{0E06201D-1468-CB58-82A3-6B85DEA35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56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B1C64467-12DC-A301-C833-B4C198410BCE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8DE680F1-08B1-1CB2-3F3B-4AD07BA861E4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364" name="TextBox 13">
            <a:extLst>
              <a:ext uri="{FF2B5EF4-FFF2-40B4-BE49-F238E27FC236}">
                <a16:creationId xmlns:a16="http://schemas.microsoft.com/office/drawing/2014/main" id="{44007AC9-B3E9-59A0-488B-A70B43902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91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9372D32-8557-CF61-BA89-F9451E24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1366" name="Slide Number Placeholder 17">
            <a:extLst>
              <a:ext uri="{FF2B5EF4-FFF2-40B4-BE49-F238E27FC236}">
                <a16:creationId xmlns:a16="http://schemas.microsoft.com/office/drawing/2014/main" id="{1108F7F8-DCE5-460E-34C9-C8EE8183E6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BB8621-A06A-49DF-A3B0-93F21AB60A4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E7F6AA91-4373-158A-3E22-8294D83F89B0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Merge Sort : Example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9D409043-1FCB-0643-2AE9-343D000847C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3383" name="TextBox 7">
            <a:extLst>
              <a:ext uri="{FF2B5EF4-FFF2-40B4-BE49-F238E27FC236}">
                <a16:creationId xmlns:a16="http://schemas.microsoft.com/office/drawing/2014/main" id="{2063F326-3CAB-658F-E82D-A8AA9C236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aptr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1DE8EB-2D84-2169-1915-AF21B88F2B57}"/>
              </a:ext>
            </a:extLst>
          </p:cNvPr>
          <p:cNvCxnSpPr/>
          <p:nvPr/>
        </p:nvCxnSpPr>
        <p:spPr>
          <a:xfrm rot="5400000" flipH="1" flipV="1">
            <a:off x="3629819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9A02B2-5BD6-1AE9-9807-56810FB3C51D}"/>
              </a:ext>
            </a:extLst>
          </p:cNvPr>
          <p:cNvCxnSpPr/>
          <p:nvPr/>
        </p:nvCxnSpPr>
        <p:spPr>
          <a:xfrm rot="5400000" flipH="1" flipV="1">
            <a:off x="6782594" y="1828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7B9D53-2C43-5692-51BE-5F47A27031E7}"/>
              </a:ext>
            </a:extLst>
          </p:cNvPr>
          <p:cNvCxnSpPr/>
          <p:nvPr/>
        </p:nvCxnSpPr>
        <p:spPr>
          <a:xfrm rot="5400000" flipH="1" flipV="1">
            <a:off x="67444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87" name="TextBox 17">
            <a:extLst>
              <a:ext uri="{FF2B5EF4-FFF2-40B4-BE49-F238E27FC236}">
                <a16:creationId xmlns:a16="http://schemas.microsoft.com/office/drawing/2014/main" id="{19BD76B9-5181-6592-B887-D58E3050D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cptr</a:t>
            </a:r>
          </a:p>
        </p:txBody>
      </p:sp>
      <p:graphicFrame>
        <p:nvGraphicFramePr>
          <p:cNvPr id="14" name="Group 3">
            <a:extLst>
              <a:ext uri="{FF2B5EF4-FFF2-40B4-BE49-F238E27FC236}">
                <a16:creationId xmlns:a16="http://schemas.microsoft.com/office/drawing/2014/main" id="{7F0310C9-8B99-7A00-6851-4B5D9A7E171F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D93FCFD3-1B92-4A2A-7C79-A787986DE779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3412" name="TextBox 13">
            <a:extLst>
              <a:ext uri="{FF2B5EF4-FFF2-40B4-BE49-F238E27FC236}">
                <a16:creationId xmlns:a16="http://schemas.microsoft.com/office/drawing/2014/main" id="{B10A9582-3EC1-C6AB-01D8-D2D073B90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189865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/>
              <a:t>bptr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5E3CC5A-EF9D-11F1-1A46-5C0DB376A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3414" name="Slide Number Placeholder 17">
            <a:extLst>
              <a:ext uri="{FF2B5EF4-FFF2-40B4-BE49-F238E27FC236}">
                <a16:creationId xmlns:a16="http://schemas.microsoft.com/office/drawing/2014/main" id="{D96232C6-CC15-D86F-4F6F-B77C2D0181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96F756-8A32-4FB4-85C7-063F4A66DBD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C0CABCBD-D8A6-156A-ED2C-709EC9D0595E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 Sort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88DA258B-7BE7-D24B-3304-66CD7746739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143000"/>
            <a:ext cx="7239000" cy="4846638"/>
          </a:xfrm>
        </p:spPr>
        <p:txBody>
          <a:bodyPr/>
          <a:lstStyle/>
          <a:p>
            <a:r>
              <a:rPr lang="en-US" altLang="en-US"/>
              <a:t>As its name implies, </a:t>
            </a:r>
            <a:r>
              <a:rPr lang="en-US" altLang="en-US" i="1"/>
              <a:t>quicksort</a:t>
            </a:r>
            <a:r>
              <a:rPr lang="en-US" altLang="en-US"/>
              <a:t> is the fastest known sorting algorithm in practice.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It is very fast, mainly due to a very tight and highly optimized inner loop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Its average running time is </a:t>
            </a:r>
            <a:r>
              <a:rPr lang="en-US" altLang="en-US" b="1" i="1">
                <a:solidFill>
                  <a:srgbClr val="0000CC"/>
                </a:solidFill>
              </a:rPr>
              <a:t>O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n </a:t>
            </a:r>
            <a:r>
              <a:rPr lang="en-US" altLang="en-US" b="1">
                <a:solidFill>
                  <a:srgbClr val="0000CC"/>
                </a:solidFill>
              </a:rPr>
              <a:t>log </a:t>
            </a:r>
            <a:r>
              <a:rPr lang="en-US" altLang="en-US" b="1" i="1">
                <a:solidFill>
                  <a:srgbClr val="0000CC"/>
                </a:solidFill>
              </a:rPr>
              <a:t>n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It has </a:t>
            </a:r>
            <a:r>
              <a:rPr lang="en-US" altLang="en-US" b="1" i="1">
                <a:solidFill>
                  <a:srgbClr val="0000CC"/>
                </a:solidFill>
              </a:rPr>
              <a:t>O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n</a:t>
            </a:r>
            <a:r>
              <a:rPr lang="en-US" altLang="en-US" b="1" baseline="30000">
                <a:solidFill>
                  <a:srgbClr val="0000CC"/>
                </a:solidFill>
              </a:rPr>
              <a:t>2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r>
              <a:rPr lang="en-US" altLang="en-US">
                <a:solidFill>
                  <a:srgbClr val="002060"/>
                </a:solidFill>
              </a:rPr>
              <a:t> worst-case performance,</a:t>
            </a:r>
          </a:p>
          <a:p>
            <a:pPr lvl="2"/>
            <a:r>
              <a:rPr lang="en-US" altLang="en-US">
                <a:solidFill>
                  <a:srgbClr val="002060"/>
                </a:solidFill>
              </a:rPr>
              <a:t>but this can be made exponentially unlikely with a little effort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The quicksort algorithm is simple to understand and prove correct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Like mergesort, quicksort is a divide-and-conquer recursive algorithm </a:t>
            </a:r>
            <a:endParaRPr lang="en-US" altLang="en-US">
              <a:solidFill>
                <a:srgbClr val="002060"/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261C7-717D-4CFD-4B2E-A21E68A8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5413" name="Slide Number Placeholder 4">
            <a:extLst>
              <a:ext uri="{FF2B5EF4-FFF2-40B4-BE49-F238E27FC236}">
                <a16:creationId xmlns:a16="http://schemas.microsoft.com/office/drawing/2014/main" id="{F6AB5B2C-AC98-5952-7522-ED17BB472B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E8A8D5-897D-4C2E-8571-E2EBD12963AF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07D06C89-9E49-5842-F277-BA4B222BC2E8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 Sort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74E44D90-6DA5-CC4C-3106-7593B49FA58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143000"/>
            <a:ext cx="7391400" cy="4846638"/>
          </a:xfrm>
        </p:spPr>
        <p:txBody>
          <a:bodyPr/>
          <a:lstStyle/>
          <a:p>
            <a:r>
              <a:rPr lang="en-US" altLang="en-US"/>
              <a:t>The basic algorithm to sort an array </a:t>
            </a:r>
            <a:r>
              <a:rPr lang="en-US" altLang="en-US" i="1"/>
              <a:t>S</a:t>
            </a:r>
            <a:r>
              <a:rPr lang="en-US" altLang="en-US"/>
              <a:t> consists of the following four easy steps: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If the number of elements in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>
                <a:solidFill>
                  <a:srgbClr val="002060"/>
                </a:solidFill>
              </a:rPr>
              <a:t> is </a:t>
            </a:r>
            <a:r>
              <a:rPr lang="en-US" altLang="en-US" b="1">
                <a:solidFill>
                  <a:srgbClr val="0000CC"/>
                </a:solidFill>
              </a:rPr>
              <a:t>0</a:t>
            </a:r>
            <a:r>
              <a:rPr lang="en-US" altLang="en-US">
                <a:solidFill>
                  <a:srgbClr val="002060"/>
                </a:solidFill>
              </a:rPr>
              <a:t> or </a:t>
            </a:r>
            <a:r>
              <a:rPr lang="en-US" altLang="en-US" b="1">
                <a:solidFill>
                  <a:srgbClr val="0000CC"/>
                </a:solidFill>
              </a:rPr>
              <a:t>1</a:t>
            </a:r>
            <a:r>
              <a:rPr lang="en-US" altLang="en-US">
                <a:solidFill>
                  <a:srgbClr val="002060"/>
                </a:solidFill>
              </a:rPr>
              <a:t>, then return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2. Pick any element 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>
                <a:solidFill>
                  <a:srgbClr val="002060"/>
                </a:solidFill>
              </a:rPr>
              <a:t> in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>
                <a:solidFill>
                  <a:srgbClr val="002060"/>
                </a:solidFill>
              </a:rPr>
              <a:t>. This is called the </a:t>
            </a:r>
            <a:r>
              <a:rPr lang="en-US" altLang="en-US" b="1" i="1">
                <a:solidFill>
                  <a:srgbClr val="0000CC"/>
                </a:solidFill>
              </a:rPr>
              <a:t>pivot</a:t>
            </a:r>
            <a:r>
              <a:rPr lang="en-US" altLang="en-US">
                <a:solidFill>
                  <a:srgbClr val="002060"/>
                </a:solidFill>
              </a:rPr>
              <a:t>.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3. </a:t>
            </a:r>
            <a:r>
              <a:rPr lang="en-US" altLang="en-US" i="1">
                <a:solidFill>
                  <a:srgbClr val="002060"/>
                </a:solidFill>
              </a:rPr>
              <a:t>Partition</a:t>
            </a:r>
            <a:r>
              <a:rPr lang="en-US" altLang="en-US">
                <a:solidFill>
                  <a:srgbClr val="002060"/>
                </a:solidFill>
              </a:rPr>
              <a:t>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>
                <a:solidFill>
                  <a:srgbClr val="0000CC"/>
                </a:solidFill>
              </a:rPr>
              <a:t> - {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 b="1">
                <a:solidFill>
                  <a:srgbClr val="0000CC"/>
                </a:solidFill>
              </a:rPr>
              <a:t>}</a:t>
            </a:r>
            <a:r>
              <a:rPr lang="en-US" altLang="en-US">
                <a:solidFill>
                  <a:srgbClr val="002060"/>
                </a:solidFill>
              </a:rPr>
              <a:t> (the remaining elements in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>
                <a:solidFill>
                  <a:srgbClr val="002060"/>
                </a:solidFill>
              </a:rPr>
              <a:t>) into two disjoint groups:</a:t>
            </a:r>
            <a:r>
              <a:rPr lang="en-US" altLang="en-US"/>
              <a:t>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1</a:t>
            </a:r>
            <a:r>
              <a:rPr lang="en-US" altLang="en-US" b="1">
                <a:solidFill>
                  <a:srgbClr val="0000CC"/>
                </a:solidFill>
              </a:rPr>
              <a:t> = {</a:t>
            </a:r>
            <a:r>
              <a:rPr lang="en-US" altLang="en-US" b="1" i="1">
                <a:solidFill>
                  <a:srgbClr val="0000CC"/>
                </a:solidFill>
              </a:rPr>
              <a:t>x</a:t>
            </a:r>
            <a:r>
              <a:rPr lang="en-US" altLang="en-US" b="1">
                <a:solidFill>
                  <a:srgbClr val="0000CC"/>
                </a:solidFill>
              </a:rPr>
              <a:t> </a:t>
            </a:r>
            <a:r>
              <a:rPr lang="ru-RU" altLang="en-US" b="1">
                <a:solidFill>
                  <a:srgbClr val="0000CC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Arial" panose="020B0604020202020204" pitchFamily="34" charset="0"/>
              </a:rPr>
              <a:t>∈</a:t>
            </a:r>
            <a:r>
              <a:rPr lang="en-US" altLang="en-US" b="1">
                <a:solidFill>
                  <a:srgbClr val="0000CC"/>
                </a:solidFill>
              </a:rPr>
              <a:t>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>
                <a:solidFill>
                  <a:srgbClr val="0000CC"/>
                </a:solidFill>
              </a:rPr>
              <a:t> - {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 b="1">
                <a:solidFill>
                  <a:srgbClr val="0000CC"/>
                </a:solidFill>
              </a:rPr>
              <a:t>}| </a:t>
            </a:r>
            <a:r>
              <a:rPr lang="en-US" altLang="en-US" b="1" i="1">
                <a:solidFill>
                  <a:srgbClr val="0000CC"/>
                </a:solidFill>
              </a:rPr>
              <a:t>x </a:t>
            </a:r>
            <a:r>
              <a:rPr lang="en-US" altLang="en-US" b="1" i="1">
                <a:solidFill>
                  <a:srgbClr val="0000CC"/>
                </a:solidFill>
                <a:cs typeface="Arial" panose="020B0604020202020204" pitchFamily="34" charset="0"/>
              </a:rPr>
              <a:t>≤</a:t>
            </a:r>
            <a:r>
              <a:rPr lang="en-US" altLang="en-US" b="1">
                <a:solidFill>
                  <a:srgbClr val="0000CC"/>
                </a:solidFill>
              </a:rPr>
              <a:t> v</a:t>
            </a:r>
            <a:r>
              <a:rPr lang="en-US" altLang="en-US" b="1" i="1">
                <a:solidFill>
                  <a:srgbClr val="0000CC"/>
                </a:solidFill>
              </a:rPr>
              <a:t>}</a:t>
            </a:r>
            <a:r>
              <a:rPr lang="en-US" altLang="en-US" i="1">
                <a:solidFill>
                  <a:srgbClr val="0000CC"/>
                </a:solidFill>
              </a:rPr>
              <a:t> </a:t>
            </a:r>
            <a:r>
              <a:rPr lang="en-US" altLang="en-US" i="1">
                <a:solidFill>
                  <a:srgbClr val="002060"/>
                </a:solidFill>
              </a:rPr>
              <a:t>and</a:t>
            </a:r>
            <a:r>
              <a:rPr lang="en-US" altLang="en-US" i="1"/>
              <a:t> </a:t>
            </a:r>
            <a:r>
              <a:rPr lang="en-US" altLang="en-US" b="1">
                <a:solidFill>
                  <a:srgbClr val="0000CC"/>
                </a:solidFill>
              </a:rPr>
              <a:t>S</a:t>
            </a:r>
            <a:r>
              <a:rPr lang="en-US" altLang="en-US" b="1" i="1" baseline="-25000">
                <a:solidFill>
                  <a:srgbClr val="0000CC"/>
                </a:solidFill>
              </a:rPr>
              <a:t>2</a:t>
            </a:r>
            <a:r>
              <a:rPr lang="en-US" altLang="en-US" b="1" i="1">
                <a:solidFill>
                  <a:srgbClr val="0000CC"/>
                </a:solidFill>
              </a:rPr>
              <a:t> = </a:t>
            </a:r>
            <a:r>
              <a:rPr lang="en-US" altLang="en-US" b="1">
                <a:solidFill>
                  <a:srgbClr val="0000CC"/>
                </a:solidFill>
              </a:rPr>
              <a:t>{x</a:t>
            </a:r>
            <a:r>
              <a:rPr lang="en-US" altLang="en-US" b="1" i="1">
                <a:solidFill>
                  <a:srgbClr val="0000CC"/>
                </a:solidFill>
              </a:rPr>
              <a:t> </a:t>
            </a:r>
            <a:r>
              <a:rPr lang="ru-RU" altLang="en-US" b="1">
                <a:solidFill>
                  <a:srgbClr val="0000CC"/>
                </a:solidFill>
                <a:latin typeface="MS UI Gothic" panose="020B0600070205080204" pitchFamily="34" charset="-128"/>
                <a:ea typeface="MS UI Gothic" panose="020B0600070205080204" pitchFamily="34" charset="-128"/>
              </a:rPr>
              <a:t>∈</a:t>
            </a:r>
            <a:r>
              <a:rPr lang="en-US" altLang="en-US" b="1" i="1">
                <a:solidFill>
                  <a:srgbClr val="0000CC"/>
                </a:solidFill>
              </a:rPr>
              <a:t> </a:t>
            </a:r>
            <a:r>
              <a:rPr lang="en-US" altLang="en-US" b="1">
                <a:solidFill>
                  <a:srgbClr val="0000CC"/>
                </a:solidFill>
              </a:rPr>
              <a:t>S</a:t>
            </a:r>
            <a:r>
              <a:rPr lang="en-US" altLang="en-US" b="1" i="1">
                <a:solidFill>
                  <a:srgbClr val="0000CC"/>
                </a:solidFill>
              </a:rPr>
              <a:t> - </a:t>
            </a:r>
            <a:r>
              <a:rPr lang="en-US" altLang="en-US" b="1">
                <a:solidFill>
                  <a:srgbClr val="0000CC"/>
                </a:solidFill>
              </a:rPr>
              <a:t>{v}</a:t>
            </a:r>
            <a:r>
              <a:rPr lang="en-US" altLang="en-US" b="1" i="1">
                <a:solidFill>
                  <a:srgbClr val="0000CC"/>
                </a:solidFill>
              </a:rPr>
              <a:t>| </a:t>
            </a:r>
            <a:r>
              <a:rPr lang="en-US" altLang="en-US" b="1">
                <a:solidFill>
                  <a:srgbClr val="0000CC"/>
                </a:solidFill>
              </a:rPr>
              <a:t>x</a:t>
            </a:r>
            <a:r>
              <a:rPr lang="en-US" altLang="en-US" b="1" i="1">
                <a:solidFill>
                  <a:srgbClr val="0000CC"/>
                </a:solidFill>
              </a:rPr>
              <a:t> </a:t>
            </a:r>
            <a:r>
              <a:rPr lang="en-US" altLang="en-US" b="1" i="1">
                <a:solidFill>
                  <a:srgbClr val="0000CC"/>
                </a:solidFill>
                <a:cs typeface="Arial" panose="020B0604020202020204" pitchFamily="34" charset="0"/>
              </a:rPr>
              <a:t>≥</a:t>
            </a:r>
            <a:r>
              <a:rPr lang="en-US" altLang="en-US" b="1" i="1">
                <a:solidFill>
                  <a:srgbClr val="0000CC"/>
                </a:solidFill>
              </a:rPr>
              <a:t> </a:t>
            </a:r>
            <a:r>
              <a:rPr lang="en-US" altLang="en-US" b="1">
                <a:solidFill>
                  <a:srgbClr val="0000CC"/>
                </a:solidFill>
              </a:rPr>
              <a:t>v}</a:t>
            </a:r>
            <a:r>
              <a:rPr lang="en-US" altLang="en-US">
                <a:solidFill>
                  <a:srgbClr val="0000CC"/>
                </a:solidFill>
              </a:rPr>
              <a:t>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4.</a:t>
            </a:r>
            <a:r>
              <a:rPr lang="en-US" altLang="en-US"/>
              <a:t> </a:t>
            </a:r>
            <a:r>
              <a:rPr lang="en-US" altLang="en-US">
                <a:solidFill>
                  <a:srgbClr val="002060"/>
                </a:solidFill>
              </a:rPr>
              <a:t>Return</a:t>
            </a:r>
            <a:r>
              <a:rPr lang="en-US" altLang="en-US"/>
              <a:t> </a:t>
            </a:r>
            <a:r>
              <a:rPr lang="en-US" altLang="en-US">
                <a:solidFill>
                  <a:srgbClr val="002060"/>
                </a:solidFill>
              </a:rPr>
              <a:t>{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00CC"/>
                </a:solidFill>
              </a:rPr>
              <a:t>quicksort(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1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r>
              <a:rPr lang="en-US" altLang="en-US">
                <a:solidFill>
                  <a:srgbClr val="0000CC"/>
                </a:solidFill>
              </a:rPr>
              <a:t> </a:t>
            </a:r>
            <a:r>
              <a:rPr lang="en-US" altLang="en-US">
                <a:solidFill>
                  <a:srgbClr val="002060"/>
                </a:solidFill>
              </a:rPr>
              <a:t>followed by</a:t>
            </a:r>
            <a:r>
              <a:rPr lang="en-US" altLang="en-US"/>
              <a:t> </a:t>
            </a:r>
            <a:r>
              <a:rPr lang="en-US" altLang="en-US" b="1" i="1">
                <a:solidFill>
                  <a:srgbClr val="0000CC"/>
                </a:solidFill>
              </a:rPr>
              <a:t>v</a:t>
            </a:r>
            <a:r>
              <a:rPr lang="en-US" altLang="en-US"/>
              <a:t> </a:t>
            </a:r>
            <a:r>
              <a:rPr lang="en-US" altLang="en-US">
                <a:solidFill>
                  <a:srgbClr val="002060"/>
                </a:solidFill>
              </a:rPr>
              <a:t>followed by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0000CC"/>
                </a:solidFill>
              </a:rPr>
              <a:t>quicksort(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2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r>
              <a:rPr lang="en-US" altLang="en-US">
                <a:solidFill>
                  <a:srgbClr val="002060"/>
                </a:solidFill>
              </a:rPr>
              <a:t> }</a:t>
            </a:r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C0763-EAB6-B870-768D-7429E58E5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7461" name="Slide Number Placeholder 4">
            <a:extLst>
              <a:ext uri="{FF2B5EF4-FFF2-40B4-BE49-F238E27FC236}">
                <a16:creationId xmlns:a16="http://schemas.microsoft.com/office/drawing/2014/main" id="{69A0616F-69AE-4E4B-B2BE-6FE702F484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A01559-03EC-477D-A536-28D02DC8DF87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DC93FED3-0193-197A-32E3-D5543CB71C0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 Sort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4A337752-5CF6-6166-4438-B51852F7292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143000"/>
            <a:ext cx="7239000" cy="4846638"/>
          </a:xfrm>
        </p:spPr>
        <p:txBody>
          <a:bodyPr/>
          <a:lstStyle/>
          <a:p>
            <a:r>
              <a:rPr lang="en-US" altLang="en-US"/>
              <a:t>Since the partition step ambiguously describes what to do with elements equal to the pivot, this becomes a design decision.</a:t>
            </a:r>
          </a:p>
          <a:p>
            <a:r>
              <a:rPr lang="en-US" altLang="en-US"/>
              <a:t>Part of a good implementation is handling this case as efficiently as possible. </a:t>
            </a:r>
          </a:p>
          <a:p>
            <a:r>
              <a:rPr lang="en-US" altLang="en-US"/>
              <a:t>Intuitively, we would hope that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about half the keys that are equal to the pivot go into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1</a:t>
            </a:r>
            <a:r>
              <a:rPr lang="en-US" altLang="en-US">
                <a:solidFill>
                  <a:srgbClr val="002060"/>
                </a:solidFill>
              </a:rPr>
              <a:t> </a:t>
            </a:r>
          </a:p>
          <a:p>
            <a:pPr lvl="1"/>
            <a:r>
              <a:rPr lang="en-US" altLang="en-US">
                <a:solidFill>
                  <a:srgbClr val="002060"/>
                </a:solidFill>
              </a:rPr>
              <a:t>while the other half into </a:t>
            </a:r>
            <a:r>
              <a:rPr lang="en-US" altLang="en-US" b="1" i="1">
                <a:solidFill>
                  <a:srgbClr val="0000CC"/>
                </a:solidFill>
              </a:rPr>
              <a:t>S</a:t>
            </a:r>
            <a:r>
              <a:rPr lang="en-US" altLang="en-US" b="1" baseline="-25000">
                <a:solidFill>
                  <a:srgbClr val="0000CC"/>
                </a:solidFill>
              </a:rPr>
              <a:t>2</a:t>
            </a:r>
            <a:r>
              <a:rPr lang="en-US" altLang="en-US">
                <a:solidFill>
                  <a:srgbClr val="002060"/>
                </a:solidFill>
              </a:rPr>
              <a:t>, much as we like binary search trees to be balanced.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710CE-AA39-E20B-E1CD-96F300D1C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49509" name="Slide Number Placeholder 4">
            <a:extLst>
              <a:ext uri="{FF2B5EF4-FFF2-40B4-BE49-F238E27FC236}">
                <a16:creationId xmlns:a16="http://schemas.microsoft.com/office/drawing/2014/main" id="{D3571736-545B-4DC9-ADB4-667ACF3FD7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D9B8E1-2533-4A1A-AA86-06C0DEE3AFF7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4" name="Picture 4">
            <a:extLst>
              <a:ext uri="{FF2B5EF4-FFF2-40B4-BE49-F238E27FC236}">
                <a16:creationId xmlns:a16="http://schemas.microsoft.com/office/drawing/2014/main" id="{31736FCB-125A-1E95-759A-33FBED854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3" y="0"/>
            <a:ext cx="47910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5" name="Rectangle 2">
            <a:extLst>
              <a:ext uri="{FF2B5EF4-FFF2-40B4-BE49-F238E27FC236}">
                <a16:creationId xmlns:a16="http://schemas.microsoft.com/office/drawing/2014/main" id="{8C616F2D-D019-DC83-EADA-DBC24E3AE730}"/>
              </a:ext>
            </a:extLst>
          </p:cNvPr>
          <p:cNvSpPr>
            <a:spLocks/>
          </p:cNvSpPr>
          <p:nvPr/>
        </p:nvSpPr>
        <p:spPr bwMode="auto">
          <a:xfrm>
            <a:off x="152400" y="1066800"/>
            <a:ext cx="7239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720" tIns="0" rIns="45720" bIns="0" anchor="b"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800" b="1">
                <a:latin typeface="Trebuchet MS" panose="020B0603020202020204" pitchFamily="34" charset="0"/>
              </a:rPr>
              <a:t>Quick Sort – </a:t>
            </a:r>
            <a:br>
              <a:rPr lang="en-US" altLang="en-US" sz="3800" b="1">
                <a:latin typeface="Trebuchet MS" panose="020B0603020202020204" pitchFamily="34" charset="0"/>
              </a:rPr>
            </a:br>
            <a:r>
              <a:rPr lang="en-US" altLang="en-US" sz="3800" b="1">
                <a:latin typeface="Trebuchet MS" panose="020B0603020202020204" pitchFamily="34" charset="0"/>
              </a:rPr>
              <a:t>Selecting </a:t>
            </a:r>
            <a:br>
              <a:rPr lang="en-US" altLang="en-US" sz="3800" b="1">
                <a:latin typeface="Trebuchet MS" panose="020B0603020202020204" pitchFamily="34" charset="0"/>
              </a:rPr>
            </a:br>
            <a:r>
              <a:rPr lang="en-US" altLang="en-US" sz="3800" b="1">
                <a:latin typeface="Trebuchet MS" panose="020B0603020202020204" pitchFamily="34" charset="0"/>
              </a:rPr>
              <a:t>the Pivot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D6D46-939F-FD51-980A-495B6CDCA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51557" name="Slide Number Placeholder 4">
            <a:extLst>
              <a:ext uri="{FF2B5EF4-FFF2-40B4-BE49-F238E27FC236}">
                <a16:creationId xmlns:a16="http://schemas.microsoft.com/office/drawing/2014/main" id="{C9BEF7AE-603A-7EB0-279E-4875D10D01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6AC1E2-6280-4071-BF86-DD3FD131F20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F76C0C4E-E999-DB93-EEE8-6F1508724E29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 Sort – Selecting the Pivot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4BE00545-515F-ED6D-EEDF-E74263F4E8D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04800" y="868363"/>
            <a:ext cx="7772400" cy="5532437"/>
          </a:xfrm>
        </p:spPr>
        <p:txBody>
          <a:bodyPr/>
          <a:lstStyle/>
          <a:p>
            <a:pPr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1- The popular, uninformed choice: </a:t>
            </a:r>
          </a:p>
          <a:p>
            <a:pPr>
              <a:lnSpc>
                <a:spcPct val="90000"/>
              </a:lnSpc>
            </a:pPr>
            <a:r>
              <a:rPr lang="en-US" altLang="en-US" sz="2200"/>
              <a:t>Use the first element as the pivot</a:t>
            </a:r>
            <a:endParaRPr lang="en-US" altLang="en-US" sz="2200">
              <a:solidFill>
                <a:srgbClr val="00206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002060"/>
                </a:solidFill>
              </a:rPr>
              <a:t>This is acceptable if the input is random 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002060"/>
                </a:solidFill>
              </a:rPr>
              <a:t>But, if the input is presorted or in reverse order, then the pivot provides a poor partition, because virtually all the elements go into </a:t>
            </a:r>
            <a:r>
              <a:rPr lang="en-US" altLang="en-US" sz="2000" b="1" i="1">
                <a:solidFill>
                  <a:srgbClr val="0000CC"/>
                </a:solidFill>
              </a:rPr>
              <a:t>S</a:t>
            </a:r>
            <a:r>
              <a:rPr lang="en-US" altLang="en-US" sz="2000" b="1" baseline="-25000">
                <a:solidFill>
                  <a:srgbClr val="0000CC"/>
                </a:solidFill>
              </a:rPr>
              <a:t>1</a:t>
            </a:r>
            <a:r>
              <a:rPr lang="en-US" altLang="en-US" sz="2000">
                <a:solidFill>
                  <a:srgbClr val="002060"/>
                </a:solidFill>
              </a:rPr>
              <a:t> or </a:t>
            </a:r>
            <a:r>
              <a:rPr lang="en-US" altLang="en-US" sz="2000" b="1" i="1">
                <a:solidFill>
                  <a:srgbClr val="0000CC"/>
                </a:solidFill>
              </a:rPr>
              <a:t>S</a:t>
            </a:r>
            <a:r>
              <a:rPr lang="en-US" altLang="en-US" sz="2000" b="1" baseline="-25000">
                <a:solidFill>
                  <a:srgbClr val="0000CC"/>
                </a:solidFill>
              </a:rPr>
              <a:t>2</a:t>
            </a:r>
            <a:endParaRPr lang="en-US" altLang="en-US" sz="2000">
              <a:solidFill>
                <a:srgbClr val="00206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002060"/>
                </a:solidFill>
              </a:rPr>
              <a:t>It happens consistently throughout the recursive calls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200">
                <a:solidFill>
                  <a:srgbClr val="002060"/>
                </a:solidFill>
                <a:sym typeface="Wingdings" panose="05000000000000000000" pitchFamily="2" charset="2"/>
              </a:rPr>
              <a:t> </a:t>
            </a:r>
            <a:r>
              <a:rPr lang="en-US" altLang="en-US" sz="2200"/>
              <a:t>Quicksort will take quadratic time to do essentially   nothing at all, which is quite embarrassing</a:t>
            </a:r>
          </a:p>
          <a:p>
            <a:pPr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400" b="1">
                <a:solidFill>
                  <a:srgbClr val="0000CC"/>
                </a:solidFill>
              </a:rPr>
              <a:t>2- A Safe Maneuver</a:t>
            </a:r>
          </a:p>
          <a:p>
            <a:pPr>
              <a:lnSpc>
                <a:spcPct val="90000"/>
              </a:lnSpc>
            </a:pPr>
            <a:r>
              <a:rPr lang="en-US" altLang="en-US" sz="2200"/>
              <a:t>A safe course is merely to choose the pivot randomly 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002060"/>
                </a:solidFill>
              </a:rPr>
              <a:t>This strategy is generally perfectly safe, unless the random number generator has a flaw</a:t>
            </a:r>
          </a:p>
          <a:p>
            <a:pPr>
              <a:lnSpc>
                <a:spcPct val="90000"/>
              </a:lnSpc>
            </a:pPr>
            <a:r>
              <a:rPr lang="en-US" altLang="en-US" sz="2200">
                <a:solidFill>
                  <a:srgbClr val="002060"/>
                </a:solidFill>
              </a:rPr>
              <a:t>H</a:t>
            </a:r>
            <a:r>
              <a:rPr lang="en-US" altLang="en-US" sz="2200"/>
              <a:t>owever, random number generation is generally an expensive commodity and does not reduce the average running time of the rest of the algorithm at all</a:t>
            </a:r>
            <a:endParaRPr lang="en-US" altLang="en-US" sz="2200" b="1">
              <a:solidFill>
                <a:srgbClr val="0000CC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DB5A70-CF67-8387-19AD-D21DCB745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53605" name="Slide Number Placeholder 7">
            <a:extLst>
              <a:ext uri="{FF2B5EF4-FFF2-40B4-BE49-F238E27FC236}">
                <a16:creationId xmlns:a16="http://schemas.microsoft.com/office/drawing/2014/main" id="{9D8C5E76-86D9-D7E0-B6C3-28BA2CC7C8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340F35-A8BD-4C6C-8D34-8E64E1F3779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5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57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5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E8A8AB3A-5817-DD59-BFEF-3AEF4FD76A6E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 Sort – Selecting the Pivot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C79256F9-8C07-6028-4455-8BB44EE31D0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990600"/>
            <a:ext cx="7543800" cy="48466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The best choice of pivot would be the median of the file.</a:t>
            </a:r>
          </a:p>
          <a:p>
            <a:pPr lvl="1">
              <a:lnSpc>
                <a:spcPct val="90000"/>
              </a:lnSpc>
            </a:pPr>
            <a:r>
              <a:rPr lang="en-US" altLang="en-US" sz="2200">
                <a:solidFill>
                  <a:srgbClr val="002060"/>
                </a:solidFill>
              </a:rPr>
              <a:t>The median of a group of </a:t>
            </a:r>
            <a:r>
              <a:rPr lang="en-US" altLang="en-US" sz="2200" b="1" i="1">
                <a:solidFill>
                  <a:srgbClr val="0000CC"/>
                </a:solidFill>
              </a:rPr>
              <a:t>n</a:t>
            </a:r>
            <a:r>
              <a:rPr lang="en-US" altLang="en-US" sz="2200">
                <a:solidFill>
                  <a:srgbClr val="002060"/>
                </a:solidFill>
              </a:rPr>
              <a:t> numbers is the </a:t>
            </a:r>
            <a:r>
              <a:rPr lang="en-US" altLang="en-US" sz="2200">
                <a:solidFill>
                  <a:srgbClr val="0000CC"/>
                </a:solidFill>
              </a:rPr>
              <a:t>(</a:t>
            </a:r>
            <a:r>
              <a:rPr lang="en-US" altLang="en-US" sz="2200" i="1">
                <a:solidFill>
                  <a:srgbClr val="0000CC"/>
                </a:solidFill>
              </a:rPr>
              <a:t>n</a:t>
            </a:r>
            <a:r>
              <a:rPr lang="en-US" altLang="en-US" sz="2200">
                <a:solidFill>
                  <a:srgbClr val="0000CC"/>
                </a:solidFill>
              </a:rPr>
              <a:t>/2)-th</a:t>
            </a:r>
            <a:r>
              <a:rPr lang="en-US" altLang="en-US" sz="2200">
                <a:solidFill>
                  <a:srgbClr val="002060"/>
                </a:solidFill>
              </a:rPr>
              <a:t> largest number</a:t>
            </a:r>
          </a:p>
          <a:p>
            <a:pPr lvl="1">
              <a:lnSpc>
                <a:spcPct val="90000"/>
              </a:lnSpc>
            </a:pPr>
            <a:r>
              <a:rPr lang="en-US" altLang="en-US" sz="2200">
                <a:solidFill>
                  <a:srgbClr val="002060"/>
                </a:solidFill>
              </a:rPr>
              <a:t>Unfortunately, this is hard to calculate and would slow down quicksort considerably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 A good estimate can be obtained by picking three elements randomly and using the median of these three as pivot.</a:t>
            </a:r>
          </a:p>
          <a:p>
            <a:pPr lvl="1">
              <a:lnSpc>
                <a:spcPct val="90000"/>
              </a:lnSpc>
            </a:pPr>
            <a:r>
              <a:rPr lang="en-US" altLang="en-US" sz="2200">
                <a:solidFill>
                  <a:srgbClr val="002060"/>
                </a:solidFill>
              </a:rPr>
              <a:t>The randomness turns out not to help much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0000CC"/>
                </a:solidFill>
              </a:rPr>
              <a:t>So, the common course is to use as pivot the median of the left, right and center elements </a:t>
            </a:r>
          </a:p>
        </p:txBody>
      </p:sp>
      <p:sp>
        <p:nvSpPr>
          <p:cNvPr id="75780" name="Rectangle 4">
            <a:extLst>
              <a:ext uri="{FF2B5EF4-FFF2-40B4-BE49-F238E27FC236}">
                <a16:creationId xmlns:a16="http://schemas.microsoft.com/office/drawing/2014/main" id="{34FA2F61-6A96-5B9F-E0D1-2BF58936E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334000"/>
            <a:ext cx="3263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0000CC"/>
                </a:solidFill>
              </a:rPr>
              <a:t>A = {8, 1, 4, 9, 6, 3, 5, 2, 7, 0} </a:t>
            </a:r>
          </a:p>
        </p:txBody>
      </p:sp>
      <p:sp>
        <p:nvSpPr>
          <p:cNvPr id="75781" name="Line 5">
            <a:extLst>
              <a:ext uri="{FF2B5EF4-FFF2-40B4-BE49-F238E27FC236}">
                <a16:creationId xmlns:a16="http://schemas.microsoft.com/office/drawing/2014/main" id="{918C554E-1498-56AC-7436-F40D781D24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556736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2" name="Text Box 6">
            <a:extLst>
              <a:ext uri="{FF2B5EF4-FFF2-40B4-BE49-F238E27FC236}">
                <a16:creationId xmlns:a16="http://schemas.microsoft.com/office/drawing/2014/main" id="{F5FC5C8D-AA31-868A-8423-F32498D6C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250" y="5356225"/>
            <a:ext cx="3121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center = A[</a:t>
            </a:r>
            <a:r>
              <a:rPr lang="en-US" altLang="en-US" sz="1800" i="1"/>
              <a:t>left</a:t>
            </a:r>
            <a:r>
              <a:rPr lang="en-US" altLang="en-US" sz="1800"/>
              <a:t> + </a:t>
            </a:r>
            <a:r>
              <a:rPr lang="en-US" altLang="en-US" sz="1800" i="1"/>
              <a:t>right</a:t>
            </a:r>
            <a:r>
              <a:rPr lang="en-US" altLang="en-US" sz="1800"/>
              <a:t>)/2]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= A [(0+9)/2] = </a:t>
            </a:r>
            <a:r>
              <a:rPr lang="en-US" altLang="en-US" sz="1800" b="1"/>
              <a:t>A[4] = 6</a:t>
            </a:r>
            <a:r>
              <a:rPr lang="en-US" altLang="en-US" sz="180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pivot</a:t>
            </a:r>
            <a:r>
              <a:rPr lang="en-US" altLang="en-US" sz="1800"/>
              <a:t>: v= median(8, 6, 0) = </a:t>
            </a:r>
            <a:r>
              <a:rPr lang="en-US" altLang="en-US" sz="1800" b="1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F75DA2-7D3E-8E61-F4CF-7117B68B7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55656" name="Slide Number Placeholder 7">
            <a:extLst>
              <a:ext uri="{FF2B5EF4-FFF2-40B4-BE49-F238E27FC236}">
                <a16:creationId xmlns:a16="http://schemas.microsoft.com/office/drawing/2014/main" id="{111DDCD4-F0D1-37E6-AE9B-A0E52EA2B0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83ABE4-31EF-459E-91A8-5879A725695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5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/>
      <p:bldP spid="7578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50CC07B7-D8FF-0590-6981-8DC89D94D9F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Example</a:t>
            </a:r>
          </a:p>
        </p:txBody>
      </p:sp>
      <p:graphicFrame>
        <p:nvGraphicFramePr>
          <p:cNvPr id="160860" name="Group 92">
            <a:extLst>
              <a:ext uri="{FF2B5EF4-FFF2-40B4-BE49-F238E27FC236}">
                <a16:creationId xmlns:a16="http://schemas.microsoft.com/office/drawing/2014/main" id="{760C0F0F-40CA-B40F-6CA4-5C6DA673F5A2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2954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7723" name="Straight Arrow Connector 16">
            <a:extLst>
              <a:ext uri="{FF2B5EF4-FFF2-40B4-BE49-F238E27FC236}">
                <a16:creationId xmlns:a16="http://schemas.microsoft.com/office/drawing/2014/main" id="{6FB022BF-7C35-6DEC-2601-460944F4BC9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17526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724" name="Text Box 93">
            <a:extLst>
              <a:ext uri="{FF2B5EF4-FFF2-40B4-BE49-F238E27FC236}">
                <a16:creationId xmlns:a16="http://schemas.microsoft.com/office/drawing/2014/main" id="{B3237930-D22D-72EF-3057-C2B33B2C7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0685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76829" name="Rectangle 3">
            <a:extLst>
              <a:ext uri="{FF2B5EF4-FFF2-40B4-BE49-F238E27FC236}">
                <a16:creationId xmlns:a16="http://schemas.microsoft.com/office/drawing/2014/main" id="{045CE7E0-AD95-3435-2AF7-58864D3FEE0D}"/>
              </a:ext>
            </a:extLst>
          </p:cNvPr>
          <p:cNvSpPr>
            <a:spLocks/>
          </p:cNvSpPr>
          <p:nvPr/>
        </p:nvSpPr>
        <p:spPr bwMode="auto">
          <a:xfrm>
            <a:off x="304800" y="2392363"/>
            <a:ext cx="7848600" cy="423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000">
                <a:solidFill>
                  <a:srgbClr val="0000CC"/>
                </a:solidFill>
              </a:rPr>
              <a:t>The basic algorithm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While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 i="1"/>
              <a:t> </a:t>
            </a:r>
            <a:r>
              <a:rPr lang="en-US" altLang="en-US" sz="2000"/>
              <a:t>is to the left of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900">
                <a:solidFill>
                  <a:srgbClr val="7030A0"/>
                </a:solidFill>
              </a:rPr>
              <a:t>we move</a:t>
            </a:r>
            <a:r>
              <a:rPr lang="en-US" altLang="en-US" sz="1900">
                <a:solidFill>
                  <a:srgbClr val="002060"/>
                </a:solidFill>
              </a:rPr>
              <a:t> </a:t>
            </a:r>
            <a:r>
              <a:rPr lang="en-US" altLang="en-US" sz="1900" b="1" i="1">
                <a:solidFill>
                  <a:srgbClr val="0000CC"/>
                </a:solidFill>
              </a:rPr>
              <a:t>i</a:t>
            </a:r>
            <a:r>
              <a:rPr lang="en-US" altLang="en-US" sz="1900">
                <a:solidFill>
                  <a:srgbClr val="002060"/>
                </a:solidFill>
              </a:rPr>
              <a:t> </a:t>
            </a:r>
            <a:r>
              <a:rPr lang="en-US" altLang="en-US" sz="1900">
                <a:solidFill>
                  <a:srgbClr val="7030A0"/>
                </a:solidFill>
              </a:rPr>
              <a:t>right, skipping over elements smaller than the pivot</a:t>
            </a:r>
          </a:p>
          <a:p>
            <a:pPr lvl="1">
              <a:lnSpc>
                <a:spcPct val="90000"/>
              </a:lnSpc>
            </a:pPr>
            <a:r>
              <a:rPr lang="en-US" altLang="en-US" sz="1900">
                <a:solidFill>
                  <a:srgbClr val="7030A0"/>
                </a:solidFill>
              </a:rPr>
              <a:t>We move</a:t>
            </a:r>
            <a:r>
              <a:rPr lang="en-US" altLang="en-US" sz="1900">
                <a:solidFill>
                  <a:srgbClr val="002060"/>
                </a:solidFill>
              </a:rPr>
              <a:t> </a:t>
            </a:r>
            <a:r>
              <a:rPr lang="en-US" altLang="en-US" sz="1900" b="1" i="1">
                <a:solidFill>
                  <a:srgbClr val="0000CC"/>
                </a:solidFill>
              </a:rPr>
              <a:t>j</a:t>
            </a:r>
            <a:r>
              <a:rPr lang="en-US" altLang="en-US" sz="1900">
                <a:solidFill>
                  <a:srgbClr val="002060"/>
                </a:solidFill>
              </a:rPr>
              <a:t> </a:t>
            </a:r>
            <a:r>
              <a:rPr lang="en-US" altLang="en-US" sz="1900">
                <a:solidFill>
                  <a:srgbClr val="7030A0"/>
                </a:solidFill>
              </a:rPr>
              <a:t>left, skipping over elements larger than the pivot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When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/>
              <a:t> and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have stopped, </a:t>
            </a:r>
          </a:p>
          <a:p>
            <a:pPr lvl="1">
              <a:lnSpc>
                <a:spcPct val="90000"/>
              </a:lnSpc>
            </a:pPr>
            <a:r>
              <a:rPr lang="en-US" altLang="en-US" sz="1900" b="1" i="1">
                <a:solidFill>
                  <a:srgbClr val="0000CC"/>
                </a:solidFill>
              </a:rPr>
              <a:t>i</a:t>
            </a:r>
            <a:r>
              <a:rPr lang="en-US" altLang="en-US" sz="1900"/>
              <a:t> </a:t>
            </a:r>
            <a:r>
              <a:rPr lang="en-US" altLang="en-US" sz="1900">
                <a:solidFill>
                  <a:srgbClr val="430086"/>
                </a:solidFill>
              </a:rPr>
              <a:t>is pointing at a large element, and </a:t>
            </a:r>
          </a:p>
          <a:p>
            <a:pPr lvl="1">
              <a:lnSpc>
                <a:spcPct val="90000"/>
              </a:lnSpc>
            </a:pPr>
            <a:r>
              <a:rPr lang="en-US" altLang="en-US" sz="1900" b="1" i="1">
                <a:solidFill>
                  <a:srgbClr val="0000CC"/>
                </a:solidFill>
              </a:rPr>
              <a:t>j</a:t>
            </a:r>
            <a:r>
              <a:rPr lang="en-US" altLang="en-US" sz="1900"/>
              <a:t> </a:t>
            </a:r>
            <a:r>
              <a:rPr lang="en-US" altLang="en-US" sz="1900">
                <a:solidFill>
                  <a:srgbClr val="7030A0"/>
                </a:solidFill>
              </a:rPr>
              <a:t>is pointing at a small element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If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/>
              <a:t> is to the left of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900">
                <a:solidFill>
                  <a:srgbClr val="7030A0"/>
                </a:solidFill>
              </a:rPr>
              <a:t>those elements are swapped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The effect is to </a:t>
            </a:r>
            <a:r>
              <a:rPr lang="en-US" altLang="en-US" sz="2000">
                <a:solidFill>
                  <a:srgbClr val="0000CC"/>
                </a:solidFill>
              </a:rPr>
              <a:t>push a large element to the right</a:t>
            </a:r>
            <a:r>
              <a:rPr lang="en-US" altLang="en-US" sz="2000"/>
              <a:t> and a </a:t>
            </a:r>
            <a:r>
              <a:rPr lang="en-US" altLang="en-US" sz="2000">
                <a:solidFill>
                  <a:srgbClr val="0000CC"/>
                </a:solidFill>
              </a:rPr>
              <a:t>small element to the left</a:t>
            </a:r>
            <a:r>
              <a:rPr lang="en-US" altLang="en-US" sz="2000"/>
              <a:t>. </a:t>
            </a:r>
          </a:p>
          <a:p>
            <a:pPr>
              <a:lnSpc>
                <a:spcPct val="90000"/>
              </a:lnSpc>
            </a:pPr>
            <a:r>
              <a:rPr lang="en-US" altLang="en-US" sz="2000"/>
              <a:t>In the example above,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/>
              <a:t> would not move and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would slide over one place</a:t>
            </a:r>
          </a:p>
        </p:txBody>
      </p:sp>
      <p:cxnSp>
        <p:nvCxnSpPr>
          <p:cNvPr id="157726" name="Straight Arrow Connector 16">
            <a:extLst>
              <a:ext uri="{FF2B5EF4-FFF2-40B4-BE49-F238E27FC236}">
                <a16:creationId xmlns:a16="http://schemas.microsoft.com/office/drawing/2014/main" id="{8CD61185-C07E-DD79-D629-0369AC9BAFF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79813" y="16764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727" name="Text Box 107">
            <a:extLst>
              <a:ext uri="{FF2B5EF4-FFF2-40B4-BE49-F238E27FC236}">
                <a16:creationId xmlns:a16="http://schemas.microsoft.com/office/drawing/2014/main" id="{4A86E722-7C9F-38EE-4897-02BE607C2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025" y="1992313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57728" name="Straight Arrow Connector 16">
            <a:extLst>
              <a:ext uri="{FF2B5EF4-FFF2-40B4-BE49-F238E27FC236}">
                <a16:creationId xmlns:a16="http://schemas.microsoft.com/office/drawing/2014/main" id="{FC1EB48B-0AEC-3E96-DE55-62CCC0F265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396163" y="17240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7729" name="Text Box 109">
            <a:extLst>
              <a:ext uri="{FF2B5EF4-FFF2-40B4-BE49-F238E27FC236}">
                <a16:creationId xmlns:a16="http://schemas.microsoft.com/office/drawing/2014/main" id="{8BEB65AD-6F0A-5579-433E-5484B10AC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9800" y="2039938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2567B4A-CD42-7626-9514-A73758AB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57731" name="Slide Number Placeholder 11">
            <a:extLst>
              <a:ext uri="{FF2B5EF4-FFF2-40B4-BE49-F238E27FC236}">
                <a16:creationId xmlns:a16="http://schemas.microsoft.com/office/drawing/2014/main" id="{34134B03-434E-8FDD-BAA0-DD60C4C42D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72F2A7-089B-4331-9E04-E1E1698F2120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8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8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8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8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8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68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68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68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68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68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68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6F7D0A77-8FC7-B7A6-4B22-2A29294628C5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Step 1</a:t>
            </a:r>
          </a:p>
        </p:txBody>
      </p:sp>
      <p:graphicFrame>
        <p:nvGraphicFramePr>
          <p:cNvPr id="162819" name="Group 3">
            <a:extLst>
              <a:ext uri="{FF2B5EF4-FFF2-40B4-BE49-F238E27FC236}">
                <a16:creationId xmlns:a16="http://schemas.microsoft.com/office/drawing/2014/main" id="{E7B58065-7F3B-492D-8E28-8216AC4B11A6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9771" name="Straight Arrow Connector 16">
            <a:extLst>
              <a:ext uri="{FF2B5EF4-FFF2-40B4-BE49-F238E27FC236}">
                <a16:creationId xmlns:a16="http://schemas.microsoft.com/office/drawing/2014/main" id="{421D6497-4ECA-A09D-82C5-EF545D98FFA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9772" name="Text Box 28">
            <a:extLst>
              <a:ext uri="{FF2B5EF4-FFF2-40B4-BE49-F238E27FC236}">
                <a16:creationId xmlns:a16="http://schemas.microsoft.com/office/drawing/2014/main" id="{8DA785CB-E05F-5515-CF90-659F4FAFF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59773" name="Straight Arrow Connector 16">
            <a:extLst>
              <a:ext uri="{FF2B5EF4-FFF2-40B4-BE49-F238E27FC236}">
                <a16:creationId xmlns:a16="http://schemas.microsoft.com/office/drawing/2014/main" id="{0CC4E768-1CA5-F383-6BFE-D0DD41425A9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91300" y="234315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9774" name="Text Box 30">
            <a:extLst>
              <a:ext uri="{FF2B5EF4-FFF2-40B4-BE49-F238E27FC236}">
                <a16:creationId xmlns:a16="http://schemas.microsoft.com/office/drawing/2014/main" id="{4ED819D0-A09D-DF22-EB21-E002F5F58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65906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59775" name="Straight Arrow Connector 16">
            <a:extLst>
              <a:ext uri="{FF2B5EF4-FFF2-40B4-BE49-F238E27FC236}">
                <a16:creationId xmlns:a16="http://schemas.microsoft.com/office/drawing/2014/main" id="{61FD42E1-BADF-E41F-3906-4A9680A4985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9776" name="Text Box 33">
            <a:extLst>
              <a:ext uri="{FF2B5EF4-FFF2-40B4-BE49-F238E27FC236}">
                <a16:creationId xmlns:a16="http://schemas.microsoft.com/office/drawing/2014/main" id="{12E5FC7C-C05A-0F96-E0B0-ED3BB5F0F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59777" name="Freeform 184">
            <a:extLst>
              <a:ext uri="{FF2B5EF4-FFF2-40B4-BE49-F238E27FC236}">
                <a16:creationId xmlns:a16="http://schemas.microsoft.com/office/drawing/2014/main" id="{810C05F8-5B91-ED79-5CB8-DDF162E2AD51}"/>
              </a:ext>
            </a:extLst>
          </p:cNvPr>
          <p:cNvSpPr>
            <a:spLocks/>
          </p:cNvSpPr>
          <p:nvPr/>
        </p:nvSpPr>
        <p:spPr bwMode="auto">
          <a:xfrm flipV="1">
            <a:off x="3486150" y="1581150"/>
            <a:ext cx="3848100" cy="37147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4053438-F5CB-7C9D-A627-5EF68644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59779" name="Slide Number Placeholder 11">
            <a:extLst>
              <a:ext uri="{FF2B5EF4-FFF2-40B4-BE49-F238E27FC236}">
                <a16:creationId xmlns:a16="http://schemas.microsoft.com/office/drawing/2014/main" id="{2A64EDF4-AC0A-A59E-271C-E643D03DBD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51F3FA-738E-405D-AF9F-DB9A4A1698F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B0ACEAF5-39EA-DA0E-C25E-45452E192C0E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1</a:t>
            </a:r>
          </a:p>
        </p:txBody>
      </p:sp>
      <p:graphicFrame>
        <p:nvGraphicFramePr>
          <p:cNvPr id="168963" name="Group 3">
            <a:extLst>
              <a:ext uri="{FF2B5EF4-FFF2-40B4-BE49-F238E27FC236}">
                <a16:creationId xmlns:a16="http://schemas.microsoft.com/office/drawing/2014/main" id="{4C094275-4FD8-ADE3-ACE3-E0E94BCE3FDD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1819" name="Straight Arrow Connector 16">
            <a:extLst>
              <a:ext uri="{FF2B5EF4-FFF2-40B4-BE49-F238E27FC236}">
                <a16:creationId xmlns:a16="http://schemas.microsoft.com/office/drawing/2014/main" id="{05A3374E-63C6-EDC4-F195-667C87EB836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1820" name="Text Box 28">
            <a:extLst>
              <a:ext uri="{FF2B5EF4-FFF2-40B4-BE49-F238E27FC236}">
                <a16:creationId xmlns:a16="http://schemas.microsoft.com/office/drawing/2014/main" id="{9894D3F6-49E6-90F2-E5E8-449AE677F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61821" name="Straight Arrow Connector 16">
            <a:extLst>
              <a:ext uri="{FF2B5EF4-FFF2-40B4-BE49-F238E27FC236}">
                <a16:creationId xmlns:a16="http://schemas.microsoft.com/office/drawing/2014/main" id="{6210DBA9-0727-D91E-59A4-F51D9E5C285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591300" y="234315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1822" name="Text Box 30">
            <a:extLst>
              <a:ext uri="{FF2B5EF4-FFF2-40B4-BE49-F238E27FC236}">
                <a16:creationId xmlns:a16="http://schemas.microsoft.com/office/drawing/2014/main" id="{64D162E4-9C7E-4AD8-ED37-CE4563757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65906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68991" name="Rectangle 3">
            <a:extLst>
              <a:ext uri="{FF2B5EF4-FFF2-40B4-BE49-F238E27FC236}">
                <a16:creationId xmlns:a16="http://schemas.microsoft.com/office/drawing/2014/main" id="{C521DA23-CD7D-9A56-5E48-B440B59FB72F}"/>
              </a:ext>
            </a:extLst>
          </p:cNvPr>
          <p:cNvSpPr>
            <a:spLocks/>
          </p:cNvSpPr>
          <p:nvPr/>
        </p:nvSpPr>
        <p:spPr bwMode="auto">
          <a:xfrm>
            <a:off x="138113" y="3154363"/>
            <a:ext cx="8001000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/>
              <a:t>Start by swapping the </a:t>
            </a:r>
            <a:r>
              <a:rPr lang="en-US" altLang="en-US" sz="2200" i="1">
                <a:solidFill>
                  <a:srgbClr val="0000CC"/>
                </a:solidFill>
              </a:rPr>
              <a:t>pivot</a:t>
            </a:r>
            <a:r>
              <a:rPr lang="en-US" altLang="en-US" sz="2200"/>
              <a:t> with the </a:t>
            </a:r>
            <a:r>
              <a:rPr lang="en-US" altLang="en-US" sz="2200" i="1">
                <a:solidFill>
                  <a:srgbClr val="0000CC"/>
                </a:solidFill>
              </a:rPr>
              <a:t>right</a:t>
            </a:r>
            <a:r>
              <a:rPr lang="en-US" altLang="en-US" sz="2200"/>
              <a:t>, starting 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/>
              <a:t> at </a:t>
            </a:r>
            <a:r>
              <a:rPr lang="en-US" altLang="en-US" sz="2200" i="1">
                <a:solidFill>
                  <a:srgbClr val="0000CC"/>
                </a:solidFill>
              </a:rPr>
              <a:t>right</a:t>
            </a:r>
            <a:r>
              <a:rPr lang="en-US" altLang="en-US" sz="2200">
                <a:solidFill>
                  <a:srgbClr val="0000CC"/>
                </a:solidFill>
              </a:rPr>
              <a:t> -1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8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cxnSp>
        <p:nvCxnSpPr>
          <p:cNvPr id="161824" name="Straight Arrow Connector 16">
            <a:extLst>
              <a:ext uri="{FF2B5EF4-FFF2-40B4-BE49-F238E27FC236}">
                <a16:creationId xmlns:a16="http://schemas.microsoft.com/office/drawing/2014/main" id="{4A4C97B7-9D7F-F082-0CDD-25A4D5F51E5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1825" name="Text Box 33">
            <a:extLst>
              <a:ext uri="{FF2B5EF4-FFF2-40B4-BE49-F238E27FC236}">
                <a16:creationId xmlns:a16="http://schemas.microsoft.com/office/drawing/2014/main" id="{E150542F-2D6A-0220-13D8-B69344E13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61826" name="Freeform 184">
            <a:extLst>
              <a:ext uri="{FF2B5EF4-FFF2-40B4-BE49-F238E27FC236}">
                <a16:creationId xmlns:a16="http://schemas.microsoft.com/office/drawing/2014/main" id="{EE323E22-971B-10B8-8C17-76372D5D6952}"/>
              </a:ext>
            </a:extLst>
          </p:cNvPr>
          <p:cNvSpPr>
            <a:spLocks/>
          </p:cNvSpPr>
          <p:nvPr/>
        </p:nvSpPr>
        <p:spPr bwMode="auto">
          <a:xfrm flipV="1">
            <a:off x="3486150" y="1581150"/>
            <a:ext cx="3848100" cy="371475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875E743-6BB7-AF20-7946-4C57ADF0A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61828" name="Slide Number Placeholder 12">
            <a:extLst>
              <a:ext uri="{FF2B5EF4-FFF2-40B4-BE49-F238E27FC236}">
                <a16:creationId xmlns:a16="http://schemas.microsoft.com/office/drawing/2014/main" id="{67657BC2-7ABA-FCA9-C187-E8ACA5F44B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D2170D-35D7-49A0-8235-9944C8A3114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8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89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8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89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FBF5919A-F2DE-7D2C-0FB1-22CD64C096D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1</a:t>
            </a:r>
          </a:p>
        </p:txBody>
      </p:sp>
      <p:graphicFrame>
        <p:nvGraphicFramePr>
          <p:cNvPr id="164867" name="Group 3">
            <a:extLst>
              <a:ext uri="{FF2B5EF4-FFF2-40B4-BE49-F238E27FC236}">
                <a16:creationId xmlns:a16="http://schemas.microsoft.com/office/drawing/2014/main" id="{41F88FA7-7E65-4D08-A37A-072F302E59DC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3867" name="Straight Arrow Connector 16">
            <a:extLst>
              <a:ext uri="{FF2B5EF4-FFF2-40B4-BE49-F238E27FC236}">
                <a16:creationId xmlns:a16="http://schemas.microsoft.com/office/drawing/2014/main" id="{51FC8732-FEB5-D54C-238F-22641510D09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868" name="Text Box 28">
            <a:extLst>
              <a:ext uri="{FF2B5EF4-FFF2-40B4-BE49-F238E27FC236}">
                <a16:creationId xmlns:a16="http://schemas.microsoft.com/office/drawing/2014/main" id="{51F9356C-9432-B8FF-CEC6-99C262550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2" name="Straight Arrow Connector 16">
            <a:extLst>
              <a:ext uri="{FF2B5EF4-FFF2-40B4-BE49-F238E27FC236}">
                <a16:creationId xmlns:a16="http://schemas.microsoft.com/office/drawing/2014/main" id="{4DE9434C-45E2-C2AC-B161-AA77823637DA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592888" y="2343150"/>
            <a:ext cx="19050" cy="315913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894" name="Text Box 30">
            <a:extLst>
              <a:ext uri="{FF2B5EF4-FFF2-40B4-BE49-F238E27FC236}">
                <a16:creationId xmlns:a16="http://schemas.microsoft.com/office/drawing/2014/main" id="{CB33D25A-31D5-AA77-78E7-4744EFFD9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265906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64895" name="Rectangle 3">
            <a:extLst>
              <a:ext uri="{FF2B5EF4-FFF2-40B4-BE49-F238E27FC236}">
                <a16:creationId xmlns:a16="http://schemas.microsoft.com/office/drawing/2014/main" id="{F9BBB1ED-CFAD-7DE1-331C-8996786DBD64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7848600" cy="24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7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7030A0"/>
                </a:solidFill>
              </a:rPr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  <a:p>
            <a:pPr>
              <a:lnSpc>
                <a:spcPct val="90000"/>
              </a:lnSpc>
            </a:pPr>
            <a:endParaRPr lang="en-US" altLang="en-US" sz="200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</a:rPr>
              <a:t>Swap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i</a:t>
            </a:r>
            <a:r>
              <a:rPr lang="en-US" altLang="en-US" sz="2400">
                <a:solidFill>
                  <a:srgbClr val="FF0000"/>
                </a:solidFill>
              </a:rPr>
              <a:t>] and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j</a:t>
            </a:r>
            <a:r>
              <a:rPr lang="en-US" altLang="en-US" sz="2400">
                <a:solidFill>
                  <a:srgbClr val="FF0000"/>
                </a:solidFill>
              </a:rPr>
              <a:t>]</a:t>
            </a:r>
          </a:p>
        </p:txBody>
      </p:sp>
      <p:cxnSp>
        <p:nvCxnSpPr>
          <p:cNvPr id="163872" name="Straight Arrow Connector 16">
            <a:extLst>
              <a:ext uri="{FF2B5EF4-FFF2-40B4-BE49-F238E27FC236}">
                <a16:creationId xmlns:a16="http://schemas.microsoft.com/office/drawing/2014/main" id="{F63664C1-18D7-4FBD-9BD1-62CFCB14CBB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873" name="Text Box 33">
            <a:extLst>
              <a:ext uri="{FF2B5EF4-FFF2-40B4-BE49-F238E27FC236}">
                <a16:creationId xmlns:a16="http://schemas.microsoft.com/office/drawing/2014/main" id="{4A43C19F-4457-4A20-BE40-215BC195C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4" name="Straight Arrow Connector 16">
            <a:extLst>
              <a:ext uri="{FF2B5EF4-FFF2-40B4-BE49-F238E27FC236}">
                <a16:creationId xmlns:a16="http://schemas.microsoft.com/office/drawing/2014/main" id="{4D725A56-FA61-0B31-A85F-9DBB77325E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00738" y="23574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900" name="Text Box 36">
            <a:extLst>
              <a:ext uri="{FF2B5EF4-FFF2-40B4-BE49-F238E27FC236}">
                <a16:creationId xmlns:a16="http://schemas.microsoft.com/office/drawing/2014/main" id="{E7F8E90B-1C48-B8DF-4A5A-4125350D5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64901" name="Freeform 184">
            <a:extLst>
              <a:ext uri="{FF2B5EF4-FFF2-40B4-BE49-F238E27FC236}">
                <a16:creationId xmlns:a16="http://schemas.microsoft.com/office/drawing/2014/main" id="{18E02CC3-D5CB-2FC3-5F7E-E8E892D9FD00}"/>
              </a:ext>
            </a:extLst>
          </p:cNvPr>
          <p:cNvSpPr>
            <a:spLocks/>
          </p:cNvSpPr>
          <p:nvPr/>
        </p:nvSpPr>
        <p:spPr bwMode="auto">
          <a:xfrm flipV="1">
            <a:off x="342900" y="1581150"/>
            <a:ext cx="54483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A2138F1-7B3F-2823-B242-E20A532AF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63878" name="Slide Number Placeholder 14">
            <a:extLst>
              <a:ext uri="{FF2B5EF4-FFF2-40B4-BE49-F238E27FC236}">
                <a16:creationId xmlns:a16="http://schemas.microsoft.com/office/drawing/2014/main" id="{76C42D08-FE77-D167-5C7E-2F39B90CEA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31F810-4B09-4374-A7C0-B26256E77E2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4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4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4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4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4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4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4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4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48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4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4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94" grpId="0"/>
      <p:bldP spid="164900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55D942BD-230D-8D23-CABD-6D3E90458D3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1</a:t>
            </a:r>
          </a:p>
        </p:txBody>
      </p:sp>
      <p:graphicFrame>
        <p:nvGraphicFramePr>
          <p:cNvPr id="166915" name="Group 3">
            <a:extLst>
              <a:ext uri="{FF2B5EF4-FFF2-40B4-BE49-F238E27FC236}">
                <a16:creationId xmlns:a16="http://schemas.microsoft.com/office/drawing/2014/main" id="{D24197D2-525C-B9E1-A3F5-D52722CBFF4C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5915" name="Straight Arrow Connector 16">
            <a:extLst>
              <a:ext uri="{FF2B5EF4-FFF2-40B4-BE49-F238E27FC236}">
                <a16:creationId xmlns:a16="http://schemas.microsoft.com/office/drawing/2014/main" id="{149C640E-9150-6DA2-18ED-D8606F790F0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5916" name="Text Box 28">
            <a:extLst>
              <a:ext uri="{FF2B5EF4-FFF2-40B4-BE49-F238E27FC236}">
                <a16:creationId xmlns:a16="http://schemas.microsoft.com/office/drawing/2014/main" id="{66148C74-1406-F167-A912-CDACE2389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65917" name="Rectangle 3">
            <a:extLst>
              <a:ext uri="{FF2B5EF4-FFF2-40B4-BE49-F238E27FC236}">
                <a16:creationId xmlns:a16="http://schemas.microsoft.com/office/drawing/2014/main" id="{9B8D4A7B-A5AC-AD66-DEB2-9821F4354D32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7848600" cy="256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7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</a:t>
            </a:r>
            <a:r>
              <a:rPr lang="en-US" altLang="en-US" sz="2000"/>
              <a:t>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  <a:p>
            <a:pPr>
              <a:lnSpc>
                <a:spcPct val="90000"/>
              </a:lnSpc>
            </a:pPr>
            <a:endParaRPr lang="en-US" altLang="en-US" sz="200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</a:rPr>
              <a:t>Swap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i</a:t>
            </a:r>
            <a:r>
              <a:rPr lang="en-US" altLang="en-US" sz="2400">
                <a:solidFill>
                  <a:srgbClr val="FF0000"/>
                </a:solidFill>
              </a:rPr>
              <a:t>] and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j</a:t>
            </a:r>
            <a:r>
              <a:rPr lang="en-US" altLang="en-US" sz="2400">
                <a:solidFill>
                  <a:srgbClr val="FF0000"/>
                </a:solidFill>
              </a:rPr>
              <a:t>]</a:t>
            </a:r>
          </a:p>
        </p:txBody>
      </p:sp>
      <p:cxnSp>
        <p:nvCxnSpPr>
          <p:cNvPr id="165918" name="Straight Arrow Connector 16">
            <a:extLst>
              <a:ext uri="{FF2B5EF4-FFF2-40B4-BE49-F238E27FC236}">
                <a16:creationId xmlns:a16="http://schemas.microsoft.com/office/drawing/2014/main" id="{E17F0835-014F-1426-70FB-34C3C9986FA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5919" name="Text Box 33">
            <a:extLst>
              <a:ext uri="{FF2B5EF4-FFF2-40B4-BE49-F238E27FC236}">
                <a16:creationId xmlns:a16="http://schemas.microsoft.com/office/drawing/2014/main" id="{168CA6A4-E00D-69B8-549D-22052FB3B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65920" name="Straight Arrow Connector 16">
            <a:extLst>
              <a:ext uri="{FF2B5EF4-FFF2-40B4-BE49-F238E27FC236}">
                <a16:creationId xmlns:a16="http://schemas.microsoft.com/office/drawing/2014/main" id="{8E0B0633-2EC3-1B80-42A7-BD1AFF8F526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00738" y="23574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5921" name="Text Box 35">
            <a:extLst>
              <a:ext uri="{FF2B5EF4-FFF2-40B4-BE49-F238E27FC236}">
                <a16:creationId xmlns:a16="http://schemas.microsoft.com/office/drawing/2014/main" id="{7A422AD9-EDDA-FA22-8719-A86D838BA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65922" name="Freeform 184">
            <a:extLst>
              <a:ext uri="{FF2B5EF4-FFF2-40B4-BE49-F238E27FC236}">
                <a16:creationId xmlns:a16="http://schemas.microsoft.com/office/drawing/2014/main" id="{684A32A1-9866-FFF1-CC2F-71F4D50C54F6}"/>
              </a:ext>
            </a:extLst>
          </p:cNvPr>
          <p:cNvSpPr>
            <a:spLocks/>
          </p:cNvSpPr>
          <p:nvPr/>
        </p:nvSpPr>
        <p:spPr bwMode="auto">
          <a:xfrm flipV="1">
            <a:off x="342900" y="1581150"/>
            <a:ext cx="54483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814304F-A83D-299D-619B-446AAC99C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65924" name="Slide Number Placeholder 12">
            <a:extLst>
              <a:ext uri="{FF2B5EF4-FFF2-40B4-BE49-F238E27FC236}">
                <a16:creationId xmlns:a16="http://schemas.microsoft.com/office/drawing/2014/main" id="{CE9126BD-56B4-8770-116A-387433561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2E0EB1-128E-4875-B459-2D08F9F25D7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673494DC-B0BE-6F41-C9E7-3033DA703657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2</a:t>
            </a:r>
          </a:p>
        </p:txBody>
      </p:sp>
      <p:graphicFrame>
        <p:nvGraphicFramePr>
          <p:cNvPr id="171011" name="Group 3">
            <a:extLst>
              <a:ext uri="{FF2B5EF4-FFF2-40B4-BE49-F238E27FC236}">
                <a16:creationId xmlns:a16="http://schemas.microsoft.com/office/drawing/2014/main" id="{CE63C969-AA3A-8C79-5002-64853A0297EC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3D5421-C98D-AFCE-6B2D-E3C73035CE8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572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36" name="Text Box 28">
            <a:extLst>
              <a:ext uri="{FF2B5EF4-FFF2-40B4-BE49-F238E27FC236}">
                <a16:creationId xmlns:a16="http://schemas.microsoft.com/office/drawing/2014/main" id="{24169260-F1C9-D065-27DE-05E00CC46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71037" name="Rectangle 3">
            <a:extLst>
              <a:ext uri="{FF2B5EF4-FFF2-40B4-BE49-F238E27FC236}">
                <a16:creationId xmlns:a16="http://schemas.microsoft.com/office/drawing/2014/main" id="{69E63D24-DD16-DB56-1995-ABD40286501D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00400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1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4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cxnSp>
        <p:nvCxnSpPr>
          <p:cNvPr id="167966" name="Straight Arrow Connector 16">
            <a:extLst>
              <a:ext uri="{FF2B5EF4-FFF2-40B4-BE49-F238E27FC236}">
                <a16:creationId xmlns:a16="http://schemas.microsoft.com/office/drawing/2014/main" id="{A4A25E3C-47B5-4533-6FF4-2B9A3E953F8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7967" name="Text Box 31">
            <a:extLst>
              <a:ext uri="{FF2B5EF4-FFF2-40B4-BE49-F238E27FC236}">
                <a16:creationId xmlns:a16="http://schemas.microsoft.com/office/drawing/2014/main" id="{DE9F2239-7068-0936-93CF-9B69D2023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3" name="Straight Arrow Connector 16">
            <a:extLst>
              <a:ext uri="{FF2B5EF4-FFF2-40B4-BE49-F238E27FC236}">
                <a16:creationId xmlns:a16="http://schemas.microsoft.com/office/drawing/2014/main" id="{14CC2DEE-617E-9541-EE35-D33EE0E30CA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00738" y="23574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41" name="Text Box 33">
            <a:extLst>
              <a:ext uri="{FF2B5EF4-FFF2-40B4-BE49-F238E27FC236}">
                <a16:creationId xmlns:a16="http://schemas.microsoft.com/office/drawing/2014/main" id="{BEA6B502-B3AE-6B02-BE49-5B10A82C1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71042" name="Freeform 184">
            <a:extLst>
              <a:ext uri="{FF2B5EF4-FFF2-40B4-BE49-F238E27FC236}">
                <a16:creationId xmlns:a16="http://schemas.microsoft.com/office/drawing/2014/main" id="{5F5A0C64-D77D-3F31-C047-FA5D11B665FD}"/>
              </a:ext>
            </a:extLst>
          </p:cNvPr>
          <p:cNvSpPr>
            <a:spLocks/>
          </p:cNvSpPr>
          <p:nvPr/>
        </p:nvSpPr>
        <p:spPr bwMode="auto">
          <a:xfrm flipV="1">
            <a:off x="2819400" y="1581150"/>
            <a:ext cx="21336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4" name="Straight Arrow Connector 16">
            <a:extLst>
              <a:ext uri="{FF2B5EF4-FFF2-40B4-BE49-F238E27FC236}">
                <a16:creationId xmlns:a16="http://schemas.microsoft.com/office/drawing/2014/main" id="{BE83FAD5-5407-B646-9B26-42C12819AA7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190625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44" name="Text Box 36">
            <a:extLst>
              <a:ext uri="{FF2B5EF4-FFF2-40B4-BE49-F238E27FC236}">
                <a16:creationId xmlns:a16="http://schemas.microsoft.com/office/drawing/2014/main" id="{9DC2A6C8-3853-798D-8C04-6F3BF681C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26638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7CBB125E-3D57-4466-C89F-A2D3B930DD1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9859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46" name="Text Box 38">
            <a:extLst>
              <a:ext uri="{FF2B5EF4-FFF2-40B4-BE49-F238E27FC236}">
                <a16:creationId xmlns:a16="http://schemas.microsoft.com/office/drawing/2014/main" id="{8AB8E5C9-94E1-918A-0320-A7287FEE6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6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" name="Straight Arrow Connector 16">
            <a:extLst>
              <a:ext uri="{FF2B5EF4-FFF2-40B4-BE49-F238E27FC236}">
                <a16:creationId xmlns:a16="http://schemas.microsoft.com/office/drawing/2014/main" id="{6EDDA0FA-9676-EB48-8D6E-633E27240AB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95575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48" name="Text Box 40">
            <a:extLst>
              <a:ext uri="{FF2B5EF4-FFF2-40B4-BE49-F238E27FC236}">
                <a16:creationId xmlns:a16="http://schemas.microsoft.com/office/drawing/2014/main" id="{A0308273-2A2F-4234-52E8-742CECEF8F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3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71049" name="Rectangle 3">
            <a:extLst>
              <a:ext uri="{FF2B5EF4-FFF2-40B4-BE49-F238E27FC236}">
                <a16:creationId xmlns:a16="http://schemas.microsoft.com/office/drawing/2014/main" id="{ECE69EC1-3560-F6DF-D159-7C23120DADBA}"/>
              </a:ext>
            </a:extLst>
          </p:cNvPr>
          <p:cNvSpPr>
            <a:spLocks/>
          </p:cNvSpPr>
          <p:nvPr/>
        </p:nvSpPr>
        <p:spPr bwMode="auto">
          <a:xfrm>
            <a:off x="4419600" y="3154363"/>
            <a:ext cx="3276600" cy="217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8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</p:txBody>
      </p:sp>
      <p:cxnSp>
        <p:nvCxnSpPr>
          <p:cNvPr id="7" name="Straight Arrow Connector 16">
            <a:extLst>
              <a:ext uri="{FF2B5EF4-FFF2-40B4-BE49-F238E27FC236}">
                <a16:creationId xmlns:a16="http://schemas.microsoft.com/office/drawing/2014/main" id="{50A163D8-6AD4-218F-52D1-D2ECD5DE08C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3479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1051" name="Text Box 43">
            <a:extLst>
              <a:ext uri="{FF2B5EF4-FFF2-40B4-BE49-F238E27FC236}">
                <a16:creationId xmlns:a16="http://schemas.microsoft.com/office/drawing/2014/main" id="{C2452DDE-5223-2E68-3387-9C2B16920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638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E43251A4-8D5D-9BCF-BB60-15B5B6546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67981" name="Slide Number Placeholder 21">
            <a:extLst>
              <a:ext uri="{FF2B5EF4-FFF2-40B4-BE49-F238E27FC236}">
                <a16:creationId xmlns:a16="http://schemas.microsoft.com/office/drawing/2014/main" id="{8B7D86DF-CA26-B85A-094D-BB016D82A4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D144A1-98AE-4548-969D-D3831426A631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1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1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1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1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1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10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1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1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1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10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1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1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1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10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1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1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1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710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71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71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710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710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710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710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7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7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41" grpId="0"/>
      <p:bldP spid="171044" grpId="0"/>
      <p:bldP spid="171044" grpId="1"/>
      <p:bldP spid="171046" grpId="0"/>
      <p:bldP spid="171046" grpId="1"/>
      <p:bldP spid="171048" grpId="0"/>
      <p:bldP spid="17105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B09C8B50-95AB-5DD7-9F06-DFE3541C328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2</a:t>
            </a:r>
          </a:p>
        </p:txBody>
      </p:sp>
      <p:graphicFrame>
        <p:nvGraphicFramePr>
          <p:cNvPr id="173059" name="Group 3">
            <a:extLst>
              <a:ext uri="{FF2B5EF4-FFF2-40B4-BE49-F238E27FC236}">
                <a16:creationId xmlns:a16="http://schemas.microsoft.com/office/drawing/2014/main" id="{BFC06377-9FC6-D52A-EBEE-68F09E6DF4E7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0011" name="Straight Arrow Connector 16">
            <a:extLst>
              <a:ext uri="{FF2B5EF4-FFF2-40B4-BE49-F238E27FC236}">
                <a16:creationId xmlns:a16="http://schemas.microsoft.com/office/drawing/2014/main" id="{F28092D9-E9EA-5868-CADC-50F292E61E5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0012" name="Text Box 31">
            <a:extLst>
              <a:ext uri="{FF2B5EF4-FFF2-40B4-BE49-F238E27FC236}">
                <a16:creationId xmlns:a16="http://schemas.microsoft.com/office/drawing/2014/main" id="{E2287F2F-E5EB-BC24-C90A-94F9D0C0F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70013" name="Straight Arrow Connector 16">
            <a:extLst>
              <a:ext uri="{FF2B5EF4-FFF2-40B4-BE49-F238E27FC236}">
                <a16:creationId xmlns:a16="http://schemas.microsoft.com/office/drawing/2014/main" id="{2D775E64-F6A7-2485-9953-90BCEA29C6A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95575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0014" name="Text Box 40">
            <a:extLst>
              <a:ext uri="{FF2B5EF4-FFF2-40B4-BE49-F238E27FC236}">
                <a16:creationId xmlns:a16="http://schemas.microsoft.com/office/drawing/2014/main" id="{AAB884F9-D2E7-BFEC-907A-2F6910CC2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3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70015" name="Straight Arrow Connector 16">
            <a:extLst>
              <a:ext uri="{FF2B5EF4-FFF2-40B4-BE49-F238E27FC236}">
                <a16:creationId xmlns:a16="http://schemas.microsoft.com/office/drawing/2014/main" id="{DD600640-87D0-77EC-2FD8-94C17905F6A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3479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0016" name="Text Box 43">
            <a:extLst>
              <a:ext uri="{FF2B5EF4-FFF2-40B4-BE49-F238E27FC236}">
                <a16:creationId xmlns:a16="http://schemas.microsoft.com/office/drawing/2014/main" id="{833AD478-FEBC-1B3D-CBC4-B338707F4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638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70017" name="Freeform 184">
            <a:extLst>
              <a:ext uri="{FF2B5EF4-FFF2-40B4-BE49-F238E27FC236}">
                <a16:creationId xmlns:a16="http://schemas.microsoft.com/office/drawing/2014/main" id="{8F62A531-0052-A01B-2727-BBF2FAA24192}"/>
              </a:ext>
            </a:extLst>
          </p:cNvPr>
          <p:cNvSpPr>
            <a:spLocks/>
          </p:cNvSpPr>
          <p:nvPr/>
        </p:nvSpPr>
        <p:spPr bwMode="auto">
          <a:xfrm flipV="1">
            <a:off x="2819400" y="1581150"/>
            <a:ext cx="21336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70018" name="Rectangle 3">
            <a:extLst>
              <a:ext uri="{FF2B5EF4-FFF2-40B4-BE49-F238E27FC236}">
                <a16:creationId xmlns:a16="http://schemas.microsoft.com/office/drawing/2014/main" id="{473AC8B5-496E-29DF-0116-72E7E57F717A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00400" cy="286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2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1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4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sp>
        <p:nvSpPr>
          <p:cNvPr id="170019" name="Rectangle 3">
            <a:extLst>
              <a:ext uri="{FF2B5EF4-FFF2-40B4-BE49-F238E27FC236}">
                <a16:creationId xmlns:a16="http://schemas.microsoft.com/office/drawing/2014/main" id="{08203FD8-6408-0292-C525-029E269733AF}"/>
              </a:ext>
            </a:extLst>
          </p:cNvPr>
          <p:cNvSpPr>
            <a:spLocks/>
          </p:cNvSpPr>
          <p:nvPr/>
        </p:nvSpPr>
        <p:spPr bwMode="auto">
          <a:xfrm>
            <a:off x="4419600" y="3154363"/>
            <a:ext cx="3276600" cy="217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8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/>
              <a:t> </a:t>
            </a:r>
            <a:r>
              <a:rPr lang="en-US" altLang="en-US" sz="2000">
                <a:solidFill>
                  <a:srgbClr val="6C2A5E"/>
                </a:solidFill>
              </a:rPr>
              <a:t>right over here</a:t>
            </a:r>
          </a:p>
          <a:p>
            <a:pPr>
              <a:lnSpc>
                <a:spcPct val="90000"/>
              </a:lnSpc>
            </a:pPr>
            <a:endParaRPr lang="en-US" altLang="en-US" sz="2000">
              <a:solidFill>
                <a:srgbClr val="0000CC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rgbClr val="FF0000"/>
                </a:solidFill>
              </a:rPr>
              <a:t>Swap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i</a:t>
            </a:r>
            <a:r>
              <a:rPr lang="en-US" altLang="en-US" sz="2400">
                <a:solidFill>
                  <a:srgbClr val="FF0000"/>
                </a:solidFill>
              </a:rPr>
              <a:t>] and </a:t>
            </a:r>
            <a:r>
              <a:rPr lang="en-US" altLang="en-US" sz="2400" i="1">
                <a:solidFill>
                  <a:srgbClr val="FF0000"/>
                </a:solidFill>
              </a:rPr>
              <a:t>A</a:t>
            </a:r>
            <a:r>
              <a:rPr lang="en-US" altLang="en-US" sz="2400">
                <a:solidFill>
                  <a:srgbClr val="FF0000"/>
                </a:solidFill>
              </a:rPr>
              <a:t>[</a:t>
            </a:r>
            <a:r>
              <a:rPr lang="en-US" altLang="en-US" sz="2400" i="1">
                <a:solidFill>
                  <a:srgbClr val="FF0000"/>
                </a:solidFill>
              </a:rPr>
              <a:t>j</a:t>
            </a:r>
            <a:r>
              <a:rPr lang="en-US" altLang="en-US" sz="2400">
                <a:solidFill>
                  <a:srgbClr val="FF0000"/>
                </a:solidFill>
              </a:rPr>
              <a:t>]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EC7760B1-DCAA-2951-C9AD-9133134A0775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3</a:t>
            </a:r>
          </a:p>
        </p:txBody>
      </p:sp>
      <p:graphicFrame>
        <p:nvGraphicFramePr>
          <p:cNvPr id="175107" name="Group 3">
            <a:extLst>
              <a:ext uri="{FF2B5EF4-FFF2-40B4-BE49-F238E27FC236}">
                <a16:creationId xmlns:a16="http://schemas.microsoft.com/office/drawing/2014/main" id="{C5259BC8-26CD-03D1-8CEE-8EACF6614EE3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5131" name="Rectangle 3">
            <a:extLst>
              <a:ext uri="{FF2B5EF4-FFF2-40B4-BE49-F238E27FC236}">
                <a16:creationId xmlns:a16="http://schemas.microsoft.com/office/drawing/2014/main" id="{9CE65456-8D4B-4E14-B653-B220FF6F0A97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766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0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cxnSp>
        <p:nvCxnSpPr>
          <p:cNvPr id="172060" name="Straight Arrow Connector 16">
            <a:extLst>
              <a:ext uri="{FF2B5EF4-FFF2-40B4-BE49-F238E27FC236}">
                <a16:creationId xmlns:a16="http://schemas.microsoft.com/office/drawing/2014/main" id="{D1E51816-5BDF-7DE9-D1E7-58FFA38B223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2061" name="Text Box 29">
            <a:extLst>
              <a:ext uri="{FF2B5EF4-FFF2-40B4-BE49-F238E27FC236}">
                <a16:creationId xmlns:a16="http://schemas.microsoft.com/office/drawing/2014/main" id="{A3BC291F-19C4-D418-5F18-3E9118D29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2" name="Straight Arrow Connector 16">
            <a:extLst>
              <a:ext uri="{FF2B5EF4-FFF2-40B4-BE49-F238E27FC236}">
                <a16:creationId xmlns:a16="http://schemas.microsoft.com/office/drawing/2014/main" id="{28CFAFEA-DDAD-C41C-8101-BBFBC55FE79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95575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135" name="Text Box 31">
            <a:extLst>
              <a:ext uri="{FF2B5EF4-FFF2-40B4-BE49-F238E27FC236}">
                <a16:creationId xmlns:a16="http://schemas.microsoft.com/office/drawing/2014/main" id="{7BDD09F3-E9B8-6A46-5659-0FAEA380E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213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172064" name="Straight Arrow Connector 16">
            <a:extLst>
              <a:ext uri="{FF2B5EF4-FFF2-40B4-BE49-F238E27FC236}">
                <a16:creationId xmlns:a16="http://schemas.microsoft.com/office/drawing/2014/main" id="{ECAD8EAA-BDFA-7D5C-A0BF-251F5DA791E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3479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2065" name="Text Box 34">
            <a:extLst>
              <a:ext uri="{FF2B5EF4-FFF2-40B4-BE49-F238E27FC236}">
                <a16:creationId xmlns:a16="http://schemas.microsoft.com/office/drawing/2014/main" id="{82500FA0-BE4C-5F4D-804A-712D82FD7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638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72066" name="Freeform 184">
            <a:extLst>
              <a:ext uri="{FF2B5EF4-FFF2-40B4-BE49-F238E27FC236}">
                <a16:creationId xmlns:a16="http://schemas.microsoft.com/office/drawing/2014/main" id="{C5F854D9-8358-9EE1-2332-AB5299A047AE}"/>
              </a:ext>
            </a:extLst>
          </p:cNvPr>
          <p:cNvSpPr>
            <a:spLocks/>
          </p:cNvSpPr>
          <p:nvPr/>
        </p:nvSpPr>
        <p:spPr bwMode="auto">
          <a:xfrm flipV="1">
            <a:off x="2819400" y="1581150"/>
            <a:ext cx="21336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4" name="Straight Arrow Connector 16">
            <a:extLst>
              <a:ext uri="{FF2B5EF4-FFF2-40B4-BE49-F238E27FC236}">
                <a16:creationId xmlns:a16="http://schemas.microsoft.com/office/drawing/2014/main" id="{DFDFE315-E192-8899-B764-4AC826363B1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524250" y="2357438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141" name="Text Box 37">
            <a:extLst>
              <a:ext uri="{FF2B5EF4-FFF2-40B4-BE49-F238E27FC236}">
                <a16:creationId xmlns:a16="http://schemas.microsoft.com/office/drawing/2014/main" id="{9165A661-42FD-735E-F2BA-093DFF812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7888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5" name="Straight Arrow Connector 16">
            <a:extLst>
              <a:ext uri="{FF2B5EF4-FFF2-40B4-BE49-F238E27FC236}">
                <a16:creationId xmlns:a16="http://schemas.microsoft.com/office/drawing/2014/main" id="{D17B801B-4C57-A196-E322-791282D5775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86250" y="2357438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143" name="Text Box 39">
            <a:extLst>
              <a:ext uri="{FF2B5EF4-FFF2-40B4-BE49-F238E27FC236}">
                <a16:creationId xmlns:a16="http://schemas.microsoft.com/office/drawing/2014/main" id="{7547BBD0-562A-D671-9DF8-A81616EBB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26733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cxnSp>
        <p:nvCxnSpPr>
          <p:cNvPr id="6" name="Straight Arrow Connector 16">
            <a:extLst>
              <a:ext uri="{FF2B5EF4-FFF2-40B4-BE49-F238E27FC236}">
                <a16:creationId xmlns:a16="http://schemas.microsoft.com/office/drawing/2014/main" id="{5600F6BF-0D3F-1966-8F85-A8033C989C3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1496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5145" name="Text Box 41">
            <a:extLst>
              <a:ext uri="{FF2B5EF4-FFF2-40B4-BE49-F238E27FC236}">
                <a16:creationId xmlns:a16="http://schemas.microsoft.com/office/drawing/2014/main" id="{A9561924-105C-E915-C0FD-05F8FA909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D5C7EC4-0CF4-F246-8CE5-518C9F99B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72074" name="Slide Number Placeholder 18">
            <a:extLst>
              <a:ext uri="{FF2B5EF4-FFF2-40B4-BE49-F238E27FC236}">
                <a16:creationId xmlns:a16="http://schemas.microsoft.com/office/drawing/2014/main" id="{F6AFAA99-29F5-B645-0F17-CE9957F963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9B5C20-15F6-4A32-8A22-DE809D2FA4B8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5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75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5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5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5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5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5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5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5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5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5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5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5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35" grpId="0"/>
      <p:bldP spid="175141" grpId="0"/>
      <p:bldP spid="175141" grpId="1"/>
      <p:bldP spid="175143" grpId="0"/>
      <p:bldP spid="175143" grpId="1"/>
      <p:bldP spid="17514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06F67D74-442F-F013-C134-8E626E47F898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3</a:t>
            </a:r>
          </a:p>
        </p:txBody>
      </p:sp>
      <p:graphicFrame>
        <p:nvGraphicFramePr>
          <p:cNvPr id="177155" name="Group 3">
            <a:extLst>
              <a:ext uri="{FF2B5EF4-FFF2-40B4-BE49-F238E27FC236}">
                <a16:creationId xmlns:a16="http://schemas.microsoft.com/office/drawing/2014/main" id="{0EC1577E-01F6-FEF7-68E3-94FA16405C12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4107" name="Straight Arrow Connector 16">
            <a:extLst>
              <a:ext uri="{FF2B5EF4-FFF2-40B4-BE49-F238E27FC236}">
                <a16:creationId xmlns:a16="http://schemas.microsoft.com/office/drawing/2014/main" id="{3AC0B4E5-55E3-7015-A44A-E384492C4E4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08" name="Text Box 29">
            <a:extLst>
              <a:ext uri="{FF2B5EF4-FFF2-40B4-BE49-F238E27FC236}">
                <a16:creationId xmlns:a16="http://schemas.microsoft.com/office/drawing/2014/main" id="{1A2A5520-9C83-36C4-C1D2-259A03305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42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77184" name="Rectangle 3">
            <a:extLst>
              <a:ext uri="{FF2B5EF4-FFF2-40B4-BE49-F238E27FC236}">
                <a16:creationId xmlns:a16="http://schemas.microsoft.com/office/drawing/2014/main" id="{DD5C43ED-AE0F-E858-7D7D-0EFB20783E53}"/>
              </a:ext>
            </a:extLst>
          </p:cNvPr>
          <p:cNvSpPr>
            <a:spLocks/>
          </p:cNvSpPr>
          <p:nvPr/>
        </p:nvSpPr>
        <p:spPr bwMode="auto">
          <a:xfrm>
            <a:off x="4114800" y="3154363"/>
            <a:ext cx="38862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 and 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 have crossed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So no swap for</a:t>
            </a:r>
            <a:r>
              <a:rPr lang="en-US" altLang="en-US" sz="2000">
                <a:solidFill>
                  <a:srgbClr val="0000CC"/>
                </a:solidFill>
              </a:rPr>
              <a:t>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0000CC"/>
                </a:solidFill>
              </a:rPr>
              <a:t>] </a:t>
            </a:r>
            <a:r>
              <a:rPr lang="en-US" altLang="en-US" sz="2000">
                <a:solidFill>
                  <a:srgbClr val="6C2A5E"/>
                </a:solidFill>
              </a:rPr>
              <a:t>and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0000CC"/>
                </a:solidFill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altLang="en-US" sz="2000">
                <a:solidFill>
                  <a:srgbClr val="0000CC"/>
                </a:solidFill>
              </a:rPr>
              <a:t>Instead</a:t>
            </a:r>
            <a:r>
              <a:rPr lang="en-US" altLang="en-US" sz="2000">
                <a:solidFill>
                  <a:srgbClr val="FF0000"/>
                </a:solidFill>
              </a:rPr>
              <a:t> Swap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i</a:t>
            </a:r>
            <a:r>
              <a:rPr lang="en-US" altLang="en-US" sz="2000">
                <a:solidFill>
                  <a:srgbClr val="FF0000"/>
                </a:solidFill>
              </a:rPr>
              <a:t>] and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pivot</a:t>
            </a:r>
            <a:r>
              <a:rPr lang="en-US" altLang="en-US" sz="2000">
                <a:solidFill>
                  <a:srgbClr val="FF0000"/>
                </a:solidFill>
              </a:rPr>
              <a:t>]</a:t>
            </a:r>
          </a:p>
        </p:txBody>
      </p:sp>
      <p:cxnSp>
        <p:nvCxnSpPr>
          <p:cNvPr id="2" name="Straight Arrow Connector 16">
            <a:extLst>
              <a:ext uri="{FF2B5EF4-FFF2-40B4-BE49-F238E27FC236}">
                <a16:creationId xmlns:a16="http://schemas.microsoft.com/office/drawing/2014/main" id="{726309C4-AB91-D1EC-9194-A4A58D24695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35563" y="23336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7186" name="Text Box 34">
            <a:extLst>
              <a:ext uri="{FF2B5EF4-FFF2-40B4-BE49-F238E27FC236}">
                <a16:creationId xmlns:a16="http://schemas.microsoft.com/office/drawing/2014/main" id="{B44D1F18-D286-8161-9C2D-E86CFCD63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49538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77187" name="Freeform 184">
            <a:extLst>
              <a:ext uri="{FF2B5EF4-FFF2-40B4-BE49-F238E27FC236}">
                <a16:creationId xmlns:a16="http://schemas.microsoft.com/office/drawing/2014/main" id="{3EFACC07-D18A-3F7D-A5E3-13762E5C59FA}"/>
              </a:ext>
            </a:extLst>
          </p:cNvPr>
          <p:cNvSpPr>
            <a:spLocks/>
          </p:cNvSpPr>
          <p:nvPr/>
        </p:nvSpPr>
        <p:spPr bwMode="auto">
          <a:xfrm flipH="1" flipV="1">
            <a:off x="49530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3" name="Straight Arrow Connector 16">
            <a:extLst>
              <a:ext uri="{FF2B5EF4-FFF2-40B4-BE49-F238E27FC236}">
                <a16:creationId xmlns:a16="http://schemas.microsoft.com/office/drawing/2014/main" id="{A3977388-F5F8-80E3-EBCB-EF96F5C2D32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64025" y="232886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7195" name="Text Box 43">
            <a:extLst>
              <a:ext uri="{FF2B5EF4-FFF2-40B4-BE49-F238E27FC236}">
                <a16:creationId xmlns:a16="http://schemas.microsoft.com/office/drawing/2014/main" id="{0099E7BF-647D-B860-E4EE-1E7C3B62A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264477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74115" name="Straight Arrow Connector 16">
            <a:extLst>
              <a:ext uri="{FF2B5EF4-FFF2-40B4-BE49-F238E27FC236}">
                <a16:creationId xmlns:a16="http://schemas.microsoft.com/office/drawing/2014/main" id="{95FF552F-6C79-B64C-9DDA-9EC09A99A60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1496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16" name="Text Box 45">
            <a:extLst>
              <a:ext uri="{FF2B5EF4-FFF2-40B4-BE49-F238E27FC236}">
                <a16:creationId xmlns:a16="http://schemas.microsoft.com/office/drawing/2014/main" id="{90C2E755-4B39-2489-AA1E-2C2E2FEC2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2678113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F895425-9905-6D47-A6CD-F7BA77F8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74118" name="Slide Number Placeholder 15">
            <a:extLst>
              <a:ext uri="{FF2B5EF4-FFF2-40B4-BE49-F238E27FC236}">
                <a16:creationId xmlns:a16="http://schemas.microsoft.com/office/drawing/2014/main" id="{B9AA07E1-30BF-BA54-A7D5-7A66DB8010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574856-7687-497F-AD4B-3B50FFE9CE4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74119" name="Rectangle 3">
            <a:extLst>
              <a:ext uri="{FF2B5EF4-FFF2-40B4-BE49-F238E27FC236}">
                <a16:creationId xmlns:a16="http://schemas.microsoft.com/office/drawing/2014/main" id="{9C2C13AE-AAF8-951D-9464-74D47994BFC2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766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0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6C2A5E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7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7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77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7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7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7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71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7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7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7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7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7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71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7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7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86" grpId="0"/>
      <p:bldP spid="17719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739AC2F5-C296-D2CB-60FB-CCD63C39D32D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:Partitioning strategy 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Step 3</a:t>
            </a:r>
          </a:p>
        </p:txBody>
      </p:sp>
      <p:graphicFrame>
        <p:nvGraphicFramePr>
          <p:cNvPr id="179203" name="Group 3">
            <a:extLst>
              <a:ext uri="{FF2B5EF4-FFF2-40B4-BE49-F238E27FC236}">
                <a16:creationId xmlns:a16="http://schemas.microsoft.com/office/drawing/2014/main" id="{C175350A-FAB9-1FE9-E04A-F64CE5166425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6155" name="Straight Arrow Connector 16">
            <a:extLst>
              <a:ext uri="{FF2B5EF4-FFF2-40B4-BE49-F238E27FC236}">
                <a16:creationId xmlns:a16="http://schemas.microsoft.com/office/drawing/2014/main" id="{BFF6BD0E-93C7-708C-BCD4-2986F7E9D51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23352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6156" name="Freeform 184">
            <a:extLst>
              <a:ext uri="{FF2B5EF4-FFF2-40B4-BE49-F238E27FC236}">
                <a16:creationId xmlns:a16="http://schemas.microsoft.com/office/drawing/2014/main" id="{72B58C05-3DE9-17B7-0496-7799A91396CE}"/>
              </a:ext>
            </a:extLst>
          </p:cNvPr>
          <p:cNvSpPr>
            <a:spLocks/>
          </p:cNvSpPr>
          <p:nvPr/>
        </p:nvSpPr>
        <p:spPr bwMode="auto">
          <a:xfrm flipH="1" flipV="1">
            <a:off x="49530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cxnSp>
        <p:nvCxnSpPr>
          <p:cNvPr id="176157" name="Straight Arrow Connector 16">
            <a:extLst>
              <a:ext uri="{FF2B5EF4-FFF2-40B4-BE49-F238E27FC236}">
                <a16:creationId xmlns:a16="http://schemas.microsoft.com/office/drawing/2014/main" id="{11E911E9-5447-0FC7-6E09-8069887B8EA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64025" y="232886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6158" name="Text Box 35">
            <a:extLst>
              <a:ext uri="{FF2B5EF4-FFF2-40B4-BE49-F238E27FC236}">
                <a16:creationId xmlns:a16="http://schemas.microsoft.com/office/drawing/2014/main" id="{3008C8FC-4E3B-C76D-0241-32E9DB634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264477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76159" name="Straight Arrow Connector 16">
            <a:extLst>
              <a:ext uri="{FF2B5EF4-FFF2-40B4-BE49-F238E27FC236}">
                <a16:creationId xmlns:a16="http://schemas.microsoft.com/office/drawing/2014/main" id="{8D2EB168-5DFC-ED4E-70AC-9B333A68AB6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41950" y="2308225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2338AFB-7B2E-9A52-7483-53262FBF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76161" name="Slide Number Placeholder 13">
            <a:extLst>
              <a:ext uri="{FF2B5EF4-FFF2-40B4-BE49-F238E27FC236}">
                <a16:creationId xmlns:a16="http://schemas.microsoft.com/office/drawing/2014/main" id="{CD489520-8792-7518-F7E4-BBF9623083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EE9CDA-0FE0-49B2-B165-85971D99E320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76162" name="Rectangle 3">
            <a:extLst>
              <a:ext uri="{FF2B5EF4-FFF2-40B4-BE49-F238E27FC236}">
                <a16:creationId xmlns:a16="http://schemas.microsoft.com/office/drawing/2014/main" id="{D86F3DCF-20DF-3F18-3296-D14C28F3BADE}"/>
              </a:ext>
            </a:extLst>
          </p:cNvPr>
          <p:cNvSpPr>
            <a:spLocks/>
          </p:cNvSpPr>
          <p:nvPr/>
        </p:nvSpPr>
        <p:spPr bwMode="auto">
          <a:xfrm>
            <a:off x="304800" y="3154363"/>
            <a:ext cx="32766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5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0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Right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6C2A5E"/>
                </a:solidFill>
              </a:rPr>
              <a:t>i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</p:txBody>
      </p:sp>
      <p:sp>
        <p:nvSpPr>
          <p:cNvPr id="176163" name="Rectangle 3">
            <a:extLst>
              <a:ext uri="{FF2B5EF4-FFF2-40B4-BE49-F238E27FC236}">
                <a16:creationId xmlns:a16="http://schemas.microsoft.com/office/drawing/2014/main" id="{36A1C8A1-1DB6-7524-9337-6C751507F920}"/>
              </a:ext>
            </a:extLst>
          </p:cNvPr>
          <p:cNvSpPr>
            <a:spLocks/>
          </p:cNvSpPr>
          <p:nvPr/>
        </p:nvSpPr>
        <p:spPr bwMode="auto">
          <a:xfrm>
            <a:off x="4114800" y="3154363"/>
            <a:ext cx="38862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9 &gt;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Move Left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A</a:t>
            </a:r>
            <a:r>
              <a:rPr lang="en-US" altLang="en-US" sz="2200">
                <a:solidFill>
                  <a:srgbClr val="0000CC"/>
                </a:solidFill>
              </a:rPr>
              <a:t>[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] = 3 &lt; pivot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Stop </a:t>
            </a:r>
            <a:r>
              <a:rPr lang="en-US" altLang="en-US" sz="2000" b="1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6C2A5E"/>
                </a:solidFill>
              </a:rPr>
              <a:t> right over here</a:t>
            </a:r>
          </a:p>
          <a:p>
            <a:pPr>
              <a:lnSpc>
                <a:spcPct val="90000"/>
              </a:lnSpc>
            </a:pPr>
            <a:r>
              <a:rPr lang="en-US" altLang="en-US" sz="2200" i="1">
                <a:solidFill>
                  <a:srgbClr val="0000CC"/>
                </a:solidFill>
              </a:rPr>
              <a:t>i</a:t>
            </a:r>
            <a:r>
              <a:rPr lang="en-US" altLang="en-US" sz="2200">
                <a:solidFill>
                  <a:srgbClr val="0000CC"/>
                </a:solidFill>
              </a:rPr>
              <a:t> and </a:t>
            </a:r>
            <a:r>
              <a:rPr lang="en-US" altLang="en-US" sz="2200" i="1">
                <a:solidFill>
                  <a:srgbClr val="0000CC"/>
                </a:solidFill>
              </a:rPr>
              <a:t>j</a:t>
            </a:r>
            <a:r>
              <a:rPr lang="en-US" altLang="en-US" sz="2200">
                <a:solidFill>
                  <a:srgbClr val="0000CC"/>
                </a:solidFill>
              </a:rPr>
              <a:t> have crossed</a:t>
            </a:r>
          </a:p>
          <a:p>
            <a:pPr lvl="1">
              <a:lnSpc>
                <a:spcPct val="90000"/>
              </a:lnSpc>
            </a:pPr>
            <a:r>
              <a:rPr lang="en-US" altLang="en-US" sz="2000">
                <a:solidFill>
                  <a:srgbClr val="6C2A5E"/>
                </a:solidFill>
              </a:rPr>
              <a:t>So no swap for</a:t>
            </a:r>
            <a:r>
              <a:rPr lang="en-US" altLang="en-US" sz="2000">
                <a:solidFill>
                  <a:srgbClr val="0000CC"/>
                </a:solidFill>
              </a:rPr>
              <a:t>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i</a:t>
            </a:r>
            <a:r>
              <a:rPr lang="en-US" altLang="en-US" sz="2000">
                <a:solidFill>
                  <a:srgbClr val="0000CC"/>
                </a:solidFill>
              </a:rPr>
              <a:t>] </a:t>
            </a:r>
            <a:r>
              <a:rPr lang="en-US" altLang="en-US" sz="2000">
                <a:solidFill>
                  <a:srgbClr val="6C2A5E"/>
                </a:solidFill>
              </a:rPr>
              <a:t>and </a:t>
            </a:r>
            <a:r>
              <a:rPr lang="en-US" altLang="en-US" sz="2000" i="1">
                <a:solidFill>
                  <a:srgbClr val="0000CC"/>
                </a:solidFill>
              </a:rPr>
              <a:t>A</a:t>
            </a:r>
            <a:r>
              <a:rPr lang="en-US" altLang="en-US" sz="2000">
                <a:solidFill>
                  <a:srgbClr val="0000CC"/>
                </a:solidFill>
              </a:rPr>
              <a:t>[</a:t>
            </a:r>
            <a:r>
              <a:rPr lang="en-US" altLang="en-US" sz="2000" i="1">
                <a:solidFill>
                  <a:srgbClr val="0000CC"/>
                </a:solidFill>
              </a:rPr>
              <a:t>j</a:t>
            </a:r>
            <a:r>
              <a:rPr lang="en-US" altLang="en-US" sz="2000">
                <a:solidFill>
                  <a:srgbClr val="0000CC"/>
                </a:solidFill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altLang="en-US" sz="2000">
                <a:solidFill>
                  <a:srgbClr val="0000CC"/>
                </a:solidFill>
              </a:rPr>
              <a:t>Instead</a:t>
            </a:r>
            <a:r>
              <a:rPr lang="en-US" altLang="en-US" sz="2000">
                <a:solidFill>
                  <a:srgbClr val="FF0000"/>
                </a:solidFill>
              </a:rPr>
              <a:t> Swap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i</a:t>
            </a:r>
            <a:r>
              <a:rPr lang="en-US" altLang="en-US" sz="2000">
                <a:solidFill>
                  <a:srgbClr val="FF0000"/>
                </a:solidFill>
              </a:rPr>
              <a:t>] and </a:t>
            </a:r>
            <a:r>
              <a:rPr lang="en-US" altLang="en-US" sz="2000" i="1">
                <a:solidFill>
                  <a:srgbClr val="FF0000"/>
                </a:solidFill>
              </a:rPr>
              <a:t>A</a:t>
            </a:r>
            <a:r>
              <a:rPr lang="en-US" altLang="en-US" sz="2000">
                <a:solidFill>
                  <a:srgbClr val="FF0000"/>
                </a:solidFill>
              </a:rPr>
              <a:t>[</a:t>
            </a:r>
            <a:r>
              <a:rPr lang="en-US" altLang="en-US" sz="2000" i="1">
                <a:solidFill>
                  <a:srgbClr val="FF0000"/>
                </a:solidFill>
              </a:rPr>
              <a:t>pivot</a:t>
            </a:r>
            <a:r>
              <a:rPr lang="en-US" altLang="en-US" sz="2000">
                <a:solidFill>
                  <a:srgbClr val="FF0000"/>
                </a:solidFill>
              </a:rPr>
              <a:t>]</a:t>
            </a:r>
          </a:p>
        </p:txBody>
      </p:sp>
      <p:sp>
        <p:nvSpPr>
          <p:cNvPr id="176164" name="Text Box 45">
            <a:extLst>
              <a:ext uri="{FF2B5EF4-FFF2-40B4-BE49-F238E27FC236}">
                <a16:creationId xmlns:a16="http://schemas.microsoft.com/office/drawing/2014/main" id="{9A520BD6-D787-61FC-1DD9-B728BC0BA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25908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76165" name="Text Box 29">
            <a:extLst>
              <a:ext uri="{FF2B5EF4-FFF2-40B4-BE49-F238E27FC236}">
                <a16:creationId xmlns:a16="http://schemas.microsoft.com/office/drawing/2014/main" id="{5533553E-9952-0132-EB56-FFCA17C5C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2849563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7F491807-6309-E799-4148-E0E560E71B2C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QuickSort : Recursive calls</a:t>
            </a:r>
          </a:p>
        </p:txBody>
      </p:sp>
      <p:graphicFrame>
        <p:nvGraphicFramePr>
          <p:cNvPr id="183299" name="Group 3">
            <a:extLst>
              <a:ext uri="{FF2B5EF4-FFF2-40B4-BE49-F238E27FC236}">
                <a16:creationId xmlns:a16="http://schemas.microsoft.com/office/drawing/2014/main" id="{0128922F-C464-253A-F260-B75A376F87A2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905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8203" name="Straight Arrow Connector 16">
            <a:extLst>
              <a:ext uri="{FF2B5EF4-FFF2-40B4-BE49-F238E27FC236}">
                <a16:creationId xmlns:a16="http://schemas.microsoft.com/office/drawing/2014/main" id="{9A9755C1-9DC8-EFAA-384F-B847644AEAD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21176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83332" name="Group 36">
            <a:extLst>
              <a:ext uri="{FF2B5EF4-FFF2-40B4-BE49-F238E27FC236}">
                <a16:creationId xmlns:a16="http://schemas.microsoft.com/office/drawing/2014/main" id="{3A1294CD-78DC-ACAE-118C-9549BB45E95C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38862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" name="Straight Arrow Connector 16">
            <a:extLst>
              <a:ext uri="{FF2B5EF4-FFF2-40B4-BE49-F238E27FC236}">
                <a16:creationId xmlns:a16="http://schemas.microsoft.com/office/drawing/2014/main" id="{C17644A4-8016-C869-3318-F81FCAD3EDE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48363" y="429577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3359" name="Text Box 63">
            <a:extLst>
              <a:ext uri="{FF2B5EF4-FFF2-40B4-BE49-F238E27FC236}">
                <a16:creationId xmlns:a16="http://schemas.microsoft.com/office/drawing/2014/main" id="{BBE84ACB-05C6-4E5A-2C9F-9F6275AF2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541838"/>
            <a:ext cx="682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+ 1</a:t>
            </a:r>
          </a:p>
        </p:txBody>
      </p:sp>
      <p:cxnSp>
        <p:nvCxnSpPr>
          <p:cNvPr id="3" name="Straight Arrow Connector 16">
            <a:extLst>
              <a:ext uri="{FF2B5EF4-FFF2-40B4-BE49-F238E27FC236}">
                <a16:creationId xmlns:a16="http://schemas.microsoft.com/office/drawing/2014/main" id="{A8016A8F-2C15-95E9-B78B-79F787D6348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297363" y="428783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3361" name="Text Box 65">
            <a:extLst>
              <a:ext uri="{FF2B5EF4-FFF2-40B4-BE49-F238E27FC236}">
                <a16:creationId xmlns:a16="http://schemas.microsoft.com/office/drawing/2014/main" id="{40DAE276-0ECD-AA9C-23F5-FD8DDD69D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527550"/>
            <a:ext cx="549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-1</a:t>
            </a:r>
          </a:p>
        </p:txBody>
      </p:sp>
      <p:sp>
        <p:nvSpPr>
          <p:cNvPr id="183362" name="Text Box 66">
            <a:extLst>
              <a:ext uri="{FF2B5EF4-FFF2-40B4-BE49-F238E27FC236}">
                <a16:creationId xmlns:a16="http://schemas.microsoft.com/office/drawing/2014/main" id="{5FE32105-4C73-1707-DF8F-845BB0973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457676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83363" name="Text Box 67">
            <a:extLst>
              <a:ext uri="{FF2B5EF4-FFF2-40B4-BE49-F238E27FC236}">
                <a16:creationId xmlns:a16="http://schemas.microsoft.com/office/drawing/2014/main" id="{C48BE0B7-69CA-6C92-53BF-59772D35B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4498975"/>
            <a:ext cx="663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N -1</a:t>
            </a:r>
          </a:p>
        </p:txBody>
      </p:sp>
      <p:sp>
        <p:nvSpPr>
          <p:cNvPr id="183364" name="Line 68">
            <a:extLst>
              <a:ext uri="{FF2B5EF4-FFF2-40B4-BE49-F238E27FC236}">
                <a16:creationId xmlns:a16="http://schemas.microsoft.com/office/drawing/2014/main" id="{48F145DD-BF81-444F-4132-D3C512C70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928938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4" name="Straight Arrow Connector 16">
            <a:extLst>
              <a:ext uri="{FF2B5EF4-FFF2-40B4-BE49-F238E27FC236}">
                <a16:creationId xmlns:a16="http://schemas.microsoft.com/office/drawing/2014/main" id="{D9FC26E4-D5AD-0962-A0FF-547207686A5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81000" y="43053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3366" name="Rectangle 70">
            <a:extLst>
              <a:ext uri="{FF2B5EF4-FFF2-40B4-BE49-F238E27FC236}">
                <a16:creationId xmlns:a16="http://schemas.microsoft.com/office/drawing/2014/main" id="{AB505AE5-362A-9B23-E5C5-0203B3FC3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8" y="3881438"/>
            <a:ext cx="4710112" cy="3857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3367" name="Rectangle 71">
            <a:extLst>
              <a:ext uri="{FF2B5EF4-FFF2-40B4-BE49-F238E27FC236}">
                <a16:creationId xmlns:a16="http://schemas.microsoft.com/office/drawing/2014/main" id="{67748EF8-45A2-3FCD-AA81-3D573B855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886200"/>
            <a:ext cx="2362200" cy="385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153137B-FB70-F6D2-487A-F798D9FD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78239" name="Slide Number Placeholder 17">
            <a:extLst>
              <a:ext uri="{FF2B5EF4-FFF2-40B4-BE49-F238E27FC236}">
                <a16:creationId xmlns:a16="http://schemas.microsoft.com/office/drawing/2014/main" id="{14C5CD2B-BFDB-9491-0A6B-F9E54C6E95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92110F-6C89-4920-99F0-252507E4D8C4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cxnSp>
        <p:nvCxnSpPr>
          <p:cNvPr id="19" name="Straight Arrow Connector 16">
            <a:extLst>
              <a:ext uri="{FF2B5EF4-FFF2-40B4-BE49-F238E27FC236}">
                <a16:creationId xmlns:a16="http://schemas.microsoft.com/office/drawing/2014/main" id="{450E1C8E-0D04-8F1A-0E9D-D8C0C159EDB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2213" y="4267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8241" name="Text Box 29">
            <a:extLst>
              <a:ext uri="{FF2B5EF4-FFF2-40B4-BE49-F238E27FC236}">
                <a16:creationId xmlns:a16="http://schemas.microsoft.com/office/drawing/2014/main" id="{74D4ECD1-4A6A-EF66-96FE-627B52F77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1" name="Text Box 45">
            <a:extLst>
              <a:ext uri="{FF2B5EF4-FFF2-40B4-BE49-F238E27FC236}">
                <a16:creationId xmlns:a16="http://schemas.microsoft.com/office/drawing/2014/main" id="{B13E29FF-C041-3D7B-6C09-0B83F044D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8413" y="41910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3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3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3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3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3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3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3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3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3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3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3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3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3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3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3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3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59" grpId="0"/>
      <p:bldP spid="183361" grpId="0"/>
      <p:bldP spid="183362" grpId="0"/>
      <p:bldP spid="183363" grpId="0"/>
      <p:bldP spid="183366" grpId="0" animBg="1"/>
      <p:bldP spid="183367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DDD4F83F-0145-489C-A82E-63FE65A3CE8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QuickSort : Left Recursive call</a:t>
            </a:r>
          </a:p>
        </p:txBody>
      </p:sp>
      <p:graphicFrame>
        <p:nvGraphicFramePr>
          <p:cNvPr id="185404" name="Group 60">
            <a:extLst>
              <a:ext uri="{FF2B5EF4-FFF2-40B4-BE49-F238E27FC236}">
                <a16:creationId xmlns:a16="http://schemas.microsoft.com/office/drawing/2014/main" id="{64E461FE-B8D6-6128-5F2A-D6DDF28BA8D6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F761CB4-F989-9FAD-0F9B-0D4A5468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0244" name="Slide Number Placeholder 10">
            <a:extLst>
              <a:ext uri="{FF2B5EF4-FFF2-40B4-BE49-F238E27FC236}">
                <a16:creationId xmlns:a16="http://schemas.microsoft.com/office/drawing/2014/main" id="{3D54A166-9E56-9C33-E5BB-213C5A4C89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4FFE5F-B8B5-46B0-9059-07BB917672C1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404" name="Group 60">
            <a:extLst>
              <a:ext uri="{FF2B5EF4-FFF2-40B4-BE49-F238E27FC236}">
                <a16:creationId xmlns:a16="http://schemas.microsoft.com/office/drawing/2014/main" id="{8A6971C7-98E7-D114-9C28-AC4B12B944A7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2290" name="Straight Arrow Connector 16">
            <a:extLst>
              <a:ext uri="{FF2B5EF4-FFF2-40B4-BE49-F238E27FC236}">
                <a16:creationId xmlns:a16="http://schemas.microsoft.com/office/drawing/2014/main" id="{795EB15F-9A28-324B-DA23-6CE22E0C301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90600" y="23622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2291" name="Straight Arrow Connector 16">
            <a:extLst>
              <a:ext uri="{FF2B5EF4-FFF2-40B4-BE49-F238E27FC236}">
                <a16:creationId xmlns:a16="http://schemas.microsoft.com/office/drawing/2014/main" id="{4CE1588B-CA97-E6CA-BB9E-74EDEC34E20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436813" y="23891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2292" name="Straight Arrow Connector 16">
            <a:extLst>
              <a:ext uri="{FF2B5EF4-FFF2-40B4-BE49-F238E27FC236}">
                <a16:creationId xmlns:a16="http://schemas.microsoft.com/office/drawing/2014/main" id="{6B9C0BD4-B2A1-0566-9AA6-7537B74C7C3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32350" y="23749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2C4D8E9-198D-6986-9403-0F502EA61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2294" name="Slide Number Placeholder 10">
            <a:extLst>
              <a:ext uri="{FF2B5EF4-FFF2-40B4-BE49-F238E27FC236}">
                <a16:creationId xmlns:a16="http://schemas.microsoft.com/office/drawing/2014/main" id="{785B6D3B-25D3-1805-CE0F-81DBB4DFB1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0D4A04-D5B3-4EDC-9AA5-7250C659F50E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AE7F516-9C7E-755D-598A-207561ED5FB8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Pivot Selection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F459DC-D893-05D0-1ED1-49925985E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352800"/>
            <a:ext cx="901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/>
              <a:t>2  &gt; 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344679-4316-4A59-1D62-2E70001C1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67150"/>
            <a:ext cx="901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/>
              <a:t>2  &gt;  3</a:t>
            </a:r>
          </a:p>
        </p:txBody>
      </p:sp>
      <p:graphicFrame>
        <p:nvGraphicFramePr>
          <p:cNvPr id="16" name="Group 60">
            <a:extLst>
              <a:ext uri="{FF2B5EF4-FFF2-40B4-BE49-F238E27FC236}">
                <a16:creationId xmlns:a16="http://schemas.microsoft.com/office/drawing/2014/main" id="{E6FD9601-E305-7188-5048-3737CBF252AB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Multiply 20">
            <a:extLst>
              <a:ext uri="{FF2B5EF4-FFF2-40B4-BE49-F238E27FC236}">
                <a16:creationId xmlns:a16="http://schemas.microsoft.com/office/drawing/2014/main" id="{10471D4B-9863-5AA1-AD43-7EFF9EF81F2F}"/>
              </a:ext>
            </a:extLst>
          </p:cNvPr>
          <p:cNvSpPr/>
          <p:nvPr/>
        </p:nvSpPr>
        <p:spPr>
          <a:xfrm>
            <a:off x="2133600" y="3352800"/>
            <a:ext cx="457200" cy="3810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22" name="Multiply 21">
            <a:extLst>
              <a:ext uri="{FF2B5EF4-FFF2-40B4-BE49-F238E27FC236}">
                <a16:creationId xmlns:a16="http://schemas.microsoft.com/office/drawing/2014/main" id="{45B0BE40-C2E1-5BBB-85E6-12F3BF554656}"/>
              </a:ext>
            </a:extLst>
          </p:cNvPr>
          <p:cNvSpPr/>
          <p:nvPr/>
        </p:nvSpPr>
        <p:spPr>
          <a:xfrm>
            <a:off x="2133600" y="3824288"/>
            <a:ext cx="457200" cy="38100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21FF27-9ECF-318E-10EC-17728385D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57688"/>
            <a:ext cx="901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/>
              <a:t>4  &gt;  3</a:t>
            </a:r>
          </a:p>
        </p:txBody>
      </p:sp>
      <p:sp>
        <p:nvSpPr>
          <p:cNvPr id="24" name="Freeform 184">
            <a:extLst>
              <a:ext uri="{FF2B5EF4-FFF2-40B4-BE49-F238E27FC236}">
                <a16:creationId xmlns:a16="http://schemas.microsoft.com/office/drawing/2014/main" id="{520440D3-5220-D2F8-A2DD-3FAE117ED802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2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75EFFB1C-5DD9-C332-10DB-9CBE6BD2670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Pivot Swap out</a:t>
            </a:r>
          </a:p>
        </p:txBody>
      </p:sp>
      <p:graphicFrame>
        <p:nvGraphicFramePr>
          <p:cNvPr id="187395" name="Group 3">
            <a:extLst>
              <a:ext uri="{FF2B5EF4-FFF2-40B4-BE49-F238E27FC236}">
                <a16:creationId xmlns:a16="http://schemas.microsoft.com/office/drawing/2014/main" id="{F4986157-D9B9-185C-1E3A-9D0B2E86474A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4339" name="Straight Arrow Connector 16">
            <a:extLst>
              <a:ext uri="{FF2B5EF4-FFF2-40B4-BE49-F238E27FC236}">
                <a16:creationId xmlns:a16="http://schemas.microsoft.com/office/drawing/2014/main" id="{8E00EBE6-6653-B355-B462-E0CE3F1A32F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90600" y="23352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340" name="Text Box 20">
            <a:extLst>
              <a:ext uri="{FF2B5EF4-FFF2-40B4-BE49-F238E27FC236}">
                <a16:creationId xmlns:a16="http://schemas.microsoft.com/office/drawing/2014/main" id="{2292C738-5A88-7B67-9F46-3E08D183A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84341" name="Text Box 21">
            <a:extLst>
              <a:ext uri="{FF2B5EF4-FFF2-40B4-BE49-F238E27FC236}">
                <a16:creationId xmlns:a16="http://schemas.microsoft.com/office/drawing/2014/main" id="{5AB46D1B-B487-CF97-A30A-0B3FF3557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84342" name="Text Box 22">
            <a:extLst>
              <a:ext uri="{FF2B5EF4-FFF2-40B4-BE49-F238E27FC236}">
                <a16:creationId xmlns:a16="http://schemas.microsoft.com/office/drawing/2014/main" id="{AAD23241-5E8A-C5DC-9451-37445FA27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84343" name="Straight Arrow Connector 16">
            <a:extLst>
              <a:ext uri="{FF2B5EF4-FFF2-40B4-BE49-F238E27FC236}">
                <a16:creationId xmlns:a16="http://schemas.microsoft.com/office/drawing/2014/main" id="{426E9CFB-7911-9735-99C0-36389F06493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44" name="Straight Arrow Connector 16">
            <a:extLst>
              <a:ext uri="{FF2B5EF4-FFF2-40B4-BE49-F238E27FC236}">
                <a16:creationId xmlns:a16="http://schemas.microsoft.com/office/drawing/2014/main" id="{AAE46F00-1F78-90A3-EA11-B121BE5420B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345" name="Freeform 184">
            <a:extLst>
              <a:ext uri="{FF2B5EF4-FFF2-40B4-BE49-F238E27FC236}">
                <a16:creationId xmlns:a16="http://schemas.microsoft.com/office/drawing/2014/main" id="{FA20E209-B2A5-6A8F-CBAE-31B5E86AD838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581150"/>
            <a:ext cx="2438400" cy="323850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742ED5A-BD89-4891-ED99-C27F38706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4347" name="Slide Number Placeholder 11">
            <a:extLst>
              <a:ext uri="{FF2B5EF4-FFF2-40B4-BE49-F238E27FC236}">
                <a16:creationId xmlns:a16="http://schemas.microsoft.com/office/drawing/2014/main" id="{BF6BA692-A742-1A6C-A23B-084CF3CCF6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F9F909-9B70-431F-90E4-490EA9443E80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EBCB8CB1-9D4F-9E2F-2D1C-963C95DB257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Movements</a:t>
            </a:r>
          </a:p>
        </p:txBody>
      </p:sp>
      <p:graphicFrame>
        <p:nvGraphicFramePr>
          <p:cNvPr id="189443" name="Group 3">
            <a:extLst>
              <a:ext uri="{FF2B5EF4-FFF2-40B4-BE49-F238E27FC236}">
                <a16:creationId xmlns:a16="http://schemas.microsoft.com/office/drawing/2014/main" id="{22FB6FA7-4827-D6A1-528F-7E8F7B33C7F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9ADD008-2E0A-4815-0795-4D034FB0C1C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90600" y="23352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9460" name="Text Box 20">
            <a:extLst>
              <a:ext uri="{FF2B5EF4-FFF2-40B4-BE49-F238E27FC236}">
                <a16:creationId xmlns:a16="http://schemas.microsoft.com/office/drawing/2014/main" id="{3AAC4CFA-06AB-89A0-6599-BB283AD7A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86389" name="Text Box 21">
            <a:extLst>
              <a:ext uri="{FF2B5EF4-FFF2-40B4-BE49-F238E27FC236}">
                <a16:creationId xmlns:a16="http://schemas.microsoft.com/office/drawing/2014/main" id="{0B6A7C0A-599B-654A-3F3D-AC488EBD6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86390" name="Text Box 22">
            <a:extLst>
              <a:ext uri="{FF2B5EF4-FFF2-40B4-BE49-F238E27FC236}">
                <a16:creationId xmlns:a16="http://schemas.microsoft.com/office/drawing/2014/main" id="{4E3831AD-6C97-9451-7AA7-4F8D8028E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86391" name="Straight Arrow Connector 16">
            <a:extLst>
              <a:ext uri="{FF2B5EF4-FFF2-40B4-BE49-F238E27FC236}">
                <a16:creationId xmlns:a16="http://schemas.microsoft.com/office/drawing/2014/main" id="{B557C907-517B-ACEB-2DB9-D48E5B49578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6392" name="Straight Arrow Connector 16">
            <a:extLst>
              <a:ext uri="{FF2B5EF4-FFF2-40B4-BE49-F238E27FC236}">
                <a16:creationId xmlns:a16="http://schemas.microsoft.com/office/drawing/2014/main" id="{2298956D-2758-DEF3-CA14-4F67A316819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63A226C-1E2D-B67C-26C9-AD2F05DB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6394" name="Slide Number Placeholder 10">
            <a:extLst>
              <a:ext uri="{FF2B5EF4-FFF2-40B4-BE49-F238E27FC236}">
                <a16:creationId xmlns:a16="http://schemas.microsoft.com/office/drawing/2014/main" id="{A00EFD3F-2FC5-9C98-0835-F26B6F8B35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6CD02F-2EC9-4153-9762-17B6DA6AE39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031E-6 L 0.175 0.00393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50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0.00416 L 0.17274 0.00255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1894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28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60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7DF8DC48-C6AD-87DA-E31D-B5824E29AA0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Swap</a:t>
            </a:r>
          </a:p>
        </p:txBody>
      </p:sp>
      <p:graphicFrame>
        <p:nvGraphicFramePr>
          <p:cNvPr id="191491" name="Group 3">
            <a:extLst>
              <a:ext uri="{FF2B5EF4-FFF2-40B4-BE49-F238E27FC236}">
                <a16:creationId xmlns:a16="http://schemas.microsoft.com/office/drawing/2014/main" id="{076056EE-8238-0883-9AE9-2491BA2F8F8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8435" name="Straight Arrow Connector 16">
            <a:extLst>
              <a:ext uri="{FF2B5EF4-FFF2-40B4-BE49-F238E27FC236}">
                <a16:creationId xmlns:a16="http://schemas.microsoft.com/office/drawing/2014/main" id="{FC521801-0269-67D7-7DCA-A1B63640DFF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447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8436" name="Text Box 20">
            <a:extLst>
              <a:ext uri="{FF2B5EF4-FFF2-40B4-BE49-F238E27FC236}">
                <a16:creationId xmlns:a16="http://schemas.microsoft.com/office/drawing/2014/main" id="{763C3FD3-9591-E017-6348-11004C26F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88437" name="Text Box 21">
            <a:extLst>
              <a:ext uri="{FF2B5EF4-FFF2-40B4-BE49-F238E27FC236}">
                <a16:creationId xmlns:a16="http://schemas.microsoft.com/office/drawing/2014/main" id="{66F8AF7F-1DA1-2729-D2BA-3BE987C5B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88438" name="Text Box 22">
            <a:extLst>
              <a:ext uri="{FF2B5EF4-FFF2-40B4-BE49-F238E27FC236}">
                <a16:creationId xmlns:a16="http://schemas.microsoft.com/office/drawing/2014/main" id="{97F72B02-827E-B3ED-D3C8-924E79A63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88439" name="Straight Arrow Connector 16">
            <a:extLst>
              <a:ext uri="{FF2B5EF4-FFF2-40B4-BE49-F238E27FC236}">
                <a16:creationId xmlns:a16="http://schemas.microsoft.com/office/drawing/2014/main" id="{67540BCD-9B2A-4550-EFCE-145EBFB1961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8440" name="Straight Arrow Connector 16">
            <a:extLst>
              <a:ext uri="{FF2B5EF4-FFF2-40B4-BE49-F238E27FC236}">
                <a16:creationId xmlns:a16="http://schemas.microsoft.com/office/drawing/2014/main" id="{F47CDE83-3E1D-9A2E-F5B0-6F42D258BEA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8441" name="Freeform 184">
            <a:extLst>
              <a:ext uri="{FF2B5EF4-FFF2-40B4-BE49-F238E27FC236}">
                <a16:creationId xmlns:a16="http://schemas.microsoft.com/office/drawing/2014/main" id="{FF6CBCC3-B69D-4854-C173-2F17F8852CB0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624013"/>
            <a:ext cx="1524000" cy="35718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66F9A11-EEA4-2FDA-514B-525A59893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88443" name="Slide Number Placeholder 11">
            <a:extLst>
              <a:ext uri="{FF2B5EF4-FFF2-40B4-BE49-F238E27FC236}">
                <a16:creationId xmlns:a16="http://schemas.microsoft.com/office/drawing/2014/main" id="{EC86A1B9-5919-F323-69F7-382966D9F1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0CD200-B840-4017-90FF-A27B4C698046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6DFC78FB-A6DB-02BA-ABC4-53D1B5DFEE42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 : Left Recursive call</a:t>
            </a:r>
            <a:b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Step 1: Swap</a:t>
            </a:r>
          </a:p>
        </p:txBody>
      </p:sp>
      <p:graphicFrame>
        <p:nvGraphicFramePr>
          <p:cNvPr id="191491" name="Group 3">
            <a:extLst>
              <a:ext uri="{FF2B5EF4-FFF2-40B4-BE49-F238E27FC236}">
                <a16:creationId xmlns:a16="http://schemas.microsoft.com/office/drawing/2014/main" id="{E75AF22A-E634-6241-6867-A088C831EC61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0483" name="Straight Arrow Connector 16">
            <a:extLst>
              <a:ext uri="{FF2B5EF4-FFF2-40B4-BE49-F238E27FC236}">
                <a16:creationId xmlns:a16="http://schemas.microsoft.com/office/drawing/2014/main" id="{CBC67A39-9D3C-EB8A-323C-379EF25D2EA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447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0484" name="Text Box 20">
            <a:extLst>
              <a:ext uri="{FF2B5EF4-FFF2-40B4-BE49-F238E27FC236}">
                <a16:creationId xmlns:a16="http://schemas.microsoft.com/office/drawing/2014/main" id="{7DE2CA58-49B4-B6FF-3C92-B5168C3B2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90485" name="Text Box 21">
            <a:extLst>
              <a:ext uri="{FF2B5EF4-FFF2-40B4-BE49-F238E27FC236}">
                <a16:creationId xmlns:a16="http://schemas.microsoft.com/office/drawing/2014/main" id="{15FAE713-ED78-3E8D-C4D0-E64C0C163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90486" name="Text Box 22">
            <a:extLst>
              <a:ext uri="{FF2B5EF4-FFF2-40B4-BE49-F238E27FC236}">
                <a16:creationId xmlns:a16="http://schemas.microsoft.com/office/drawing/2014/main" id="{07FE0D11-6D71-0ED0-C148-92A125AD8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90487" name="Straight Arrow Connector 16">
            <a:extLst>
              <a:ext uri="{FF2B5EF4-FFF2-40B4-BE49-F238E27FC236}">
                <a16:creationId xmlns:a16="http://schemas.microsoft.com/office/drawing/2014/main" id="{CF27D178-8A50-EA29-0DB3-D6EEEF64796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0488" name="Straight Arrow Connector 16">
            <a:extLst>
              <a:ext uri="{FF2B5EF4-FFF2-40B4-BE49-F238E27FC236}">
                <a16:creationId xmlns:a16="http://schemas.microsoft.com/office/drawing/2014/main" id="{A50D96FE-7E70-FE23-E3B5-B919B995682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0489" name="Freeform 184">
            <a:extLst>
              <a:ext uri="{FF2B5EF4-FFF2-40B4-BE49-F238E27FC236}">
                <a16:creationId xmlns:a16="http://schemas.microsoft.com/office/drawing/2014/main" id="{30103B8A-4E27-1CAB-71B8-F68322059104}"/>
              </a:ext>
            </a:extLst>
          </p:cNvPr>
          <p:cNvSpPr>
            <a:spLocks/>
          </p:cNvSpPr>
          <p:nvPr/>
        </p:nvSpPr>
        <p:spPr bwMode="auto">
          <a:xfrm flipH="1" flipV="1">
            <a:off x="2514600" y="1624013"/>
            <a:ext cx="1524000" cy="357187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382F3C-0D3F-4E99-8D65-A1C4D4BDC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90491" name="Slide Number Placeholder 11">
            <a:extLst>
              <a:ext uri="{FF2B5EF4-FFF2-40B4-BE49-F238E27FC236}">
                <a16:creationId xmlns:a16="http://schemas.microsoft.com/office/drawing/2014/main" id="{EDE74AF4-0D9E-205E-15CA-3BCCC620E5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A8F72D-C669-4CFE-93E2-458551B4AAD0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FA3F40AF-B1CC-68DF-9021-B443A6315A90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Movements</a:t>
            </a:r>
            <a:endParaRPr lang="en-US" sz="3400" cap="none" dirty="0">
              <a:ln>
                <a:noFill/>
              </a:ln>
              <a:solidFill>
                <a:schemeClr val="tx1"/>
              </a:solidFill>
              <a:latin typeface="Trebuchet MS" pitchFamily="34" charset="0"/>
            </a:endParaRPr>
          </a:p>
        </p:txBody>
      </p:sp>
      <p:graphicFrame>
        <p:nvGraphicFramePr>
          <p:cNvPr id="191491" name="Group 3">
            <a:extLst>
              <a:ext uri="{FF2B5EF4-FFF2-40B4-BE49-F238E27FC236}">
                <a16:creationId xmlns:a16="http://schemas.microsoft.com/office/drawing/2014/main" id="{0434FD63-8EC6-CA77-EA6E-14B08D33A60E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5251" name="Straight Arrow Connector 16">
            <a:extLst>
              <a:ext uri="{FF2B5EF4-FFF2-40B4-BE49-F238E27FC236}">
                <a16:creationId xmlns:a16="http://schemas.microsoft.com/office/drawing/2014/main" id="{0CB6BC00-4EC5-A2CE-C329-3A4EE29FA31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5447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252" name="Text Box 20">
            <a:extLst>
              <a:ext uri="{FF2B5EF4-FFF2-40B4-BE49-F238E27FC236}">
                <a16:creationId xmlns:a16="http://schemas.microsoft.com/office/drawing/2014/main" id="{9D8AB4AB-45CE-2AEE-C38A-793E928B2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92533" name="Text Box 21">
            <a:extLst>
              <a:ext uri="{FF2B5EF4-FFF2-40B4-BE49-F238E27FC236}">
                <a16:creationId xmlns:a16="http://schemas.microsoft.com/office/drawing/2014/main" id="{87C6DBD1-B7C2-C1E3-4AC1-E63167703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95254" name="Text Box 22">
            <a:extLst>
              <a:ext uri="{FF2B5EF4-FFF2-40B4-BE49-F238E27FC236}">
                <a16:creationId xmlns:a16="http://schemas.microsoft.com/office/drawing/2014/main" id="{62C532DE-D9D9-AF0F-0B9A-F09C42311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651125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j</a:t>
            </a:r>
          </a:p>
        </p:txBody>
      </p:sp>
      <p:cxnSp>
        <p:nvCxnSpPr>
          <p:cNvPr id="192535" name="Straight Arrow Connector 16">
            <a:extLst>
              <a:ext uri="{FF2B5EF4-FFF2-40B4-BE49-F238E27FC236}">
                <a16:creationId xmlns:a16="http://schemas.microsoft.com/office/drawing/2014/main" id="{46EF11B1-CBC2-60EB-E0E2-5DCCA9D8BB5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5256" name="Straight Arrow Connector 16">
            <a:extLst>
              <a:ext uri="{FF2B5EF4-FFF2-40B4-BE49-F238E27FC236}">
                <a16:creationId xmlns:a16="http://schemas.microsoft.com/office/drawing/2014/main" id="{1DA5C115-8539-CE01-7E1C-FCB3BECCD6A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019550" y="2347913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9CB0B49-9A1A-3223-16C0-324CF52A7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92538" name="Slide Number Placeholder 11">
            <a:extLst>
              <a:ext uri="{FF2B5EF4-FFF2-40B4-BE49-F238E27FC236}">
                <a16:creationId xmlns:a16="http://schemas.microsoft.com/office/drawing/2014/main" id="{0365A05B-C190-F5B4-7355-2F00DCAC3B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A181FA-B879-4029-999A-6FDC7B58DFA8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63030B-516B-8A2B-606A-06C6780DC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81400"/>
            <a:ext cx="1581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Times" panose="02020603050405020304" pitchFamily="18" charset="0"/>
              </a:rPr>
              <a:t>i &amp; j crossed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25809E-6 L 0.08003 -0.0002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952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3" y="-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30342E-6 L 0.07777 0.0025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95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9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17 0.00671 L -0.16059 0.00232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95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44" y="-23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04 0.00024 L -0.16129 0.00232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952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52" grpId="0"/>
      <p:bldP spid="95254" grpId="0"/>
      <p:bldP spid="13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9B14CA6E-586A-D133-01DC-0C3BB31663E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Swap with the pivot</a:t>
            </a:r>
          </a:p>
        </p:txBody>
      </p:sp>
      <p:graphicFrame>
        <p:nvGraphicFramePr>
          <p:cNvPr id="199683" name="Group 3">
            <a:extLst>
              <a:ext uri="{FF2B5EF4-FFF2-40B4-BE49-F238E27FC236}">
                <a16:creationId xmlns:a16="http://schemas.microsoft.com/office/drawing/2014/main" id="{9AFE3C94-9B4D-4D66-5C4C-7710475EB77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4579" name="Straight Arrow Connector 16">
            <a:extLst>
              <a:ext uri="{FF2B5EF4-FFF2-40B4-BE49-F238E27FC236}">
                <a16:creationId xmlns:a16="http://schemas.microsoft.com/office/drawing/2014/main" id="{AAD88EDB-7B55-10F8-3323-3597690DEA1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051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580" name="Text Box 20">
            <a:extLst>
              <a:ext uri="{FF2B5EF4-FFF2-40B4-BE49-F238E27FC236}">
                <a16:creationId xmlns:a16="http://schemas.microsoft.com/office/drawing/2014/main" id="{1B4CF064-FDAF-184C-4ADD-B1FFFF029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94581" name="Text Box 21">
            <a:extLst>
              <a:ext uri="{FF2B5EF4-FFF2-40B4-BE49-F238E27FC236}">
                <a16:creationId xmlns:a16="http://schemas.microsoft.com/office/drawing/2014/main" id="{E462F847-CF07-6319-D3C5-94AE27F55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1025" y="2651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94582" name="Straight Arrow Connector 16">
            <a:extLst>
              <a:ext uri="{FF2B5EF4-FFF2-40B4-BE49-F238E27FC236}">
                <a16:creationId xmlns:a16="http://schemas.microsoft.com/office/drawing/2014/main" id="{8A38A1F3-B801-930A-E87D-8CC23519ADC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583" name="Freeform 184">
            <a:extLst>
              <a:ext uri="{FF2B5EF4-FFF2-40B4-BE49-F238E27FC236}">
                <a16:creationId xmlns:a16="http://schemas.microsoft.com/office/drawing/2014/main" id="{74F2B505-9F7D-BE53-BC52-2E4BC3D1BB31}"/>
              </a:ext>
            </a:extLst>
          </p:cNvPr>
          <p:cNvSpPr>
            <a:spLocks/>
          </p:cNvSpPr>
          <p:nvPr/>
        </p:nvSpPr>
        <p:spPr bwMode="auto">
          <a:xfrm flipH="1" flipV="1">
            <a:off x="3352800" y="1627188"/>
            <a:ext cx="1600200" cy="34766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DA1253-CC7C-EBE7-3C60-F042BDEF0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94585" name="Slide Number Placeholder 9">
            <a:extLst>
              <a:ext uri="{FF2B5EF4-FFF2-40B4-BE49-F238E27FC236}">
                <a16:creationId xmlns:a16="http://schemas.microsoft.com/office/drawing/2014/main" id="{6052AC44-700E-B77E-C735-F724822932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C8BD13F-2FCC-4ED4-B833-F2DE69060EF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192FACA4-80D9-E285-F17B-E3B1EF083E96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 dirty="0" err="1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  <a: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 : Left Recursive call</a:t>
            </a:r>
            <a:br>
              <a:rPr lang="en-US" sz="3400" cap="none" dirty="0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</a:br>
            <a:r>
              <a:rPr lang="en-US" sz="3400" cap="none" dirty="0">
                <a:ln>
                  <a:noFill/>
                </a:ln>
                <a:solidFill>
                  <a:srgbClr val="FF0000"/>
                </a:solidFill>
                <a:latin typeface="Trebuchet MS" pitchFamily="34" charset="0"/>
              </a:rPr>
              <a:t>Swap with the pivot</a:t>
            </a:r>
            <a:endParaRPr lang="en-US" sz="3400" cap="none" dirty="0">
              <a:ln>
                <a:noFill/>
              </a:ln>
              <a:solidFill>
                <a:schemeClr val="tx1"/>
              </a:solidFill>
              <a:latin typeface="Trebuchet MS" pitchFamily="34" charset="0"/>
            </a:endParaRPr>
          </a:p>
        </p:txBody>
      </p:sp>
      <p:graphicFrame>
        <p:nvGraphicFramePr>
          <p:cNvPr id="199683" name="Group 3">
            <a:extLst>
              <a:ext uri="{FF2B5EF4-FFF2-40B4-BE49-F238E27FC236}">
                <a16:creationId xmlns:a16="http://schemas.microsoft.com/office/drawing/2014/main" id="{49F1BC13-52D4-4143-0747-DD520FBB3B58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6627" name="Straight Arrow Connector 16">
            <a:extLst>
              <a:ext uri="{FF2B5EF4-FFF2-40B4-BE49-F238E27FC236}">
                <a16:creationId xmlns:a16="http://schemas.microsoft.com/office/drawing/2014/main" id="{B69F0C1D-77C6-E843-900C-5D633B7DE93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051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6628" name="Text Box 20">
            <a:extLst>
              <a:ext uri="{FF2B5EF4-FFF2-40B4-BE49-F238E27FC236}">
                <a16:creationId xmlns:a16="http://schemas.microsoft.com/office/drawing/2014/main" id="{F99148B6-E093-ADF4-5706-991AC79BE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96629" name="Text Box 21">
            <a:extLst>
              <a:ext uri="{FF2B5EF4-FFF2-40B4-BE49-F238E27FC236}">
                <a16:creationId xmlns:a16="http://schemas.microsoft.com/office/drawing/2014/main" id="{B2428197-8FF2-2BE1-F295-FBC5B9007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032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cxnSp>
        <p:nvCxnSpPr>
          <p:cNvPr id="196630" name="Straight Arrow Connector 16">
            <a:extLst>
              <a:ext uri="{FF2B5EF4-FFF2-40B4-BE49-F238E27FC236}">
                <a16:creationId xmlns:a16="http://schemas.microsoft.com/office/drawing/2014/main" id="{9B462DAD-89CC-A1EA-0CB3-585A5299270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6631" name="Freeform 184">
            <a:extLst>
              <a:ext uri="{FF2B5EF4-FFF2-40B4-BE49-F238E27FC236}">
                <a16:creationId xmlns:a16="http://schemas.microsoft.com/office/drawing/2014/main" id="{5A7445B9-0275-990E-BA4F-F5FBF7B7C8E4}"/>
              </a:ext>
            </a:extLst>
          </p:cNvPr>
          <p:cNvSpPr>
            <a:spLocks/>
          </p:cNvSpPr>
          <p:nvPr/>
        </p:nvSpPr>
        <p:spPr bwMode="auto">
          <a:xfrm flipH="1" flipV="1">
            <a:off x="3352800" y="1627188"/>
            <a:ext cx="1600200" cy="34766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16C560-199C-39DC-364D-316A3F658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96633" name="Slide Number Placeholder 9">
            <a:extLst>
              <a:ext uri="{FF2B5EF4-FFF2-40B4-BE49-F238E27FC236}">
                <a16:creationId xmlns:a16="http://schemas.microsoft.com/office/drawing/2014/main" id="{50E2AC5A-F168-3A1F-0B6C-AAEC479F11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9FE49D-FEFE-4514-96E3-EFCC2F039FC9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4DCE32B3-C718-5F9F-90F6-F0C38E6A23C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381000"/>
            <a:ext cx="72390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cap="none">
                <a:ln>
                  <a:noFill/>
                </a:ln>
                <a:solidFill>
                  <a:schemeClr val="tx1"/>
                </a:solidFill>
                <a:latin typeface="Trebuchet MS" panose="020B0603020202020204" pitchFamily="34" charset="0"/>
              </a:rPr>
              <a:t>QuickSort :Recursive Calls</a:t>
            </a:r>
            <a:endParaRPr lang="en-US" altLang="en-US" cap="none">
              <a:ln>
                <a:noFill/>
              </a:ln>
              <a:solidFill>
                <a:srgbClr val="FF0000"/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203804" name="Group 28">
            <a:extLst>
              <a:ext uri="{FF2B5EF4-FFF2-40B4-BE49-F238E27FC236}">
                <a16:creationId xmlns:a16="http://schemas.microsoft.com/office/drawing/2014/main" id="{C15E78FB-0FEA-75F0-DEE9-1ED858DC3FA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314825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3822" name="Text Box 46">
            <a:extLst>
              <a:ext uri="{FF2B5EF4-FFF2-40B4-BE49-F238E27FC236}">
                <a16:creationId xmlns:a16="http://schemas.microsoft.com/office/drawing/2014/main" id="{02D7ACF6-8C7B-2A45-7DCD-B24F89E43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013325"/>
            <a:ext cx="549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-1</a:t>
            </a:r>
          </a:p>
        </p:txBody>
      </p:sp>
      <p:sp>
        <p:nvSpPr>
          <p:cNvPr id="203823" name="Text Box 47">
            <a:extLst>
              <a:ext uri="{FF2B5EF4-FFF2-40B4-BE49-F238E27FC236}">
                <a16:creationId xmlns:a16="http://schemas.microsoft.com/office/drawing/2014/main" id="{2797A38B-B9F6-FDE1-B319-4ADF00819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013325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0</a:t>
            </a:r>
          </a:p>
        </p:txBody>
      </p:sp>
      <p:cxnSp>
        <p:nvCxnSpPr>
          <p:cNvPr id="198677" name="Straight Arrow Connector 16">
            <a:extLst>
              <a:ext uri="{FF2B5EF4-FFF2-40B4-BE49-F238E27FC236}">
                <a16:creationId xmlns:a16="http://schemas.microsoft.com/office/drawing/2014/main" id="{266768B5-C53A-D23B-B7EB-E3C5ACB734F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649538" y="47101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78" name="Straight Arrow Connector 16">
            <a:extLst>
              <a:ext uri="{FF2B5EF4-FFF2-40B4-BE49-F238E27FC236}">
                <a16:creationId xmlns:a16="http://schemas.microsoft.com/office/drawing/2014/main" id="{8DFB595C-C3E7-48DA-6EA2-769E8540D82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076325" y="4724400"/>
            <a:ext cx="1588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679" name="Straight Arrow Connector 16">
            <a:extLst>
              <a:ext uri="{FF2B5EF4-FFF2-40B4-BE49-F238E27FC236}">
                <a16:creationId xmlns:a16="http://schemas.microsoft.com/office/drawing/2014/main" id="{ACAC321E-2B2F-245D-34AB-06905C4EB95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325938" y="4648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8680" name="Text Box 51">
            <a:extLst>
              <a:ext uri="{FF2B5EF4-FFF2-40B4-BE49-F238E27FC236}">
                <a16:creationId xmlns:a16="http://schemas.microsoft.com/office/drawing/2014/main" id="{D6199E90-2543-292C-1D8D-999B35902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4964113"/>
            <a:ext cx="682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 + 1</a:t>
            </a:r>
          </a:p>
        </p:txBody>
      </p:sp>
      <p:cxnSp>
        <p:nvCxnSpPr>
          <p:cNvPr id="198681" name="Straight Arrow Connector 16">
            <a:extLst>
              <a:ext uri="{FF2B5EF4-FFF2-40B4-BE49-F238E27FC236}">
                <a16:creationId xmlns:a16="http://schemas.microsoft.com/office/drawing/2014/main" id="{C4701CD4-105C-B082-D57B-E711EC51F5F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332413" y="4648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8682" name="Rectangle 53">
            <a:extLst>
              <a:ext uri="{FF2B5EF4-FFF2-40B4-BE49-F238E27FC236}">
                <a16:creationId xmlns:a16="http://schemas.microsoft.com/office/drawing/2014/main" id="{13541BFA-2DFA-0805-3C2B-CB54C5B43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4967288"/>
            <a:ext cx="831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Right</a:t>
            </a:r>
            <a:r>
              <a:rPr lang="en-US" altLang="en-US" sz="1800"/>
              <a:t> 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AE922182-82D4-1F2B-023C-9AD74BBA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198684" name="Slide Number Placeholder 15">
            <a:extLst>
              <a:ext uri="{FF2B5EF4-FFF2-40B4-BE49-F238E27FC236}">
                <a16:creationId xmlns:a16="http://schemas.microsoft.com/office/drawing/2014/main" id="{0FF7203E-FC3F-683F-DC33-F4E0EE61DC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4712A2B-1C03-4CBC-8860-2A125A8BEC5C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17" name="Group 3">
            <a:extLst>
              <a:ext uri="{FF2B5EF4-FFF2-40B4-BE49-F238E27FC236}">
                <a16:creationId xmlns:a16="http://schemas.microsoft.com/office/drawing/2014/main" id="{5BBFB7D8-F83B-1B34-9BB4-2B7165A10DE2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981200"/>
          <a:ext cx="47085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98701" name="Straight Arrow Connector 16">
            <a:extLst>
              <a:ext uri="{FF2B5EF4-FFF2-40B4-BE49-F238E27FC236}">
                <a16:creationId xmlns:a16="http://schemas.microsoft.com/office/drawing/2014/main" id="{4023C6D1-0F25-4EC5-F9B1-712BA1923B7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05163" y="2363788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8702" name="Straight Arrow Connector 16">
            <a:extLst>
              <a:ext uri="{FF2B5EF4-FFF2-40B4-BE49-F238E27FC236}">
                <a16:creationId xmlns:a16="http://schemas.microsoft.com/office/drawing/2014/main" id="{F8FCD69B-AAAD-39F7-9D86-F5572BABD8F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99013" y="2362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8703" name="Freeform 184">
            <a:extLst>
              <a:ext uri="{FF2B5EF4-FFF2-40B4-BE49-F238E27FC236}">
                <a16:creationId xmlns:a16="http://schemas.microsoft.com/office/drawing/2014/main" id="{96218B02-9584-8BD4-1EB6-5D3409ABF097}"/>
              </a:ext>
            </a:extLst>
          </p:cNvPr>
          <p:cNvSpPr>
            <a:spLocks/>
          </p:cNvSpPr>
          <p:nvPr/>
        </p:nvSpPr>
        <p:spPr bwMode="auto">
          <a:xfrm flipH="1" flipV="1">
            <a:off x="3352800" y="1627188"/>
            <a:ext cx="1600200" cy="347662"/>
          </a:xfrm>
          <a:custGeom>
            <a:avLst/>
            <a:gdLst>
              <a:gd name="T0" fmla="*/ 0 w 384"/>
              <a:gd name="T1" fmla="*/ 0 h 112"/>
              <a:gd name="T2" fmla="*/ 2147483646 w 384"/>
              <a:gd name="T3" fmla="*/ 2147483646 h 112"/>
              <a:gd name="T4" fmla="*/ 2147483646 w 384"/>
              <a:gd name="T5" fmla="*/ 2147483646 h 112"/>
              <a:gd name="T6" fmla="*/ 2147483646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/>
          </a:p>
        </p:txBody>
      </p:sp>
      <p:sp>
        <p:nvSpPr>
          <p:cNvPr id="198704" name="Text Box 20">
            <a:extLst>
              <a:ext uri="{FF2B5EF4-FFF2-40B4-BE49-F238E27FC236}">
                <a16:creationId xmlns:a16="http://schemas.microsoft.com/office/drawing/2014/main" id="{4555BC32-946F-B3A0-8D37-2BA46EF85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267970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98705" name="Text Box 21">
            <a:extLst>
              <a:ext uri="{FF2B5EF4-FFF2-40B4-BE49-F238E27FC236}">
                <a16:creationId xmlns:a16="http://schemas.microsoft.com/office/drawing/2014/main" id="{AAF9AA1F-E616-7F43-1A49-FDAF3C24C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032125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98706" name="Text Box 21">
            <a:extLst>
              <a:ext uri="{FF2B5EF4-FFF2-40B4-BE49-F238E27FC236}">
                <a16:creationId xmlns:a16="http://schemas.microsoft.com/office/drawing/2014/main" id="{8DF76B5B-7EB6-44DB-AD81-0EB338D51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962400"/>
            <a:ext cx="790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198707" name="Text Box 20">
            <a:extLst>
              <a:ext uri="{FF2B5EF4-FFF2-40B4-BE49-F238E27FC236}">
                <a16:creationId xmlns:a16="http://schemas.microsoft.com/office/drawing/2014/main" id="{68811DA8-2BAE-BCCA-8674-72D6D53BD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200" y="4591050"/>
            <a:ext cx="25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3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3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822" grpId="0"/>
      <p:bldP spid="203823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3EC10C6-3A23-EC4B-2092-E2D5D5CC603B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3400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</a:t>
            </a:r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586A444D-4CB9-DFD8-920E-1C09D7A9D7F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066800"/>
            <a:ext cx="7467600" cy="4846638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>
                <a:solidFill>
                  <a:srgbClr val="0000CC"/>
                </a:solidFill>
              </a:rPr>
              <a:t>void</a:t>
            </a:r>
            <a:r>
              <a:rPr lang="en-US" altLang="en-US"/>
              <a:t> quick_sort( input_type a[ ], unsigned int n 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    {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    q_sort( a, 0, n-1 );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 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8E76AA-9938-7516-8A99-A5B119DB4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00709" name="Slide Number Placeholder 4">
            <a:extLst>
              <a:ext uri="{FF2B5EF4-FFF2-40B4-BE49-F238E27FC236}">
                <a16:creationId xmlns:a16="http://schemas.microsoft.com/office/drawing/2014/main" id="{F72F4603-DDD8-C261-18AD-7E2AAF35CB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A0488E-FA45-45C7-B62C-31EF0D4ECF2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481FDEF-A9F1-C116-88E0-05005EC4EE19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Core Function</a:t>
            </a: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7516DCF8-0153-934C-0805-63EFF47D304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868363"/>
            <a:ext cx="7467600" cy="4846637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void</a:t>
            </a:r>
            <a:r>
              <a:rPr lang="en-US" altLang="en-US" sz="1700"/>
              <a:t> q_sort(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i, j;  </a:t>
            </a: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pivot;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if</a:t>
            </a:r>
            <a:r>
              <a:rPr lang="en-US" altLang="en-US" sz="1700"/>
              <a:t>( left + CUTOFF </a:t>
            </a:r>
            <a:r>
              <a:rPr lang="en-US" altLang="en-US" sz="1700" b="1"/>
              <a:t>&lt;</a:t>
            </a:r>
            <a:r>
              <a:rPr lang="en-US" altLang="en-US" sz="1700"/>
              <a:t>=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pivot = median3( a, left, right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i = left; j = right - 1;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     for </a:t>
            </a:r>
            <a:r>
              <a:rPr lang="en-US" altLang="en-US" sz="1700"/>
              <a:t>( ; ;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       {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/>
              <a:t>     </a:t>
            </a:r>
            <a:r>
              <a:rPr lang="en-US" altLang="en-US" sz="1800">
                <a:solidFill>
                  <a:srgbClr val="0000CC"/>
                </a:solidFill>
              </a:rPr>
              <a:t>while</a:t>
            </a:r>
            <a:r>
              <a:rPr lang="en-US" altLang="en-US" sz="1800">
                <a:solidFill>
                  <a:srgbClr val="6C2A5E"/>
                </a:solidFill>
              </a:rPr>
              <a:t>( a[++i]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while</a:t>
            </a:r>
            <a:r>
              <a:rPr lang="en-US" altLang="en-US" sz="1800">
                <a:solidFill>
                  <a:srgbClr val="6C2A5E"/>
                </a:solidFill>
              </a:rPr>
              <a:t>( a[--j] </a:t>
            </a:r>
            <a:r>
              <a:rPr lang="en-US" altLang="en-US" sz="1800" b="1">
                <a:solidFill>
                  <a:srgbClr val="6C2A5E"/>
                </a:solidFill>
              </a:rPr>
              <a:t>&gt;</a:t>
            </a:r>
            <a:r>
              <a:rPr lang="en-US" altLang="en-US" sz="180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 if</a:t>
            </a:r>
            <a:r>
              <a:rPr lang="en-US" altLang="en-US" sz="1800">
                <a:solidFill>
                  <a:srgbClr val="6C2A5E"/>
                </a:solidFill>
              </a:rPr>
              <a:t>( i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j )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6C2A5E"/>
                </a:solidFill>
              </a:rPr>
              <a:t>          swap( &amp;a[i], &amp;a[j]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</a:t>
            </a:r>
            <a:r>
              <a:rPr lang="en-US" altLang="en-US" sz="1800">
                <a:solidFill>
                  <a:srgbClr val="0000CC"/>
                </a:solidFill>
              </a:rPr>
              <a:t>else</a:t>
            </a:r>
            <a:r>
              <a:rPr lang="en-US" altLang="en-US" sz="1800"/>
              <a:t>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6C2A5E"/>
                </a:solidFill>
              </a:rPr>
              <a:t>           break;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6C2A5E"/>
                </a:solidFill>
              </a:rPr>
              <a:t>      } </a:t>
            </a:r>
            <a:r>
              <a:rPr lang="en-US" altLang="en-US" sz="1800">
                <a:solidFill>
                  <a:srgbClr val="FF0000"/>
                </a:solidFill>
              </a:rPr>
              <a:t>//end for loop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swap( &amp;a[i], &amp;a[right-1] ); </a:t>
            </a:r>
            <a:r>
              <a:rPr lang="en-US" altLang="en-US" sz="1700">
                <a:solidFill>
                  <a:srgbClr val="FF0000"/>
                </a:solidFill>
              </a:rPr>
              <a:t>/*restore pivot*/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left, i -1 ); </a:t>
            </a:r>
            <a:r>
              <a:rPr lang="en-US" altLang="en-US" sz="1700">
                <a:solidFill>
                  <a:srgbClr val="FF0000"/>
                </a:solidFill>
              </a:rPr>
              <a:t>// left recursive call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i +1, right ); </a:t>
            </a:r>
            <a:r>
              <a:rPr lang="en-US" altLang="en-US" sz="1700">
                <a:solidFill>
                  <a:srgbClr val="FF0000"/>
                </a:solidFill>
              </a:rPr>
              <a:t>// lright recursive call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FF0000"/>
                </a:solidFill>
              </a:rPr>
              <a:t>    </a:t>
            </a:r>
            <a:r>
              <a:rPr lang="en-US" altLang="en-US" sz="1700"/>
              <a:t>}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F5564-713A-00EE-9D5F-23BE5DF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02757" name="Slide Number Placeholder 4">
            <a:extLst>
              <a:ext uri="{FF2B5EF4-FFF2-40B4-BE49-F238E27FC236}">
                <a16:creationId xmlns:a16="http://schemas.microsoft.com/office/drawing/2014/main" id="{D5A5145F-88E2-1BEE-DE90-2F9123F2F7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D87762-1B99-4D77-B1A7-B8C69AEF5F5E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C2A156F-FEE5-6AAA-76EE-9AFF9A9098E4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Medians</a:t>
            </a:r>
          </a:p>
        </p:txBody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49E1559B-7B4B-7615-E911-76B7B5A6AAC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066800"/>
            <a:ext cx="7467600" cy="4846638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Return median of left, center, and right.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Order these and hide pivot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median3(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center;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center = (left + right) / 2;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a[center]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&amp;a[center]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a[center]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&amp;a[center],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 a[left]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a[center]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a[right]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swap( &amp;a[center], &amp;a[right-1] ); </a:t>
            </a:r>
            <a:endParaRPr lang="en-US" altLang="en-US" sz="21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return</a:t>
            </a:r>
            <a:r>
              <a:rPr lang="en-US" altLang="en-US" sz="2100"/>
              <a:t> a[right-1]; /* return pivot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FF4D5-BF85-E5A3-BDBD-EB2BC547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04805" name="Slide Number Placeholder 4">
            <a:extLst>
              <a:ext uri="{FF2B5EF4-FFF2-40B4-BE49-F238E27FC236}">
                <a16:creationId xmlns:a16="http://schemas.microsoft.com/office/drawing/2014/main" id="{3DEFAB04-3A96-BCBC-B765-3203ACD1BA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8B7AEB-CCB3-4DAC-9E20-4B7853215A5D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en-US" altLang="en-US" sz="11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9F0C7D7-F0AA-38D7-CCC5-D672E6F2DB4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Medians</a:t>
            </a:r>
          </a:p>
        </p:txBody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74E20F81-A513-B845-2938-1A587362C61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066800"/>
            <a:ext cx="7467600" cy="4846638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Return median of left, center, and right.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Order these and hide pivot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median3(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center;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center = (left + right) / 2;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a[center]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&amp;a[center]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a[center]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&amp;a[center],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 a[left]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a[center]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a[right]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swap( &amp;a[center], &amp;a[right-1] ); </a:t>
            </a:r>
            <a:endParaRPr lang="en-US" altLang="en-US" sz="21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return</a:t>
            </a:r>
            <a:r>
              <a:rPr lang="en-US" altLang="en-US" sz="2100"/>
              <a:t> a[right-1]; </a:t>
            </a:r>
            <a:r>
              <a:rPr lang="en-US" altLang="en-US" sz="2100">
                <a:solidFill>
                  <a:srgbClr val="FF0000"/>
                </a:solidFill>
              </a:rPr>
              <a:t>/* return pivot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A0DF0-5CB8-BB9D-035D-220298091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8475" y="6553200"/>
            <a:ext cx="2895600" cy="228600"/>
          </a:xfrm>
        </p:spPr>
        <p:txBody>
          <a:bodyPr/>
          <a:lstStyle/>
          <a:p>
            <a:pPr>
              <a:defRPr/>
            </a:pPr>
            <a:r>
              <a:rPr lang="en-US" dirty="0"/>
              <a:t>Data Structures &amp; </a:t>
            </a:r>
            <a:r>
              <a:rPr lang="en-US" dirty="0" err="1"/>
              <a:t>Algo</a:t>
            </a:r>
            <a:r>
              <a:rPr lang="en-US" dirty="0"/>
              <a:t>- Dr </a:t>
            </a:r>
            <a:r>
              <a:rPr lang="en-US" dirty="0" err="1"/>
              <a:t>Ahmar</a:t>
            </a:r>
            <a:r>
              <a:rPr lang="en-US" dirty="0"/>
              <a:t> Rashid</a:t>
            </a:r>
          </a:p>
        </p:txBody>
      </p:sp>
      <p:sp>
        <p:nvSpPr>
          <p:cNvPr id="206853" name="Slide Number Placeholder 4">
            <a:extLst>
              <a:ext uri="{FF2B5EF4-FFF2-40B4-BE49-F238E27FC236}">
                <a16:creationId xmlns:a16="http://schemas.microsoft.com/office/drawing/2014/main" id="{9C52A297-B1E5-2F3F-50EE-9DA8802652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67513" y="6553200"/>
            <a:ext cx="587375" cy="22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9037BB-A012-4301-BAED-EEF356201703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6" name="Group 92">
            <a:extLst>
              <a:ext uri="{FF2B5EF4-FFF2-40B4-BE49-F238E27FC236}">
                <a16:creationId xmlns:a16="http://schemas.microsoft.com/office/drawing/2014/main" id="{841A2835-F788-615A-9807-1B514731B7B4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6878" name="Text Box 93">
            <a:extLst>
              <a:ext uri="{FF2B5EF4-FFF2-40B4-BE49-F238E27FC236}">
                <a16:creationId xmlns:a16="http://schemas.microsoft.com/office/drawing/2014/main" id="{3A72487C-A43E-BEF4-9357-23559B96F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2373313"/>
            <a:ext cx="1749425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left</a:t>
            </a:r>
          </a:p>
        </p:txBody>
      </p:sp>
      <p:cxnSp>
        <p:nvCxnSpPr>
          <p:cNvPr id="9" name="Straight Arrow Connector 16">
            <a:extLst>
              <a:ext uri="{FF2B5EF4-FFF2-40B4-BE49-F238E27FC236}">
                <a16:creationId xmlns:a16="http://schemas.microsoft.com/office/drawing/2014/main" id="{4CD50091-9F07-CA3E-0ECF-56F0B99517C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32213" y="1981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Text Box 107">
            <a:extLst>
              <a:ext uri="{FF2B5EF4-FFF2-40B4-BE49-F238E27FC236}">
                <a16:creationId xmlns:a16="http://schemas.microsoft.com/office/drawing/2014/main" id="{B751F049-D72C-1FB0-58E3-E4E8B7832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2297113"/>
            <a:ext cx="1443038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center</a:t>
            </a:r>
          </a:p>
        </p:txBody>
      </p:sp>
      <p:cxnSp>
        <p:nvCxnSpPr>
          <p:cNvPr id="206881" name="Straight Arrow Connector 16">
            <a:extLst>
              <a:ext uri="{FF2B5EF4-FFF2-40B4-BE49-F238E27FC236}">
                <a16:creationId xmlns:a16="http://schemas.microsoft.com/office/drawing/2014/main" id="{8B056148-92E7-E2EF-BDDD-C376D4972ED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548563" y="20288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6882" name="Text Box 109">
            <a:extLst>
              <a:ext uri="{FF2B5EF4-FFF2-40B4-BE49-F238E27FC236}">
                <a16:creationId xmlns:a16="http://schemas.microsoft.com/office/drawing/2014/main" id="{1FF8A8A1-96F3-92BA-759F-FAD4F8C84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344738"/>
            <a:ext cx="9826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right</a:t>
            </a:r>
          </a:p>
        </p:txBody>
      </p:sp>
      <p:cxnSp>
        <p:nvCxnSpPr>
          <p:cNvPr id="206883" name="Straight Arrow Connector 16">
            <a:extLst>
              <a:ext uri="{FF2B5EF4-FFF2-40B4-BE49-F238E27FC236}">
                <a16:creationId xmlns:a16="http://schemas.microsoft.com/office/drawing/2014/main" id="{D695BADE-E92B-862F-A77E-9AC3441132B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0413" y="20574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06C4ED-E2EE-160F-DA8D-2A1A4797E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2924175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CD2F9F-342C-6717-1D62-6376E36C9BF6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FE2C5C8-7F78-6B40-52BA-2E74CB4D1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713" y="3700463"/>
            <a:ext cx="877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6 &gt; 0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1D78DB7-AAC4-D17B-520D-FDC201EBC99A}"/>
              </a:ext>
            </a:extLst>
          </p:cNvPr>
          <p:cNvGraphicFramePr>
            <a:graphicFrameLocks noGrp="1"/>
          </p:cNvGraphicFramePr>
          <p:nvPr/>
        </p:nvGraphicFramePr>
        <p:xfrm>
          <a:off x="7377113" y="160655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208B69C-8DD7-7491-7A52-A935FC875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4343400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64A8BA4-C30D-D7A9-9EE1-575D2CE25E96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6 0.00555 L 0.34201 4.34783E-7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4" y="-27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-0.00416 L -0.34253 0.00139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22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409 0.00139 L 0.429 0.00139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46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-0.00416 L -0.77031 -4.6346E-6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681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826 0.00624 L 0.7717 0.00069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63" y="-278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431 0.00763 L 0.00243 0.00069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94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7" grpId="0"/>
      <p:bldP spid="19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2F8DF91-7AB9-302E-2ED0-11464D844638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Medians</a:t>
            </a:r>
          </a:p>
        </p:txBody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7DADA807-B1D7-1C26-B268-F55D9000D97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1066800"/>
            <a:ext cx="7467600" cy="4846638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Return median of left, center, and right.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/* Order these and hide pivot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median3(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int</a:t>
            </a:r>
            <a:r>
              <a:rPr lang="en-US" altLang="en-US" sz="2100"/>
              <a:t> center;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center = (left + right) / 2;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a[center]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&amp;a[center]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a[left]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&amp;a[left],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if </a:t>
            </a:r>
            <a:r>
              <a:rPr lang="en-US" altLang="en-US" sz="2100"/>
              <a:t>( a[center] </a:t>
            </a:r>
            <a:r>
              <a:rPr lang="en-US" altLang="en-US" sz="2100" b="1"/>
              <a:t>&gt;</a:t>
            </a:r>
            <a:r>
              <a:rPr lang="en-US" altLang="en-US" sz="2100"/>
              <a:t> a[right]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      swap( &amp;a[center], &amp;a[right]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FF0000"/>
                </a:solidFill>
              </a:rPr>
              <a:t>/* a[left]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a[center] </a:t>
            </a:r>
            <a:r>
              <a:rPr lang="en-US" altLang="en-US" sz="2100" b="1">
                <a:solidFill>
                  <a:srgbClr val="FF0000"/>
                </a:solidFill>
              </a:rPr>
              <a:t>&lt;</a:t>
            </a:r>
            <a:r>
              <a:rPr lang="en-US" altLang="en-US" sz="2100">
                <a:solidFill>
                  <a:srgbClr val="FF0000"/>
                </a:solidFill>
              </a:rPr>
              <a:t>= a[right] */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 b="1">
                <a:solidFill>
                  <a:srgbClr val="4B0096"/>
                </a:solidFill>
              </a:rPr>
              <a:t>swap( &amp;a[center], &amp;a[right-1] );</a:t>
            </a:r>
            <a:r>
              <a:rPr lang="en-US" altLang="en-US" sz="2100" b="1"/>
              <a:t> </a:t>
            </a:r>
            <a:endParaRPr lang="en-US" altLang="en-US" sz="2100" b="1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>
                <a:solidFill>
                  <a:srgbClr val="0000CC"/>
                </a:solidFill>
              </a:rPr>
              <a:t>return</a:t>
            </a:r>
            <a:r>
              <a:rPr lang="en-US" altLang="en-US" sz="2100"/>
              <a:t> a[right-1]; </a:t>
            </a:r>
            <a:endParaRPr lang="en-US" altLang="en-US" sz="21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21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5ACE7-9072-382D-0F94-213B2C71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68475" y="6553200"/>
            <a:ext cx="2895600" cy="228600"/>
          </a:xfrm>
        </p:spPr>
        <p:txBody>
          <a:bodyPr/>
          <a:lstStyle/>
          <a:p>
            <a:pPr>
              <a:defRPr/>
            </a:pPr>
            <a:r>
              <a:rPr lang="en-US" dirty="0"/>
              <a:t>Data Structures &amp; </a:t>
            </a:r>
            <a:r>
              <a:rPr lang="en-US" dirty="0" err="1"/>
              <a:t>Algo</a:t>
            </a:r>
            <a:r>
              <a:rPr lang="en-US" dirty="0"/>
              <a:t>- Dr </a:t>
            </a:r>
            <a:r>
              <a:rPr lang="en-US" dirty="0" err="1"/>
              <a:t>Ahmar</a:t>
            </a:r>
            <a:r>
              <a:rPr lang="en-US" dirty="0"/>
              <a:t> Rashid</a:t>
            </a:r>
          </a:p>
        </p:txBody>
      </p:sp>
      <p:sp>
        <p:nvSpPr>
          <p:cNvPr id="208901" name="Slide Number Placeholder 4">
            <a:extLst>
              <a:ext uri="{FF2B5EF4-FFF2-40B4-BE49-F238E27FC236}">
                <a16:creationId xmlns:a16="http://schemas.microsoft.com/office/drawing/2014/main" id="{C7EC5A92-2BA8-8A73-5CFF-476BB3ABEA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67513" y="6553200"/>
            <a:ext cx="587375" cy="22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5B7F21-BB55-4912-9DC1-AEAA0A387CD5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6" name="Group 92">
            <a:extLst>
              <a:ext uri="{FF2B5EF4-FFF2-40B4-BE49-F238E27FC236}">
                <a16:creationId xmlns:a16="http://schemas.microsoft.com/office/drawing/2014/main" id="{3F49E874-E79E-48BF-3E2A-F0CD3DCAC14C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8926" name="Straight Arrow Connector 16">
            <a:extLst>
              <a:ext uri="{FF2B5EF4-FFF2-40B4-BE49-F238E27FC236}">
                <a16:creationId xmlns:a16="http://schemas.microsoft.com/office/drawing/2014/main" id="{DCB54E06-50C0-577A-C509-1500BD0E641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32213" y="1981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8927" name="Text Box 107">
            <a:extLst>
              <a:ext uri="{FF2B5EF4-FFF2-40B4-BE49-F238E27FC236}">
                <a16:creationId xmlns:a16="http://schemas.microsoft.com/office/drawing/2014/main" id="{BA52E636-8E44-100F-5D11-85FE1B5B8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2297113"/>
            <a:ext cx="1443038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center</a:t>
            </a:r>
          </a:p>
        </p:txBody>
      </p:sp>
      <p:cxnSp>
        <p:nvCxnSpPr>
          <p:cNvPr id="208928" name="Straight Arrow Connector 16">
            <a:extLst>
              <a:ext uri="{FF2B5EF4-FFF2-40B4-BE49-F238E27FC236}">
                <a16:creationId xmlns:a16="http://schemas.microsoft.com/office/drawing/2014/main" id="{2CB456A9-CA26-2475-848E-C5B3E4A05A5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62763" y="202882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8929" name="Text Box 109">
            <a:extLst>
              <a:ext uri="{FF2B5EF4-FFF2-40B4-BE49-F238E27FC236}">
                <a16:creationId xmlns:a16="http://schemas.microsoft.com/office/drawing/2014/main" id="{9BFFABCD-52B3-55D8-BDBD-EE9F5FDFD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344738"/>
            <a:ext cx="10668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right -1</a:t>
            </a:r>
          </a:p>
        </p:txBody>
      </p:sp>
      <p:sp>
        <p:nvSpPr>
          <p:cNvPr id="208930" name="TextBox 12">
            <a:extLst>
              <a:ext uri="{FF2B5EF4-FFF2-40B4-BE49-F238E27FC236}">
                <a16:creationId xmlns:a16="http://schemas.microsoft.com/office/drawing/2014/main" id="{A108118A-1B40-4BA4-09CE-BE42CE48A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2924175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ED08676-6C26-71D2-1FE4-9A2F89F3E378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8937" name="TextBox 16">
            <a:extLst>
              <a:ext uri="{FF2B5EF4-FFF2-40B4-BE49-F238E27FC236}">
                <a16:creationId xmlns:a16="http://schemas.microsoft.com/office/drawing/2014/main" id="{AD79AF99-C14B-DC61-094D-7457E2925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2713" y="3700463"/>
            <a:ext cx="877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6 &gt; 0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CDCD9EB-CB16-1E88-D277-8ABAE149F8E8}"/>
              </a:ext>
            </a:extLst>
          </p:cNvPr>
          <p:cNvGraphicFramePr>
            <a:graphicFrameLocks noGrp="1"/>
          </p:cNvGraphicFramePr>
          <p:nvPr/>
        </p:nvGraphicFramePr>
        <p:xfrm>
          <a:off x="7377113" y="160655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8944" name="TextBox 18">
            <a:extLst>
              <a:ext uri="{FF2B5EF4-FFF2-40B4-BE49-F238E27FC236}">
                <a16:creationId xmlns:a16="http://schemas.microsoft.com/office/drawing/2014/main" id="{3B7C4554-57D6-2B0A-A59E-75A0B1B82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4343400"/>
            <a:ext cx="877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</a:rPr>
              <a:t>8 &gt; 6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192ED6E-F494-3484-2288-AD5B33F3D84C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C3DF8490-343E-A898-F877-83F6A9F9B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888" y="5345113"/>
            <a:ext cx="1946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/* hide pivot */ </a:t>
            </a:r>
            <a:endParaRPr lang="en-US" altLang="en-US" sz="2000" b="1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1167F1E-8AB7-F426-3057-CAA05DBEAE8C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218E5DE-539B-08C4-1E15-6EF01DA5EF99}"/>
              </a:ext>
            </a:extLst>
          </p:cNvPr>
          <p:cNvGraphicFramePr>
            <a:graphicFrameLocks noGrp="1"/>
          </p:cNvGraphicFramePr>
          <p:nvPr/>
        </p:nvGraphicFramePr>
        <p:xfrm>
          <a:off x="6578600" y="16002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16">
            <a:extLst>
              <a:ext uri="{FF2B5EF4-FFF2-40B4-BE49-F238E27FC236}">
                <a16:creationId xmlns:a16="http://schemas.microsoft.com/office/drawing/2014/main" id="{7BECDAE0-EA3D-ECC7-3A6F-B1960B9B4BC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62763" y="28194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Text Box 109">
            <a:extLst>
              <a:ext uri="{FF2B5EF4-FFF2-40B4-BE49-F238E27FC236}">
                <a16:creationId xmlns:a16="http://schemas.microsoft.com/office/drawing/2014/main" id="{ED3F5D22-FE6D-94C7-2508-65D397036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135313"/>
            <a:ext cx="8382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5C617F-CFF4-8277-4E6C-8EE28E9A7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463" y="5710238"/>
            <a:ext cx="2159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/* return pivot */ </a:t>
            </a:r>
            <a:endParaRPr lang="en-US" altLang="en-US" sz="2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3 0.00416 L 0.34358 -0.00139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4" y="-27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5 -0.00347 L -0.34341 0.00208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92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 animBg="1"/>
      <p:bldP spid="25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3B1B369-FD11-4207-9349-7D528FF35D51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Core Function</a:t>
            </a:r>
          </a:p>
        </p:txBody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1C26D777-9A63-A4AF-1E46-4CA7566DAFC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868363"/>
            <a:ext cx="7467600" cy="4846637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void</a:t>
            </a:r>
            <a:r>
              <a:rPr lang="en-US" altLang="en-US" sz="1700"/>
              <a:t> q_sort(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i, j;  </a:t>
            </a: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pivot;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if</a:t>
            </a:r>
            <a:r>
              <a:rPr lang="en-US" altLang="en-US" sz="1700"/>
              <a:t>( left + CUTOFF </a:t>
            </a:r>
            <a:r>
              <a:rPr lang="en-US" altLang="en-US" sz="1700" b="1"/>
              <a:t>&lt;</a:t>
            </a:r>
            <a:r>
              <a:rPr lang="en-US" altLang="en-US" sz="1700"/>
              <a:t>=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pivot = median3( a, left, right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i=left; j=right-1;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     for </a:t>
            </a:r>
            <a:r>
              <a:rPr lang="en-US" altLang="en-US" sz="1700"/>
              <a:t>( ; ;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       {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/>
              <a:t>     </a:t>
            </a:r>
            <a:r>
              <a:rPr lang="en-US" altLang="en-US" sz="1800">
                <a:solidFill>
                  <a:srgbClr val="0000CC"/>
                </a:solidFill>
              </a:rPr>
              <a:t>while </a:t>
            </a:r>
            <a:r>
              <a:rPr lang="en-US" altLang="en-US" sz="1800">
                <a:solidFill>
                  <a:srgbClr val="6C2A5E"/>
                </a:solidFill>
              </a:rPr>
              <a:t>( a[++i]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pivot );</a:t>
            </a:r>
            <a:r>
              <a:rPr lang="en-US" altLang="en-US" sz="1800"/>
              <a:t>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while </a:t>
            </a:r>
            <a:r>
              <a:rPr lang="en-US" altLang="en-US" sz="1800">
                <a:solidFill>
                  <a:srgbClr val="6C2A5E"/>
                </a:solidFill>
              </a:rPr>
              <a:t>( a[--j] </a:t>
            </a:r>
            <a:r>
              <a:rPr lang="en-US" altLang="en-US" sz="1800" b="1">
                <a:solidFill>
                  <a:srgbClr val="6C2A5E"/>
                </a:solidFill>
              </a:rPr>
              <a:t>&gt;</a:t>
            </a:r>
            <a:r>
              <a:rPr lang="en-US" altLang="en-US" sz="180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 if </a:t>
            </a:r>
            <a:r>
              <a:rPr lang="en-US" altLang="en-US" sz="1800">
                <a:solidFill>
                  <a:srgbClr val="6C2A5E"/>
                </a:solidFill>
              </a:rPr>
              <a:t>( i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j )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    </a:t>
            </a:r>
            <a:r>
              <a:rPr lang="en-US" altLang="en-US" sz="1800">
                <a:solidFill>
                  <a:srgbClr val="6C2A5E"/>
                </a:solidFill>
              </a:rPr>
              <a:t>swap( &amp;a[i], &amp;a[j] </a:t>
            </a:r>
            <a:r>
              <a:rPr lang="en-US" altLang="en-US" sz="1800"/>
              <a:t>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</a:t>
            </a:r>
            <a:r>
              <a:rPr lang="en-US" altLang="en-US" sz="1800">
                <a:solidFill>
                  <a:srgbClr val="0000CC"/>
                </a:solidFill>
              </a:rPr>
              <a:t>else</a:t>
            </a:r>
            <a:r>
              <a:rPr lang="en-US" altLang="en-US" sz="1800"/>
              <a:t>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6C2A5E"/>
                </a:solidFill>
              </a:rPr>
              <a:t>           break;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} </a:t>
            </a:r>
            <a:r>
              <a:rPr lang="en-US" altLang="en-US" sz="1800">
                <a:solidFill>
                  <a:srgbClr val="FF0000"/>
                </a:solidFill>
              </a:rPr>
              <a:t>//end for loop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swap( &amp;a[i], &amp;a[right-1]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left, i-1 );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i+1, right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FF0000"/>
                </a:solidFill>
              </a:rPr>
              <a:t>    </a:t>
            </a:r>
            <a:r>
              <a:rPr lang="en-US" altLang="en-US" sz="1700"/>
              <a:t>}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B3A2E-CAA4-C1F6-9F9A-33EEB983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10949" name="Slide Number Placeholder 4">
            <a:extLst>
              <a:ext uri="{FF2B5EF4-FFF2-40B4-BE49-F238E27FC236}">
                <a16:creationId xmlns:a16="http://schemas.microsoft.com/office/drawing/2014/main" id="{DDF5D11F-8AC1-59D1-0D08-F0B68A9D17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F9F384-9130-411F-9CC2-C99C91AF4E0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16" name="Group 92">
            <a:extLst>
              <a:ext uri="{FF2B5EF4-FFF2-40B4-BE49-F238E27FC236}">
                <a16:creationId xmlns:a16="http://schemas.microsoft.com/office/drawing/2014/main" id="{105AD31A-36E4-D487-D8E2-E219C7AF102A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143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 Box 93">
            <a:extLst>
              <a:ext uri="{FF2B5EF4-FFF2-40B4-BE49-F238E27FC236}">
                <a16:creationId xmlns:a16="http://schemas.microsoft.com/office/drawing/2014/main" id="{01963DCE-AD8C-A974-F8B4-C81DBAFAA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1552575"/>
            <a:ext cx="2960687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= left</a:t>
            </a:r>
          </a:p>
        </p:txBody>
      </p:sp>
      <p:sp>
        <p:nvSpPr>
          <p:cNvPr id="21" name="Text Box 109">
            <a:extLst>
              <a:ext uri="{FF2B5EF4-FFF2-40B4-BE49-F238E27FC236}">
                <a16:creationId xmlns:a16="http://schemas.microsoft.com/office/drawing/2014/main" id="{53CEBAF8-EACE-8E7E-547B-997954A67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690688"/>
            <a:ext cx="1447800" cy="3698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j = right -1</a:t>
            </a:r>
          </a:p>
        </p:txBody>
      </p:sp>
      <p:cxnSp>
        <p:nvCxnSpPr>
          <p:cNvPr id="22" name="Straight Arrow Connector 16">
            <a:extLst>
              <a:ext uri="{FF2B5EF4-FFF2-40B4-BE49-F238E27FC236}">
                <a16:creationId xmlns:a16="http://schemas.microsoft.com/office/drawing/2014/main" id="{C44404EE-A370-2CED-D9E3-6C7DACC8816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0413" y="1600200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11E67B8-B707-259D-D5C2-E544A8D22F62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755CF62-AC66-1645-4691-3F0FD0E1565B}"/>
              </a:ext>
            </a:extLst>
          </p:cNvPr>
          <p:cNvGraphicFramePr>
            <a:graphicFrameLocks noGrp="1"/>
          </p:cNvGraphicFramePr>
          <p:nvPr/>
        </p:nvGraphicFramePr>
        <p:xfrm>
          <a:off x="7377113" y="114935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DA88588-5871-8B54-D409-B3E3C1D5930E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 Box 109">
            <a:extLst>
              <a:ext uri="{FF2B5EF4-FFF2-40B4-BE49-F238E27FC236}">
                <a16:creationId xmlns:a16="http://schemas.microsoft.com/office/drawing/2014/main" id="{15874F15-A67E-C9B9-3430-977312772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209800"/>
            <a:ext cx="838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BC09F4-8237-9FC4-5460-F4E37748F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724150"/>
            <a:ext cx="45720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 /*</a:t>
            </a:r>
            <a:r>
              <a:rPr lang="en-US" altLang="en-US" sz="1800">
                <a:solidFill>
                  <a:srgbClr val="FF0000"/>
                </a:solidFill>
              </a:rPr>
              <a:t>  while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i="1">
                <a:solidFill>
                  <a:srgbClr val="FF0000"/>
                </a:solidFill>
              </a:rPr>
              <a:t> </a:t>
            </a:r>
            <a:r>
              <a:rPr lang="en-US" altLang="en-US" sz="1800">
                <a:solidFill>
                  <a:srgbClr val="FF0000"/>
                </a:solidFill>
              </a:rPr>
              <a:t>is to the </a:t>
            </a:r>
            <a:r>
              <a:rPr lang="en-US" altLang="en-US" sz="1800">
                <a:solidFill>
                  <a:srgbClr val="0000CC"/>
                </a:solidFill>
              </a:rPr>
              <a:t>left</a:t>
            </a:r>
            <a:r>
              <a:rPr lang="en-US" altLang="en-US" sz="1800">
                <a:solidFill>
                  <a:srgbClr val="FF0000"/>
                </a:solidFill>
              </a:rPr>
              <a:t> of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>
                <a:solidFill>
                  <a:srgbClr val="0000CC"/>
                </a:solidFill>
              </a:rPr>
              <a:t>,</a:t>
            </a:r>
            <a:r>
              <a:rPr lang="en-US" altLang="en-US" sz="1800">
                <a:solidFill>
                  <a:srgbClr val="FF0000"/>
                </a:solidFill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move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</a:rPr>
              <a:t>right</a:t>
            </a:r>
            <a:r>
              <a:rPr lang="en-US" altLang="en-US" sz="1800">
                <a:solidFill>
                  <a:srgbClr val="FF0000"/>
                </a:solidFill>
              </a:rPr>
              <a:t>, skipping over elements </a:t>
            </a:r>
            <a:r>
              <a:rPr lang="en-US" altLang="en-US" sz="1800" b="1">
                <a:solidFill>
                  <a:srgbClr val="FF0000"/>
                </a:solidFill>
              </a:rPr>
              <a:t>smaller</a:t>
            </a:r>
            <a:r>
              <a:rPr lang="en-US" altLang="en-US" sz="1800">
                <a:solidFill>
                  <a:srgbClr val="FF0000"/>
                </a:solidFill>
              </a:rPr>
              <a:t> than the </a:t>
            </a:r>
            <a:r>
              <a:rPr lang="en-US" altLang="en-US" sz="1800">
                <a:solidFill>
                  <a:srgbClr val="0000CC"/>
                </a:solidFill>
              </a:rPr>
              <a:t>pivot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move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>
                <a:solidFill>
                  <a:srgbClr val="FF0000"/>
                </a:solidFill>
              </a:rPr>
              <a:t> </a:t>
            </a:r>
            <a:r>
              <a:rPr lang="en-US" altLang="en-US" sz="1800" b="1">
                <a:solidFill>
                  <a:srgbClr val="FF0000"/>
                </a:solidFill>
              </a:rPr>
              <a:t>left</a:t>
            </a:r>
            <a:r>
              <a:rPr lang="en-US" altLang="en-US" sz="1800">
                <a:solidFill>
                  <a:srgbClr val="FF0000"/>
                </a:solidFill>
              </a:rPr>
              <a:t>, skipping over elements </a:t>
            </a:r>
            <a:r>
              <a:rPr lang="en-US" altLang="en-US" sz="1800" b="1">
                <a:solidFill>
                  <a:srgbClr val="FF0000"/>
                </a:solidFill>
              </a:rPr>
              <a:t>larger</a:t>
            </a:r>
            <a:r>
              <a:rPr lang="en-US" altLang="en-US" sz="1800">
                <a:solidFill>
                  <a:srgbClr val="FF0000"/>
                </a:solidFill>
              </a:rPr>
              <a:t> than the </a:t>
            </a:r>
            <a:r>
              <a:rPr lang="en-US" altLang="en-US" sz="1800">
                <a:solidFill>
                  <a:srgbClr val="0000CC"/>
                </a:solidFill>
              </a:rPr>
              <a:t>pivot</a:t>
            </a:r>
            <a:r>
              <a:rPr lang="en-US" altLang="en-US" sz="1800"/>
              <a:t>.    </a:t>
            </a:r>
            <a:r>
              <a:rPr lang="en-US" altLang="en-US" sz="1800" b="1">
                <a:solidFill>
                  <a:srgbClr val="FF0000"/>
                </a:solidFill>
              </a:rPr>
              <a:t>*/</a:t>
            </a:r>
          </a:p>
        </p:txBody>
      </p:sp>
      <p:cxnSp>
        <p:nvCxnSpPr>
          <p:cNvPr id="20" name="Straight Arrow Connector 16">
            <a:extLst>
              <a:ext uri="{FF2B5EF4-FFF2-40B4-BE49-F238E27FC236}">
                <a16:creationId xmlns:a16="http://schemas.microsoft.com/office/drawing/2014/main" id="{55D605C4-BB80-585B-F760-EE1B660F259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56413" y="1524000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16">
            <a:extLst>
              <a:ext uri="{FF2B5EF4-FFF2-40B4-BE49-F238E27FC236}">
                <a16:creationId xmlns:a16="http://schemas.microsoft.com/office/drawing/2014/main" id="{C1AB43A8-3846-DE77-C4D7-93BB1C6DC33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91363" y="2033588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38CD25E-59FA-B184-E938-02D16C353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284663"/>
            <a:ext cx="396240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2860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/* If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>
                <a:solidFill>
                  <a:srgbClr val="FF0000"/>
                </a:solidFill>
              </a:rPr>
              <a:t> is to the left of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>
                <a:solidFill>
                  <a:srgbClr val="FF0000"/>
                </a:solidFill>
              </a:rPr>
              <a:t>, </a:t>
            </a:r>
          </a:p>
          <a:p>
            <a:pPr lvl="1">
              <a:lnSpc>
                <a:spcPct val="90000"/>
              </a:lnSpc>
            </a:pPr>
            <a:r>
              <a:rPr lang="en-US" altLang="en-US" sz="1800">
                <a:solidFill>
                  <a:srgbClr val="FF0000"/>
                </a:solidFill>
              </a:rPr>
              <a:t>those elements are swapped  */ </a:t>
            </a:r>
          </a:p>
        </p:txBody>
      </p:sp>
      <p:cxnSp>
        <p:nvCxnSpPr>
          <p:cNvPr id="33" name="Straight Arrow Connector 16">
            <a:extLst>
              <a:ext uri="{FF2B5EF4-FFF2-40B4-BE49-F238E27FC236}">
                <a16:creationId xmlns:a16="http://schemas.microsoft.com/office/drawing/2014/main" id="{D105A15B-CB5D-294D-6E51-451B93EB259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32213" y="15351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107">
            <a:extLst>
              <a:ext uri="{FF2B5EF4-FFF2-40B4-BE49-F238E27FC236}">
                <a16:creationId xmlns:a16="http://schemas.microsoft.com/office/drawing/2014/main" id="{D80FAA0D-C6FB-9F97-A14E-5079D92D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1773238"/>
            <a:ext cx="1443038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center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C16ADA3-A0BD-5A9B-9078-0AE50D37886C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608D24F2-FAA4-0D23-C29E-6F0309FD0DDA}"/>
              </a:ext>
            </a:extLst>
          </p:cNvPr>
          <p:cNvGraphicFramePr>
            <a:graphicFrameLocks noGrp="1"/>
          </p:cNvGraphicFramePr>
          <p:nvPr/>
        </p:nvGraphicFramePr>
        <p:xfrm>
          <a:off x="6592888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7" grpId="0" animBg="1"/>
      <p:bldP spid="28" grpId="0"/>
      <p:bldP spid="32" grpId="0"/>
      <p:bldP spid="34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C959227-B34B-2D27-1531-254FC620F32F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457200" y="152400"/>
            <a:ext cx="7239000" cy="517525"/>
          </a:xfrm>
        </p:spPr>
        <p:txBody>
          <a:bodyPr wrap="square" numCol="1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cap="none">
                <a:ln>
                  <a:noFill/>
                </a:ln>
                <a:solidFill>
                  <a:schemeClr val="tx1"/>
                </a:solidFill>
                <a:latin typeface="Trebuchet MS" pitchFamily="34" charset="0"/>
              </a:rPr>
              <a:t>QuickSort: Core Function</a:t>
            </a:r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3D3A2FBF-E861-E546-926F-DBD8C129A98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57200" y="868363"/>
            <a:ext cx="7467600" cy="4846637"/>
          </a:xfrm>
        </p:spPr>
        <p:txBody>
          <a:bodyPr/>
          <a:lstStyle/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void</a:t>
            </a:r>
            <a:r>
              <a:rPr lang="en-US" altLang="en-US" sz="1700"/>
              <a:t> q_sort( input_type a[], int left, int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i, j;  </a:t>
            </a:r>
            <a:r>
              <a:rPr lang="en-US" altLang="en-US" sz="1700">
                <a:solidFill>
                  <a:srgbClr val="0000CC"/>
                </a:solidFill>
              </a:rPr>
              <a:t>int</a:t>
            </a:r>
            <a:r>
              <a:rPr lang="en-US" altLang="en-US" sz="1700"/>
              <a:t> pivot;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if</a:t>
            </a:r>
            <a:r>
              <a:rPr lang="en-US" altLang="en-US" sz="1700"/>
              <a:t>( left + CUTOFF </a:t>
            </a:r>
            <a:r>
              <a:rPr lang="en-US" altLang="en-US" sz="1700" b="1"/>
              <a:t>&lt;</a:t>
            </a:r>
            <a:r>
              <a:rPr lang="en-US" altLang="en-US" sz="1700"/>
              <a:t>= right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{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pivot = median3( a, left, right );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i=left; j=right-1;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0000CC"/>
                </a:solidFill>
              </a:rPr>
              <a:t>     for </a:t>
            </a:r>
            <a:r>
              <a:rPr lang="en-US" altLang="en-US" sz="1700"/>
              <a:t>( ; ; )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       {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600"/>
              <a:t>     </a:t>
            </a:r>
            <a:r>
              <a:rPr lang="en-US" altLang="en-US" sz="1800">
                <a:solidFill>
                  <a:srgbClr val="0000CC"/>
                </a:solidFill>
              </a:rPr>
              <a:t>while </a:t>
            </a:r>
            <a:r>
              <a:rPr lang="en-US" altLang="en-US" sz="1800">
                <a:solidFill>
                  <a:srgbClr val="6C2A5E"/>
                </a:solidFill>
              </a:rPr>
              <a:t>( a[++i]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while</a:t>
            </a:r>
            <a:r>
              <a:rPr lang="en-US" altLang="en-US" sz="1800">
                <a:solidFill>
                  <a:srgbClr val="6C2A5E"/>
                </a:solidFill>
              </a:rPr>
              <a:t> ( a[--j] </a:t>
            </a:r>
            <a:r>
              <a:rPr lang="en-US" altLang="en-US" sz="1800" b="1">
                <a:solidFill>
                  <a:srgbClr val="6C2A5E"/>
                </a:solidFill>
              </a:rPr>
              <a:t>&gt;</a:t>
            </a:r>
            <a:r>
              <a:rPr lang="en-US" altLang="en-US" sz="1800">
                <a:solidFill>
                  <a:srgbClr val="6C2A5E"/>
                </a:solidFill>
              </a:rPr>
              <a:t> pivot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0000CC"/>
                </a:solidFill>
              </a:rPr>
              <a:t>      if </a:t>
            </a:r>
            <a:r>
              <a:rPr lang="en-US" altLang="en-US" sz="1800">
                <a:solidFill>
                  <a:srgbClr val="6C2A5E"/>
                </a:solidFill>
              </a:rPr>
              <a:t>( i </a:t>
            </a:r>
            <a:r>
              <a:rPr lang="en-US" altLang="en-US" sz="1800" b="1">
                <a:solidFill>
                  <a:srgbClr val="6C2A5E"/>
                </a:solidFill>
              </a:rPr>
              <a:t>&lt;</a:t>
            </a:r>
            <a:r>
              <a:rPr lang="en-US" altLang="en-US" sz="1800">
                <a:solidFill>
                  <a:srgbClr val="6C2A5E"/>
                </a:solidFill>
              </a:rPr>
              <a:t> j )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    </a:t>
            </a:r>
            <a:r>
              <a:rPr lang="en-US" altLang="en-US" sz="1800">
                <a:solidFill>
                  <a:srgbClr val="6C2A5E"/>
                </a:solidFill>
              </a:rPr>
              <a:t>swap( &amp;a[i], &amp;a[j] );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</a:t>
            </a:r>
            <a:r>
              <a:rPr lang="en-US" altLang="en-US" sz="1800">
                <a:solidFill>
                  <a:srgbClr val="0000CC"/>
                </a:solidFill>
              </a:rPr>
              <a:t>else</a:t>
            </a:r>
            <a:r>
              <a:rPr lang="en-US" altLang="en-US" sz="1800"/>
              <a:t>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>
                <a:solidFill>
                  <a:srgbClr val="6C2A5E"/>
                </a:solidFill>
              </a:rPr>
              <a:t>           break; </a:t>
            </a:r>
          </a:p>
          <a:p>
            <a:pPr marL="742950" lvl="1" indent="-285750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800"/>
              <a:t>      </a:t>
            </a:r>
            <a:r>
              <a:rPr lang="en-US" altLang="en-US" sz="1800">
                <a:solidFill>
                  <a:srgbClr val="6C2A5E"/>
                </a:solidFill>
              </a:rPr>
              <a:t>} </a:t>
            </a:r>
            <a:r>
              <a:rPr lang="en-US" altLang="en-US" sz="1800">
                <a:solidFill>
                  <a:srgbClr val="FF0000"/>
                </a:solidFill>
              </a:rPr>
              <a:t>//end for loop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swap( &amp;a[i], &amp;a[right-1]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left, i-1 );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      q_sort( a, i+1, right ); </a:t>
            </a:r>
            <a:endParaRPr lang="en-US" altLang="en-US" sz="17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>
                <a:solidFill>
                  <a:srgbClr val="FF0000"/>
                </a:solidFill>
              </a:rPr>
              <a:t>    </a:t>
            </a:r>
            <a:r>
              <a:rPr lang="en-US" altLang="en-US" sz="1700"/>
              <a:t>} </a:t>
            </a: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en-US" sz="1700"/>
              <a:t>}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84D5A-18E3-E84D-96BD-03D61C799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&amp; Algo- Dr Ahmar Rashid</a:t>
            </a:r>
          </a:p>
        </p:txBody>
      </p:sp>
      <p:sp>
        <p:nvSpPr>
          <p:cNvPr id="212997" name="Slide Number Placeholder 4">
            <a:extLst>
              <a:ext uri="{FF2B5EF4-FFF2-40B4-BE49-F238E27FC236}">
                <a16:creationId xmlns:a16="http://schemas.microsoft.com/office/drawing/2014/main" id="{A0B4E209-E048-3DDC-427D-C86FF22F40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0F1471-D0D4-4198-95AD-5A0881AB549A}" type="slidenum">
              <a:rPr lang="en-US" altLang="en-US" sz="11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lang="en-US" altLang="en-US" sz="1100">
              <a:solidFill>
                <a:schemeClr val="tx2"/>
              </a:solidFill>
            </a:endParaRPr>
          </a:p>
        </p:txBody>
      </p:sp>
      <p:graphicFrame>
        <p:nvGraphicFramePr>
          <p:cNvPr id="16" name="Group 92">
            <a:extLst>
              <a:ext uri="{FF2B5EF4-FFF2-40B4-BE49-F238E27FC236}">
                <a16:creationId xmlns:a16="http://schemas.microsoft.com/office/drawing/2014/main" id="{C4F3BB21-2F75-A41B-128F-D1ACBA167BC2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143000"/>
          <a:ext cx="7848600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58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1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3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9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 Box 93">
            <a:extLst>
              <a:ext uri="{FF2B5EF4-FFF2-40B4-BE49-F238E27FC236}">
                <a16:creationId xmlns:a16="http://schemas.microsoft.com/office/drawing/2014/main" id="{B727E4EA-AE09-696E-73CF-1ED5184AF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113" y="1566863"/>
            <a:ext cx="446087" cy="6461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 err="1">
                <a:solidFill>
                  <a:srgbClr val="FF0000"/>
                </a:solidFill>
                <a:latin typeface="+mj-lt"/>
                <a:cs typeface="Times New Roman" pitchFamily="18" charset="0"/>
              </a:rPr>
              <a:t>i</a:t>
            </a: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</a:p>
        </p:txBody>
      </p:sp>
      <p:sp>
        <p:nvSpPr>
          <p:cNvPr id="21" name="Text Box 109">
            <a:extLst>
              <a:ext uri="{FF2B5EF4-FFF2-40B4-BE49-F238E27FC236}">
                <a16:creationId xmlns:a16="http://schemas.microsoft.com/office/drawing/2014/main" id="{E4EBF126-5E15-59AC-6DDC-ECB93C83B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650" y="1746250"/>
            <a:ext cx="1447800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right -1</a:t>
            </a:r>
          </a:p>
        </p:txBody>
      </p:sp>
      <p:cxnSp>
        <p:nvCxnSpPr>
          <p:cNvPr id="213024" name="Straight Arrow Connector 16">
            <a:extLst>
              <a:ext uri="{FF2B5EF4-FFF2-40B4-BE49-F238E27FC236}">
                <a16:creationId xmlns:a16="http://schemas.microsoft.com/office/drawing/2014/main" id="{EA63EB56-ED49-AB42-DAD8-DAD9CB8D7E5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328444" y="1696244"/>
            <a:ext cx="304800" cy="1588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13586E6-675A-0E19-62B0-7E266DB6E23C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58F639F-6D18-3EA3-9BDE-2BA79A47B8CF}"/>
              </a:ext>
            </a:extLst>
          </p:cNvPr>
          <p:cNvGraphicFramePr>
            <a:graphicFrameLocks noGrp="1"/>
          </p:cNvGraphicFramePr>
          <p:nvPr/>
        </p:nvGraphicFramePr>
        <p:xfrm>
          <a:off x="7377113" y="114935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 Box 109">
            <a:extLst>
              <a:ext uri="{FF2B5EF4-FFF2-40B4-BE49-F238E27FC236}">
                <a16:creationId xmlns:a16="http://schemas.microsoft.com/office/drawing/2014/main" id="{CB4CF338-C840-EFA5-90C2-C93F77610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209800"/>
            <a:ext cx="838200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pivot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A14BBE-1C8C-331C-82D2-19DEFB0CD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5345113"/>
            <a:ext cx="19542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/*restore pivot*/ </a:t>
            </a:r>
            <a:endParaRPr lang="en-US" altLang="en-US" sz="1800" b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E0ABD9-F8DA-4566-D0D9-0401DA149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5653088"/>
            <a:ext cx="2262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// left recursive call</a:t>
            </a:r>
            <a:endParaRPr lang="en-US" altLang="en-US" sz="1800" b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116C5B-68C8-5528-D7D8-D3FFF3FED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3" y="5929313"/>
            <a:ext cx="24939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// lright recursive call</a:t>
            </a:r>
            <a:endParaRPr lang="en-US" altLang="en-US" sz="1800" b="1"/>
          </a:p>
        </p:txBody>
      </p:sp>
      <p:cxnSp>
        <p:nvCxnSpPr>
          <p:cNvPr id="213041" name="Straight Arrow Connector 16">
            <a:extLst>
              <a:ext uri="{FF2B5EF4-FFF2-40B4-BE49-F238E27FC236}">
                <a16:creationId xmlns:a16="http://schemas.microsoft.com/office/drawing/2014/main" id="{A7E1EE23-FADF-BEE2-DA54-742516E40B4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856413" y="1524000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16">
            <a:extLst>
              <a:ext uri="{FF2B5EF4-FFF2-40B4-BE49-F238E27FC236}">
                <a16:creationId xmlns:a16="http://schemas.microsoft.com/office/drawing/2014/main" id="{34644AC6-A2D6-B2FA-DE3A-2FB92A7BEFF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091363" y="2033588"/>
            <a:ext cx="1587" cy="2286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6824882-D5A2-4F81-0942-6F5D5553CD10}"/>
              </a:ext>
            </a:extLst>
          </p:cNvPr>
          <p:cNvGraphicFramePr>
            <a:graphicFrameLocks noGrp="1"/>
          </p:cNvGraphicFramePr>
          <p:nvPr/>
        </p:nvGraphicFramePr>
        <p:xfrm>
          <a:off x="5014913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D5662165-778C-2FAD-508B-A4BBFCB6EC44}"/>
              </a:ext>
            </a:extLst>
          </p:cNvPr>
          <p:cNvGraphicFramePr>
            <a:graphicFrameLocks noGrp="1"/>
          </p:cNvGraphicFramePr>
          <p:nvPr/>
        </p:nvGraphicFramePr>
        <p:xfrm>
          <a:off x="6592888" y="1143000"/>
          <a:ext cx="784225" cy="381000"/>
        </p:xfrm>
        <a:graphic>
          <a:graphicData uri="http://schemas.openxmlformats.org/drawingml/2006/table">
            <a:tbl>
              <a:tblPr/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  <a:cs typeface="Arial" pitchFamily="34" charset="0"/>
                        </a:rPr>
                        <a:t>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E5C50C4E-40CA-E357-64F8-E61F156F4770}"/>
              </a:ext>
            </a:extLst>
          </p:cNvPr>
          <p:cNvSpPr/>
          <p:nvPr/>
        </p:nvSpPr>
        <p:spPr>
          <a:xfrm>
            <a:off x="304800" y="1143000"/>
            <a:ext cx="46482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80A2AF-A73A-F85A-0265-498B6A4AC4BE}"/>
              </a:ext>
            </a:extLst>
          </p:cNvPr>
          <p:cNvSpPr/>
          <p:nvPr/>
        </p:nvSpPr>
        <p:spPr>
          <a:xfrm>
            <a:off x="5791200" y="1143000"/>
            <a:ext cx="2376488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1" name="Text Box 93">
            <a:extLst>
              <a:ext uri="{FF2B5EF4-FFF2-40B4-BE49-F238E27FC236}">
                <a16:creationId xmlns:a16="http://schemas.microsoft.com/office/drawing/2014/main" id="{FB9E20C9-6B78-EAE1-B524-FC5748239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52575"/>
            <a:ext cx="2960687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left</a:t>
            </a:r>
          </a:p>
        </p:txBody>
      </p:sp>
      <p:cxnSp>
        <p:nvCxnSpPr>
          <p:cNvPr id="213058" name="Straight Arrow Connector 16">
            <a:extLst>
              <a:ext uri="{FF2B5EF4-FFF2-40B4-BE49-F238E27FC236}">
                <a16:creationId xmlns:a16="http://schemas.microsoft.com/office/drawing/2014/main" id="{E217FA5B-AAC0-F55D-D197-3AD195C72AF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60413" y="1585913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3059" name="Straight Arrow Connector 16">
            <a:extLst>
              <a:ext uri="{FF2B5EF4-FFF2-40B4-BE49-F238E27FC236}">
                <a16:creationId xmlns:a16="http://schemas.microsoft.com/office/drawing/2014/main" id="{49A71BC5-3026-E004-9493-FC9AE315494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7853363" y="1501775"/>
            <a:ext cx="1587" cy="304800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3060" name="Text Box 109">
            <a:extLst>
              <a:ext uri="{FF2B5EF4-FFF2-40B4-BE49-F238E27FC236}">
                <a16:creationId xmlns:a16="http://schemas.microsoft.com/office/drawing/2014/main" id="{3F10BF11-B964-A176-B183-58CAD5B68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1724025"/>
            <a:ext cx="72866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right</a:t>
            </a:r>
          </a:p>
        </p:txBody>
      </p:sp>
      <p:sp>
        <p:nvSpPr>
          <p:cNvPr id="45" name="Text Box 93">
            <a:extLst>
              <a:ext uri="{FF2B5EF4-FFF2-40B4-BE49-F238E27FC236}">
                <a16:creationId xmlns:a16="http://schemas.microsoft.com/office/drawing/2014/main" id="{5A95943C-3F51-779B-E12B-8728318B2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574800"/>
            <a:ext cx="446088" cy="646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j </a:t>
            </a:r>
          </a:p>
        </p:txBody>
      </p:sp>
      <p:cxnSp>
        <p:nvCxnSpPr>
          <p:cNvPr id="213062" name="Straight Arrow Connector 16">
            <a:extLst>
              <a:ext uri="{FF2B5EF4-FFF2-40B4-BE49-F238E27FC236}">
                <a16:creationId xmlns:a16="http://schemas.microsoft.com/office/drawing/2014/main" id="{A71639F0-FDD0-292A-8508-AF45070ECEA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564732" y="1704181"/>
            <a:ext cx="304800" cy="1587"/>
          </a:xfrm>
          <a:prstGeom prst="straightConnector1">
            <a:avLst/>
          </a:prstGeom>
          <a:noFill/>
          <a:ln w="25400" algn="ctr">
            <a:solidFill>
              <a:srgbClr val="0000CC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3063" name="Rectangle 46">
            <a:extLst>
              <a:ext uri="{FF2B5EF4-FFF2-40B4-BE49-F238E27FC236}">
                <a16:creationId xmlns:a16="http://schemas.microsoft.com/office/drawing/2014/main" id="{E4EE26FE-3800-A7D9-99C7-86FA238DF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572000"/>
            <a:ext cx="5029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tx2"/>
              </a:buClr>
              <a:buSzPct val="73000"/>
              <a:buFont typeface="Wingdings 2" panose="05020102010507070707" pitchFamily="18" charset="2"/>
              <a:buChar char="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5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"/>
              <a:defRPr sz="2300">
                <a:solidFill>
                  <a:srgbClr val="6C6C6C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400"/>
              </a:spcBef>
              <a:buClr>
                <a:srgbClr val="F9B639"/>
              </a:buClr>
              <a:buSzPct val="60000"/>
              <a:buFont typeface="Wingdings" panose="05000000000000000000" pitchFamily="2" charset="2"/>
              <a:buChar char="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9B639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rgbClr val="6C6C6C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F9B639"/>
              </a:buClr>
              <a:buSzPct val="70000"/>
              <a:buFont typeface="Wingdings" panose="05000000000000000000" pitchFamily="2" charset="2"/>
              <a:buChar char="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/* loop terminated </a:t>
            </a:r>
            <a:r>
              <a:rPr lang="en-US" altLang="en-US" sz="1800" b="1" i="1">
                <a:solidFill>
                  <a:srgbClr val="FF0000"/>
                </a:solidFill>
              </a:rPr>
              <a:t>when ( </a:t>
            </a:r>
            <a:r>
              <a:rPr lang="en-US" altLang="en-US" sz="1800" b="1" i="1">
                <a:solidFill>
                  <a:srgbClr val="0000CC"/>
                </a:solidFill>
              </a:rPr>
              <a:t>i &gt; j </a:t>
            </a:r>
            <a:r>
              <a:rPr lang="en-US" altLang="en-US" sz="1800" b="1" i="1">
                <a:solidFill>
                  <a:srgbClr val="FF0000"/>
                </a:solidFill>
              </a:rPr>
              <a:t>) i.e., </a:t>
            </a:r>
            <a:r>
              <a:rPr lang="en-US" altLang="en-US" sz="1800" b="1" i="1">
                <a:solidFill>
                  <a:srgbClr val="0000CC"/>
                </a:solidFill>
              </a:rPr>
              <a:t>i</a:t>
            </a:r>
            <a:r>
              <a:rPr lang="en-US" altLang="en-US" sz="1800" b="1">
                <a:solidFill>
                  <a:srgbClr val="FF0000"/>
                </a:solidFill>
              </a:rPr>
              <a:t> and </a:t>
            </a:r>
            <a:r>
              <a:rPr lang="en-US" altLang="en-US" sz="1800" b="1" i="1">
                <a:solidFill>
                  <a:srgbClr val="0000CC"/>
                </a:solidFill>
              </a:rPr>
              <a:t>j</a:t>
            </a:r>
            <a:r>
              <a:rPr lang="en-US" altLang="en-US" sz="1800" b="1">
                <a:solidFill>
                  <a:srgbClr val="FF0000"/>
                </a:solidFill>
              </a:rPr>
              <a:t>   have crossed </a:t>
            </a:r>
            <a:r>
              <a:rPr lang="en-US" altLang="en-US" sz="1800" b="1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1800" b="1">
                <a:solidFill>
                  <a:srgbClr val="FF0000"/>
                </a:solidFill>
              </a:rPr>
              <a:t>so no swap is performed  */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771 -0.00138 L 0.1717 -4.56984E-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91" y="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68 -0.00555 L -0.17257 -4.56984E-6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94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25 0.01665 L -0.17709 0.01203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42" y="-231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25 0.01666 L -0.17344 0.01457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/>
      <p:bldP spid="30" grpId="0"/>
      <p:bldP spid="31" grpId="0"/>
      <p:bldP spid="38" grpId="0" animBg="1"/>
      <p:bldP spid="3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>
            <a:extLst>
              <a:ext uri="{FF2B5EF4-FFF2-40B4-BE49-F238E27FC236}">
                <a16:creationId xmlns:a16="http://schemas.microsoft.com/office/drawing/2014/main" id="{DD374542-8106-6CC4-C0CF-236C67CAFCD5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r>
              <a:rPr lang="en-US" altLang="en-US" sz="3400" cap="none">
                <a:ln>
                  <a:noFill/>
                </a:ln>
                <a:solidFill>
                  <a:schemeClr val="tx1"/>
                </a:solidFill>
              </a:rPr>
              <a:t>Linear Order Sorting Algorithms</a:t>
            </a:r>
          </a:p>
        </p:txBody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57A38E68-CC80-5F71-16B9-2CA89BEADB2F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en-US"/>
              <a:t>Counting Sort</a:t>
            </a:r>
          </a:p>
          <a:p>
            <a:r>
              <a:rPr lang="en-US" altLang="en-US"/>
              <a:t>Radix Sort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5_Opulent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>
    <a:extraClrScheme>
      <a:clrScheme name="Opulent 1">
        <a:dk1>
          <a:srgbClr val="000000"/>
        </a:dk1>
        <a:lt1>
          <a:srgbClr val="FFFFFF"/>
        </a:lt1>
        <a:dk2>
          <a:srgbClr val="B13F9A"/>
        </a:dk2>
        <a:lt2>
          <a:srgbClr val="F4E7ED"/>
        </a:lt2>
        <a:accent1>
          <a:srgbClr val="B83D68"/>
        </a:accent1>
        <a:accent2>
          <a:srgbClr val="AC66BB"/>
        </a:accent2>
        <a:accent3>
          <a:srgbClr val="FFFFFF"/>
        </a:accent3>
        <a:accent4>
          <a:srgbClr val="000000"/>
        </a:accent4>
        <a:accent5>
          <a:srgbClr val="D8AFB9"/>
        </a:accent5>
        <a:accent6>
          <a:srgbClr val="9B5CA9"/>
        </a:accent6>
        <a:hlink>
          <a:srgbClr val="FFDE66"/>
        </a:hlink>
        <a:folHlink>
          <a:srgbClr val="D490C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pulent 2">
        <a:dk1>
          <a:srgbClr val="000000"/>
        </a:dk1>
        <a:lt1>
          <a:srgbClr val="FFFFFF"/>
        </a:lt1>
        <a:dk2>
          <a:srgbClr val="B4AB3C"/>
        </a:dk2>
        <a:lt2>
          <a:srgbClr val="F4E7ED"/>
        </a:lt2>
        <a:accent1>
          <a:srgbClr val="B83D68"/>
        </a:accent1>
        <a:accent2>
          <a:srgbClr val="AC66BB"/>
        </a:accent2>
        <a:accent3>
          <a:srgbClr val="FFFFFF"/>
        </a:accent3>
        <a:accent4>
          <a:srgbClr val="000000"/>
        </a:accent4>
        <a:accent5>
          <a:srgbClr val="D8AFB9"/>
        </a:accent5>
        <a:accent6>
          <a:srgbClr val="9B5CA9"/>
        </a:accent6>
        <a:hlink>
          <a:srgbClr val="FFDE66"/>
        </a:hlink>
        <a:folHlink>
          <a:srgbClr val="D490C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pulent">
    <a:dk1>
      <a:sysClr val="windowText" lastClr="000000"/>
    </a:dk1>
    <a:lt1>
      <a:sysClr val="window" lastClr="FFFFFF"/>
    </a:lt1>
    <a:dk2>
      <a:srgbClr val="B13F9A"/>
    </a:dk2>
    <a:lt2>
      <a:srgbClr val="F4E7ED"/>
    </a:lt2>
    <a:accent1>
      <a:srgbClr val="B83D68"/>
    </a:accent1>
    <a:accent2>
      <a:srgbClr val="AC66BB"/>
    </a:accent2>
    <a:accent3>
      <a:srgbClr val="DE6C36"/>
    </a:accent3>
    <a:accent4>
      <a:srgbClr val="F9B639"/>
    </a:accent4>
    <a:accent5>
      <a:srgbClr val="CF6DA4"/>
    </a:accent5>
    <a:accent6>
      <a:srgbClr val="FA8D3D"/>
    </a:accent6>
    <a:hlink>
      <a:srgbClr val="FFDE66"/>
    </a:hlink>
    <a:folHlink>
      <a:srgbClr val="D490C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259957CA0FD74CA6B93C94E3B6940B" ma:contentTypeVersion="3" ma:contentTypeDescription="Create a new document." ma:contentTypeScope="" ma:versionID="0e778c8b9669a05a6ccbb6bb5b65ba65">
  <xsd:schema xmlns:xsd="http://www.w3.org/2001/XMLSchema" xmlns:xs="http://www.w3.org/2001/XMLSchema" xmlns:p="http://schemas.microsoft.com/office/2006/metadata/properties" xmlns:ns2="5190cc7a-b112-49bd-adfa-a63e84871a11" targetNamespace="http://schemas.microsoft.com/office/2006/metadata/properties" ma:root="true" ma:fieldsID="2139bc1d300a0b4952bfe7914fa75cd8" ns2:_="">
    <xsd:import namespace="5190cc7a-b112-49bd-adfa-a63e84871a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0cc7a-b112-49bd-adfa-a63e84871a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EAB171-011A-463B-85BC-FCF5B5812C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AD193A-D592-4097-A390-8DAF28C66B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90cc7a-b112-49bd-adfa-a63e84871a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3378</TotalTime>
  <Words>14013</Words>
  <Application>Microsoft Office PowerPoint</Application>
  <PresentationFormat>On-screen Show (4:3)</PresentationFormat>
  <Paragraphs>2562</Paragraphs>
  <Slides>102</Slides>
  <Notes>101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102</vt:i4>
      </vt:variant>
    </vt:vector>
  </HeadingPairs>
  <TitlesOfParts>
    <vt:vector size="104" baseType="lpstr">
      <vt:lpstr>5_Opulent</vt:lpstr>
      <vt:lpstr>Custom Design</vt:lpstr>
      <vt:lpstr>Sorting</vt:lpstr>
      <vt:lpstr>Introduction</vt:lpstr>
      <vt:lpstr>Introduction</vt:lpstr>
      <vt:lpstr>Introduction</vt:lpstr>
      <vt:lpstr>Introduction</vt:lpstr>
      <vt:lpstr>Introduction</vt:lpstr>
      <vt:lpstr>Bubble Sort</vt:lpstr>
      <vt:lpstr>Bubble Sort</vt:lpstr>
      <vt:lpstr>Bubble Sort</vt:lpstr>
      <vt:lpstr>Bubble Sort</vt:lpstr>
      <vt:lpstr>Bubble Sort</vt:lpstr>
      <vt:lpstr>Bubble Sort Example (First Pass)</vt:lpstr>
      <vt:lpstr>Bubble Sort Example (Second Pass)</vt:lpstr>
      <vt:lpstr>Bubble Sort Example (Third Pass)</vt:lpstr>
      <vt:lpstr>Bubble Sort Example (Fourth Pass)</vt:lpstr>
      <vt:lpstr>Bubble Sort Example (Fifth Pass)</vt:lpstr>
      <vt:lpstr>Bubble Sort Example (Sixth Pass)</vt:lpstr>
      <vt:lpstr>Bubble Sort Example (Seventh Pass)</vt:lpstr>
      <vt:lpstr>Bubble Sort</vt:lpstr>
      <vt:lpstr>Bubble Sort – output(1) worst case</vt:lpstr>
      <vt:lpstr>Bubble Sort – output(2) mixed data</vt:lpstr>
      <vt:lpstr>Bubble Sort – output(1) Best case</vt:lpstr>
      <vt:lpstr>Bubble Sort</vt:lpstr>
      <vt:lpstr>Bubble Sort – output(1) worst case</vt:lpstr>
      <vt:lpstr>Bubble Sort – output (1) best case</vt:lpstr>
      <vt:lpstr>Insertion Sort</vt:lpstr>
      <vt:lpstr>Insertion Sort</vt:lpstr>
      <vt:lpstr>Insertion Sort Example (First Pass)</vt:lpstr>
      <vt:lpstr>Insertion Sort Example (Second Pass)</vt:lpstr>
      <vt:lpstr>Insertion Sort Example (Third Pass)</vt:lpstr>
      <vt:lpstr>Insertion Sort Example (Fourth Pass)</vt:lpstr>
      <vt:lpstr>Insertion Sort Example (Fifth Pass)</vt:lpstr>
      <vt:lpstr>Insertion Sort Example (Sixth Pass)</vt:lpstr>
      <vt:lpstr>Insertion Sort Example (Sixth Pass)</vt:lpstr>
      <vt:lpstr>Insertion Sort Example (Sixth Pass)</vt:lpstr>
      <vt:lpstr>Analysis of Insertion Sort</vt:lpstr>
      <vt:lpstr>Selection Sort</vt:lpstr>
      <vt:lpstr>Selection Sort</vt:lpstr>
      <vt:lpstr>PowerPoint Presentation</vt:lpstr>
      <vt:lpstr>Selection Sort Example </vt:lpstr>
      <vt:lpstr>Selection Sort Example - continued</vt:lpstr>
      <vt:lpstr>Selection Sort vs Insertion Sort</vt:lpstr>
      <vt:lpstr>Comparisons of different sorting algorithms</vt:lpstr>
      <vt:lpstr>Merge Sort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</vt:lpstr>
      <vt:lpstr>Merge Sort</vt:lpstr>
      <vt:lpstr>Merge procedure</vt:lpstr>
      <vt:lpstr>Merge procedure</vt:lpstr>
      <vt:lpstr>Merge Sort Example (recursive Function Calls)</vt:lpstr>
      <vt:lpstr>Merge Sort Example (Merging process)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Merge Sort : Example</vt:lpstr>
      <vt:lpstr>Quick Sort</vt:lpstr>
      <vt:lpstr>Quick Sort</vt:lpstr>
      <vt:lpstr>Quick Sort</vt:lpstr>
      <vt:lpstr>PowerPoint Presentation</vt:lpstr>
      <vt:lpstr>Quick Sort – Selecting the Pivot</vt:lpstr>
      <vt:lpstr>Quick Sort – Selecting the Pivot</vt:lpstr>
      <vt:lpstr>QuickSort :Partitioning strategy  Example</vt:lpstr>
      <vt:lpstr>QuickSort :Partitioning strategy  Step 1</vt:lpstr>
      <vt:lpstr>QuickSort :Partitioning strategy   Step 1</vt:lpstr>
      <vt:lpstr>QuickSort :Partitioning strategy   Step 1</vt:lpstr>
      <vt:lpstr>QuickSort :Partitioning strategy   Step 1</vt:lpstr>
      <vt:lpstr>QuickSort :Partitioning strategy   Step 2</vt:lpstr>
      <vt:lpstr>QuickSort :Partitioning strategy   Step 2</vt:lpstr>
      <vt:lpstr>QuickSort :Partitioning strategy   Step 3</vt:lpstr>
      <vt:lpstr>QuickSort :Partitioning strategy   Step 3</vt:lpstr>
      <vt:lpstr>QuickSort :Partitioning strategy   Step 3</vt:lpstr>
      <vt:lpstr>QuickSort : Recursive calls</vt:lpstr>
      <vt:lpstr>QuickSort : Left Recursive call</vt:lpstr>
      <vt:lpstr>QuickSort : Left Recursive call Pivot Selection</vt:lpstr>
      <vt:lpstr>QuickSort : Left Recursive call Pivot Swap out</vt:lpstr>
      <vt:lpstr>QuickSort : Left Recursive call Movements</vt:lpstr>
      <vt:lpstr>QuickSort : Left Recursive call Swap</vt:lpstr>
      <vt:lpstr>QuickSort : Left Recursive call Step 1: Swap</vt:lpstr>
      <vt:lpstr>QuickSort : Left Recursive call Movements</vt:lpstr>
      <vt:lpstr>QuickSort : Left Recursive call Swap with the pivot</vt:lpstr>
      <vt:lpstr>QuickSort : Left Recursive call Swap with the pivot</vt:lpstr>
      <vt:lpstr>QuickSort :Recursive Calls</vt:lpstr>
      <vt:lpstr>QuickSort</vt:lpstr>
      <vt:lpstr>QuickSort: Core Function</vt:lpstr>
      <vt:lpstr>QuickSort: Medians</vt:lpstr>
      <vt:lpstr>QuickSort: Medians</vt:lpstr>
      <vt:lpstr>QuickSort: Medians</vt:lpstr>
      <vt:lpstr>QuickSort: Core Function</vt:lpstr>
      <vt:lpstr>QuickSort: Core Function</vt:lpstr>
      <vt:lpstr>Linear Order Sorting Algorithms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 and Queues</dc:title>
  <dc:creator>Group</dc:creator>
  <cp:lastModifiedBy>Prof. Dr. Ahmar Rashid</cp:lastModifiedBy>
  <cp:revision>491</cp:revision>
  <dcterms:created xsi:type="dcterms:W3CDTF">2011-10-06T04:15:43Z</dcterms:created>
  <dcterms:modified xsi:type="dcterms:W3CDTF">2025-10-18T09:15:58Z</dcterms:modified>
</cp:coreProperties>
</file>