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90F0A-5186-44FF-A746-49CF1EB4044A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9B549-931B-4652-B867-20AF3E187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600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90F0A-5186-44FF-A746-49CF1EB4044A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9B549-931B-4652-B867-20AF3E187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905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90F0A-5186-44FF-A746-49CF1EB4044A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9B549-931B-4652-B867-20AF3E187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169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90F0A-5186-44FF-A746-49CF1EB4044A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9B549-931B-4652-B867-20AF3E187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956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90F0A-5186-44FF-A746-49CF1EB4044A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9B549-931B-4652-B867-20AF3E187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759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90F0A-5186-44FF-A746-49CF1EB4044A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9B549-931B-4652-B867-20AF3E187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40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90F0A-5186-44FF-A746-49CF1EB4044A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9B549-931B-4652-B867-20AF3E187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388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90F0A-5186-44FF-A746-49CF1EB4044A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9B549-931B-4652-B867-20AF3E187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380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90F0A-5186-44FF-A746-49CF1EB4044A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9B549-931B-4652-B867-20AF3E187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90F0A-5186-44FF-A746-49CF1EB4044A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9B549-931B-4652-B867-20AF3E187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451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90F0A-5186-44FF-A746-49CF1EB4044A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9B549-931B-4652-B867-20AF3E187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388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1D290F0A-5186-44FF-A746-49CF1EB4044A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23B9B549-931B-4652-B867-20AF3E187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4631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6A576-AEDF-E965-E62E-CC6242890E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2868" y="1543471"/>
            <a:ext cx="9144000" cy="1146142"/>
          </a:xfrm>
        </p:spPr>
        <p:txBody>
          <a:bodyPr>
            <a:normAutofit/>
          </a:bodyPr>
          <a:lstStyle/>
          <a:p>
            <a:pPr algn="l"/>
            <a:r>
              <a:rPr lang="en-US" sz="7200" dirty="0"/>
              <a:t>8-Bit SAP-1 CPU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268A4D-C3D5-B02F-99B3-06247E85D2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2868" y="3045294"/>
            <a:ext cx="5119992" cy="1146142"/>
          </a:xfrm>
        </p:spPr>
        <p:txBody>
          <a:bodyPr/>
          <a:lstStyle/>
          <a:p>
            <a:pPr algn="l"/>
            <a:r>
              <a:rPr lang="en-US" b="1" dirty="0"/>
              <a:t>Design</a:t>
            </a:r>
            <a:r>
              <a:rPr lang="en-US" dirty="0"/>
              <a:t> and </a:t>
            </a:r>
            <a:r>
              <a:rPr lang="en-US" b="1" dirty="0"/>
              <a:t>Implementation</a:t>
            </a:r>
            <a:r>
              <a:rPr lang="en-US" dirty="0"/>
              <a:t> of a SAP-1 Architecture on FPGA using</a:t>
            </a:r>
            <a:br>
              <a:rPr lang="en-US" dirty="0"/>
            </a:br>
            <a:r>
              <a:rPr lang="en-US" dirty="0"/>
              <a:t>Verilog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84CEFE-6D85-298D-AECA-E0EDD30A85DA}"/>
              </a:ext>
            </a:extLst>
          </p:cNvPr>
          <p:cNvSpPr txBox="1"/>
          <p:nvPr/>
        </p:nvSpPr>
        <p:spPr>
          <a:xfrm>
            <a:off x="703634" y="4668198"/>
            <a:ext cx="4698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Syed Zain Ali Shah Bokhari </a:t>
            </a:r>
            <a:r>
              <a:rPr lang="en-US" dirty="0"/>
              <a:t>(2024623)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Shayan Rizwan </a:t>
            </a:r>
            <a:r>
              <a:rPr lang="en-US" b="1" dirty="0" err="1"/>
              <a:t>Yazdanie</a:t>
            </a:r>
            <a:r>
              <a:rPr lang="en-US" b="1" dirty="0"/>
              <a:t> </a:t>
            </a:r>
            <a:r>
              <a:rPr lang="en-US" dirty="0"/>
              <a:t>(2024585)</a:t>
            </a:r>
          </a:p>
        </p:txBody>
      </p:sp>
      <p:pic>
        <p:nvPicPr>
          <p:cNvPr id="8" name="Picture 7" descr="A green electronic board with many different components&#10;&#10;AI-generated content may be incorrect.">
            <a:extLst>
              <a:ext uri="{FF2B5EF4-FFF2-40B4-BE49-F238E27FC236}">
                <a16:creationId xmlns:a16="http://schemas.microsoft.com/office/drawing/2014/main" id="{5274172D-723A-D578-1A45-AA9A9B522D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5191" y="1000874"/>
            <a:ext cx="4788587" cy="39904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99A2176-34F4-2039-FCBC-2B99E6A7626E}"/>
              </a:ext>
            </a:extLst>
          </p:cNvPr>
          <p:cNvSpPr txBox="1"/>
          <p:nvPr/>
        </p:nvSpPr>
        <p:spPr>
          <a:xfrm>
            <a:off x="612842" y="811632"/>
            <a:ext cx="4114801" cy="400110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/>
              <a:t>CE221</a:t>
            </a:r>
            <a:r>
              <a:rPr lang="en-US" sz="2000" dirty="0"/>
              <a:t> – </a:t>
            </a:r>
            <a:r>
              <a:rPr lang="en-US" sz="2000" b="1" dirty="0"/>
              <a:t>Digital Logic Design</a:t>
            </a:r>
          </a:p>
        </p:txBody>
      </p:sp>
    </p:spTree>
    <p:extLst>
      <p:ext uri="{BB962C8B-B14F-4D97-AF65-F5344CB8AC3E}">
        <p14:creationId xmlns:p14="http://schemas.microsoft.com/office/powerpoint/2010/main" val="927499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361A7-7120-B2F0-44C5-A8F701E63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3EBDB-C314-6207-5BB7-CD4683F0A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project was motivated by the goal of </a:t>
            </a:r>
            <a:r>
              <a:rPr lang="en-US" b="1" dirty="0"/>
              <a:t>implementing a hardware system that mirrors the foundational architecture of modern computers. </a:t>
            </a:r>
          </a:p>
          <a:p>
            <a:pPr marL="0" indent="0">
              <a:buNone/>
            </a:pPr>
            <a:r>
              <a:rPr lang="en-US" dirty="0"/>
              <a:t>	The </a:t>
            </a:r>
            <a:r>
              <a:rPr lang="en-US" b="1" dirty="0"/>
              <a:t>SAP-1 architecture </a:t>
            </a:r>
            <a:r>
              <a:rPr lang="en-US" dirty="0"/>
              <a:t>stood out due to its simplicity, clarity, 	and strong documentation—most notably </a:t>
            </a:r>
            <a:r>
              <a:rPr lang="en-US" i="1" dirty="0"/>
              <a:t>Ben Eater’s </a:t>
            </a:r>
            <a:r>
              <a:rPr lang="en-US" dirty="0"/>
              <a:t>	breadboard implementation—which made the learning, 	design, and execution both intuitive and engaging. </a:t>
            </a:r>
          </a:p>
          <a:p>
            <a:pPr marL="0" indent="0">
              <a:buNone/>
            </a:pPr>
            <a:r>
              <a:rPr lang="en-US" dirty="0"/>
              <a:t>Additionally, this project serves as a strong portfolio piece, integrating all the core concepts studied in the Digital Logic Design (DLD) course.</a:t>
            </a:r>
          </a:p>
        </p:txBody>
      </p:sp>
    </p:spTree>
    <p:extLst>
      <p:ext uri="{BB962C8B-B14F-4D97-AF65-F5344CB8AC3E}">
        <p14:creationId xmlns:p14="http://schemas.microsoft.com/office/powerpoint/2010/main" val="701459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776A7-48A1-72F7-35C4-493AE0DFE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SAP-1?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203E7-AC13-4E14-F18D-6341F8CDF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833924"/>
          </a:xfrm>
        </p:spPr>
        <p:txBody>
          <a:bodyPr/>
          <a:lstStyle/>
          <a:p>
            <a:r>
              <a:rPr lang="en-US" dirty="0"/>
              <a:t>The Simple-As-Possible (SAP)-1 computer is a very basic model of a microprocessor explained by </a:t>
            </a:r>
            <a:r>
              <a:rPr lang="en-US" i="1" dirty="0"/>
              <a:t>Albert Paul </a:t>
            </a:r>
            <a:r>
              <a:rPr lang="en-US" i="1" dirty="0" err="1"/>
              <a:t>Malvino</a:t>
            </a:r>
            <a:r>
              <a:rPr lang="en-US" dirty="0"/>
              <a:t>. The SAP-1 design contains the basic necessities for a functional Microprocessor. Its primary purpose is to develop a basic understanding of how a microprocessor works, interacts with memory and other parts of the system like input and output. The instruction set is kept simple.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04304E-7250-B23F-325D-383B23F9BBA6}"/>
              </a:ext>
            </a:extLst>
          </p:cNvPr>
          <p:cNvSpPr txBox="1"/>
          <p:nvPr/>
        </p:nvSpPr>
        <p:spPr>
          <a:xfrm>
            <a:off x="1021403" y="4794486"/>
            <a:ext cx="7879405" cy="46166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Key DLD idea</a:t>
            </a:r>
            <a:r>
              <a:rPr lang="en-US" sz="2400" dirty="0"/>
              <a:t>: SAP-1 is a </a:t>
            </a:r>
            <a:r>
              <a:rPr lang="en-US" sz="2400" i="1" dirty="0"/>
              <a:t>synchronous sequential system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3302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FC323-3BD7-AF6E-2738-0C7830F42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168" y="365125"/>
            <a:ext cx="10515600" cy="944934"/>
          </a:xfrm>
        </p:spPr>
        <p:txBody>
          <a:bodyPr/>
          <a:lstStyle/>
          <a:p>
            <a:r>
              <a:rPr lang="en-US" dirty="0"/>
              <a:t>SAP-1 Architecture Overview</a:t>
            </a:r>
          </a:p>
        </p:txBody>
      </p:sp>
      <p:pic>
        <p:nvPicPr>
          <p:cNvPr id="5" name="Content Placeholder 4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79778338-56B2-4BB1-92F0-361F67E162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4133" y="1310059"/>
            <a:ext cx="4862679" cy="4876733"/>
          </a:xfrm>
        </p:spPr>
      </p:pic>
      <p:sp>
        <p:nvSpPr>
          <p:cNvPr id="15" name="Rectangle 5">
            <a:extLst>
              <a:ext uri="{FF2B5EF4-FFF2-40B4-BE49-F238E27FC236}">
                <a16:creationId xmlns:a16="http://schemas.microsoft.com/office/drawing/2014/main" id="{ED222A8A-F2B3-E9BE-F7BC-0E9E612D47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102" y="1537608"/>
            <a:ext cx="587218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8-bit single-bus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CPU based on SAP-1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 Unit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implemented as an </a:t>
            </a: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FSM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Register-based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datapath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(PC, MAR, IR, A, B, OUT)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Shared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8-bit tri-state bus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(no contention)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ROM-based instruction and data storage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E4F3A5-D9DB-00A0-A89A-346E687276A7}"/>
              </a:ext>
            </a:extLst>
          </p:cNvPr>
          <p:cNvSpPr txBox="1"/>
          <p:nvPr/>
        </p:nvSpPr>
        <p:spPr>
          <a:xfrm>
            <a:off x="514168" y="4241259"/>
            <a:ext cx="3513083" cy="646331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 pictorial representation of its architecture is shown on the right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71764AF4-0E0B-2627-B33E-E44B8F575435}"/>
              </a:ext>
            </a:extLst>
          </p:cNvPr>
          <p:cNvSpPr/>
          <p:nvPr/>
        </p:nvSpPr>
        <p:spPr>
          <a:xfrm>
            <a:off x="4299626" y="4416357"/>
            <a:ext cx="2295727" cy="330741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595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7EFB1-19D1-91F9-0140-B7EAB6650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8-Bit System Bus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6FC83D6-8928-6C96-C3B1-ECA26C48DB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5789" y="1690688"/>
            <a:ext cx="4608954" cy="120032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 shared 8-bit data bus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 one module drives the bus at a time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Tri-state buffers prevent bus contention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 unit enforces bus access rules</a:t>
            </a:r>
          </a:p>
        </p:txBody>
      </p:sp>
      <p:pic>
        <p:nvPicPr>
          <p:cNvPr id="6" name="Picture 5" descr="A computer screen shot of a circuit&#10;&#10;AI-generated content may be incorrect.">
            <a:extLst>
              <a:ext uri="{FF2B5EF4-FFF2-40B4-BE49-F238E27FC236}">
                <a16:creationId xmlns:a16="http://schemas.microsoft.com/office/drawing/2014/main" id="{4F9A44BF-B0E7-4B00-5459-487A60F9C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5530" y="545611"/>
            <a:ext cx="6199057" cy="50672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B676A7-331A-C355-F6C1-279E95C72F27}"/>
              </a:ext>
            </a:extLst>
          </p:cNvPr>
          <p:cNvSpPr txBox="1"/>
          <p:nvPr/>
        </p:nvSpPr>
        <p:spPr>
          <a:xfrm>
            <a:off x="6686024" y="5769550"/>
            <a:ext cx="4520240" cy="92333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Circuit-level design </a:t>
            </a:r>
            <a:r>
              <a:rPr lang="en-US" dirty="0"/>
              <a:t>of the mechanism of loading the value into the register </a:t>
            </a:r>
          </a:p>
          <a:p>
            <a:pPr algn="ctr"/>
            <a:r>
              <a:rPr lang="en-US" i="1" dirty="0"/>
              <a:t>[Made In Proteus]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837BE93A-9383-BDA5-56D3-4A2906D8F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789" y="3293593"/>
            <a:ext cx="470818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All registers are implemented using D flip-flops and operate synchronously under a single global clock to ensure coordinated data movement across the system. </a:t>
            </a:r>
          </a:p>
          <a:p>
            <a:r>
              <a:rPr lang="en-US" dirty="0"/>
              <a:t>Each register supports controlled loading and bus driving through explicit </a:t>
            </a:r>
            <a:r>
              <a:rPr lang="en-US" b="1" dirty="0"/>
              <a:t>load</a:t>
            </a:r>
            <a:r>
              <a:rPr lang="en-US" dirty="0"/>
              <a:t> and </a:t>
            </a:r>
            <a:r>
              <a:rPr lang="en-US" b="1" dirty="0"/>
              <a:t>output-enable</a:t>
            </a:r>
            <a:r>
              <a:rPr lang="en-US" dirty="0"/>
              <a:t> signals generated by the control FSM, preventing bus contention and ensuring deterministic operation. </a:t>
            </a:r>
          </a:p>
        </p:txBody>
      </p:sp>
    </p:spTree>
    <p:extLst>
      <p:ext uri="{BB962C8B-B14F-4D97-AF65-F5344CB8AC3E}">
        <p14:creationId xmlns:p14="http://schemas.microsoft.com/office/powerpoint/2010/main" val="971357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311646-8D24-0EE7-1B7A-21F19CD71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Instruction Format </a:t>
            </a:r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(8-bit)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2DBB11AE-7C63-34F0-10B5-1B7244A150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066" y="2031101"/>
            <a:ext cx="4282984" cy="351194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The instruction set of a computer are the basic operations it can perform.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The instruction set of the SAP-1 is described in table on the right.</a:t>
            </a:r>
          </a:p>
          <a:p>
            <a:pPr marL="285750" marR="0" lvl="0" indent="-28575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-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8 Bit </a:t>
            </a:r>
            <a:r>
              <a:rPr lang="en-US" altLang="en-US" b="1" dirty="0"/>
              <a:t>Instruction Code</a:t>
            </a:r>
          </a:p>
          <a:p>
            <a:pPr marL="285750" marR="0" lvl="0" indent="-28575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-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Upper nibble: opcode</a:t>
            </a:r>
          </a:p>
          <a:p>
            <a:pPr marL="285750" marR="0" lvl="0" indent="-28575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-"/>
              <a:tabLst/>
            </a:pPr>
            <a:r>
              <a:rPr lang="en-US" altLang="en-US" b="1" dirty="0"/>
              <a:t>Lower nibble: memory address</a:t>
            </a:r>
            <a:endParaRPr kumimoji="0" lang="en-US" altLang="en-US" b="1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956D9C05-7B1E-1B2C-663F-66C74E2083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5634476"/>
              </p:ext>
            </p:extLst>
          </p:nvPr>
        </p:nvGraphicFramePr>
        <p:xfrm>
          <a:off x="5987738" y="809975"/>
          <a:ext cx="5628019" cy="5005181"/>
        </p:xfrm>
        <a:graphic>
          <a:graphicData uri="http://schemas.openxmlformats.org/drawingml/2006/table">
            <a:tbl>
              <a:tblPr/>
              <a:tblGrid>
                <a:gridCol w="2463116">
                  <a:extLst>
                    <a:ext uri="{9D8B030D-6E8A-4147-A177-3AD203B41FA5}">
                      <a16:colId xmlns:a16="http://schemas.microsoft.com/office/drawing/2014/main" val="1436753056"/>
                    </a:ext>
                  </a:extLst>
                </a:gridCol>
                <a:gridCol w="3164903">
                  <a:extLst>
                    <a:ext uri="{9D8B030D-6E8A-4147-A177-3AD203B41FA5}">
                      <a16:colId xmlns:a16="http://schemas.microsoft.com/office/drawing/2014/main" val="1545468895"/>
                    </a:ext>
                  </a:extLst>
                </a:gridCol>
              </a:tblGrid>
              <a:tr h="4646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Operation</a:t>
                      </a:r>
                    </a:p>
                  </a:txBody>
                  <a:tcPr marL="105595" marR="105595" marT="52797" marB="52797" anchor="ctr">
                    <a:lnL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Description</a:t>
                      </a:r>
                    </a:p>
                  </a:txBody>
                  <a:tcPr marL="105595" marR="105595" marT="52797" marB="52797" anchor="ctr">
                    <a:lnL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79657"/>
                  </a:ext>
                </a:extLst>
              </a:tr>
              <a:tr h="781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Load</a:t>
                      </a:r>
                    </a:p>
                  </a:txBody>
                  <a:tcPr marL="105595" marR="105595" marT="52797" marB="52797" anchor="ctr">
                    <a:lnL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Load data from memory to the accumulator</a:t>
                      </a:r>
                    </a:p>
                  </a:txBody>
                  <a:tcPr marL="105595" marR="105595" marT="52797" marB="52797" anchor="ctr">
                    <a:lnL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803511"/>
                  </a:ext>
                </a:extLst>
              </a:tr>
              <a:tr h="10981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Add</a:t>
                      </a:r>
                    </a:p>
                  </a:txBody>
                  <a:tcPr marL="105595" marR="105595" marT="52797" marB="52797" anchor="ctr">
                    <a:lnL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Add data from memory to value in the accumulator</a:t>
                      </a:r>
                    </a:p>
                  </a:txBody>
                  <a:tcPr marL="105595" marR="105595" marT="52797" marB="52797" anchor="ctr">
                    <a:lnL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91374"/>
                  </a:ext>
                </a:extLst>
              </a:tr>
              <a:tr h="10981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Subtract</a:t>
                      </a:r>
                    </a:p>
                  </a:txBody>
                  <a:tcPr marL="105595" marR="105595" marT="52797" marB="52797" anchor="ctr">
                    <a:lnL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Subtract data from memory from value in the accumulator</a:t>
                      </a:r>
                    </a:p>
                  </a:txBody>
                  <a:tcPr marL="105595" marR="105595" marT="52797" marB="52797" anchor="ctr">
                    <a:lnL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5590878"/>
                  </a:ext>
                </a:extLst>
              </a:tr>
              <a:tr h="10981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Output</a:t>
                      </a:r>
                    </a:p>
                  </a:txBody>
                  <a:tcPr marL="105595" marR="105595" marT="52797" marB="52797" anchor="ctr">
                    <a:lnL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Load data from accumulator to the output register</a:t>
                      </a:r>
                    </a:p>
                  </a:txBody>
                  <a:tcPr marL="105595" marR="105595" marT="52797" marB="52797" anchor="ctr">
                    <a:lnL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081274"/>
                  </a:ext>
                </a:extLst>
              </a:tr>
              <a:tr h="4646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Halt</a:t>
                      </a:r>
                    </a:p>
                  </a:txBody>
                  <a:tcPr marL="105595" marR="105595" marT="52797" marB="52797" anchor="ctr">
                    <a:lnL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Stop processing</a:t>
                      </a:r>
                    </a:p>
                  </a:txBody>
                  <a:tcPr marL="105595" marR="105595" marT="52797" marB="52797" anchor="ctr">
                    <a:lnL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2215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8436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31F88-CC3F-51DC-4B4A-20694D2BC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ALU</a:t>
            </a:r>
            <a:r>
              <a:rPr lang="en-US" dirty="0"/>
              <a:t> Design</a:t>
            </a:r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952324A-0ED5-2A4E-4F5D-3F1EA93432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72336" y="1371218"/>
            <a:ext cx="5586573" cy="30451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726A01-2B3C-20A0-8EA5-3A394055A538}"/>
              </a:ext>
            </a:extLst>
          </p:cNvPr>
          <p:cNvSpPr txBox="1"/>
          <p:nvPr/>
        </p:nvSpPr>
        <p:spPr>
          <a:xfrm>
            <a:off x="333091" y="1838527"/>
            <a:ext cx="4756825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Instead of conditionally inverting B inside the adder, we </a:t>
            </a:r>
            <a:r>
              <a:rPr lang="en-US" b="1" dirty="0"/>
              <a:t>route B through demultiplexers and multiplexers</a:t>
            </a:r>
            <a:r>
              <a:rPr lang="en-US" dirty="0"/>
              <a:t> before the adder.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1EAA59F1-9B1F-25F1-24BC-355F3A895B2F}"/>
              </a:ext>
            </a:extLst>
          </p:cNvPr>
          <p:cNvSpPr/>
          <p:nvPr/>
        </p:nvSpPr>
        <p:spPr>
          <a:xfrm>
            <a:off x="5253109" y="2173732"/>
            <a:ext cx="856034" cy="252920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BCF80BF-7C6A-AFDC-F2F6-2169E067E918}"/>
              </a:ext>
            </a:extLst>
          </p:cNvPr>
          <p:cNvCxnSpPr/>
          <p:nvPr/>
        </p:nvCxnSpPr>
        <p:spPr>
          <a:xfrm flipH="1">
            <a:off x="5768502" y="1964987"/>
            <a:ext cx="719847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82FD0DB-5543-E445-A678-6955F969CBB6}"/>
              </a:ext>
            </a:extLst>
          </p:cNvPr>
          <p:cNvCxnSpPr/>
          <p:nvPr/>
        </p:nvCxnSpPr>
        <p:spPr>
          <a:xfrm flipV="1">
            <a:off x="5768502" y="778213"/>
            <a:ext cx="0" cy="1167319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50E3425-B3C3-07A9-63D9-8C216FD9CCCD}"/>
              </a:ext>
            </a:extLst>
          </p:cNvPr>
          <p:cNvCxnSpPr/>
          <p:nvPr/>
        </p:nvCxnSpPr>
        <p:spPr>
          <a:xfrm>
            <a:off x="5768502" y="758757"/>
            <a:ext cx="9533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BAC6163-0ADE-E7D1-F5EA-CD57F1096B6F}"/>
              </a:ext>
            </a:extLst>
          </p:cNvPr>
          <p:cNvSpPr txBox="1"/>
          <p:nvPr/>
        </p:nvSpPr>
        <p:spPr>
          <a:xfrm>
            <a:off x="6800446" y="316548"/>
            <a:ext cx="3121768" cy="92333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It is a 1-bit signal, equivalent to SU (Subtract Enable) in SAP-1.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0F8EF5-3C6A-774D-2C43-30F65D712ED1}"/>
              </a:ext>
            </a:extLst>
          </p:cNvPr>
          <p:cNvSpPr txBox="1"/>
          <p:nvPr/>
        </p:nvSpPr>
        <p:spPr>
          <a:xfrm>
            <a:off x="10000847" y="316548"/>
            <a:ext cx="1542898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0 – </a:t>
            </a:r>
            <a:r>
              <a:rPr lang="en-US" b="1" dirty="0"/>
              <a:t>A+B</a:t>
            </a:r>
          </a:p>
          <a:p>
            <a:r>
              <a:rPr lang="en-US" dirty="0"/>
              <a:t>1 – </a:t>
            </a:r>
            <a:r>
              <a:rPr lang="en-US" b="1" dirty="0"/>
              <a:t>A-B</a:t>
            </a:r>
          </a:p>
          <a:p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222DF25-42F0-6C15-2AE6-2431B16D66A6}"/>
              </a:ext>
            </a:extLst>
          </p:cNvPr>
          <p:cNvCxnSpPr/>
          <p:nvPr/>
        </p:nvCxnSpPr>
        <p:spPr>
          <a:xfrm flipH="1">
            <a:off x="5768502" y="3239311"/>
            <a:ext cx="719847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2A3884E-6DE2-8828-6813-4BE6F416A98D}"/>
              </a:ext>
            </a:extLst>
          </p:cNvPr>
          <p:cNvCxnSpPr/>
          <p:nvPr/>
        </p:nvCxnSpPr>
        <p:spPr>
          <a:xfrm flipH="1">
            <a:off x="5253109" y="3239919"/>
            <a:ext cx="51539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84279BD-DE63-B188-C821-8F36B22D87C0}"/>
                  </a:ext>
                </a:extLst>
              </p:cNvPr>
              <p:cNvSpPr txBox="1"/>
              <p:nvPr/>
            </p:nvSpPr>
            <p:spPr>
              <a:xfrm>
                <a:off x="502993" y="2985197"/>
                <a:ext cx="4668520" cy="2862322"/>
              </a:xfrm>
              <a:prstGeom prst="rect">
                <a:avLst/>
              </a:prstGeom>
              <a:solidFill>
                <a:schemeClr val="tx2"/>
              </a:solidFill>
              <a:ln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</a:rPr>
                  <a:t>Two’s Complement Logic:</a:t>
                </a: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If </a:t>
                </a:r>
                <a:r>
                  <a:rPr lang="en-US" b="1" i="1" dirty="0">
                    <a:solidFill>
                      <a:schemeClr val="bg1"/>
                    </a:solidFill>
                  </a:rPr>
                  <a:t>subtraction</a:t>
                </a:r>
                <a:r>
                  <a:rPr lang="en-US" dirty="0">
                    <a:solidFill>
                      <a:schemeClr val="bg1"/>
                    </a:solidFill>
                  </a:rPr>
                  <a:t>:</a:t>
                </a:r>
              </a:p>
              <a:p>
                <a:pPr lvl="1"/>
                <a:r>
                  <a:rPr lang="en-US" dirty="0">
                    <a:solidFill>
                      <a:schemeClr val="bg1"/>
                    </a:solidFill>
                  </a:rPr>
                  <a:t>dmux1 = B</a:t>
                </a:r>
              </a:p>
              <a:p>
                <a:pPr lvl="1"/>
                <a:r>
                  <a:rPr lang="en-US" dirty="0">
                    <a:solidFill>
                      <a:schemeClr val="bg1"/>
                    </a:solidFill>
                  </a:rPr>
                  <a:t>comp = ~B + 1</a:t>
                </a: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If </a:t>
                </a:r>
                <a:r>
                  <a:rPr lang="en-US" b="1" i="1" dirty="0">
                    <a:solidFill>
                      <a:schemeClr val="bg1"/>
                    </a:solidFill>
                  </a:rPr>
                  <a:t>addition</a:t>
                </a:r>
                <a:r>
                  <a:rPr lang="en-US" dirty="0">
                    <a:solidFill>
                      <a:schemeClr val="bg1"/>
                    </a:solidFill>
                  </a:rPr>
                  <a:t>:</a:t>
                </a:r>
              </a:p>
              <a:p>
                <a:pPr lvl="1"/>
                <a:r>
                  <a:rPr lang="en-US" dirty="0">
                    <a:solidFill>
                      <a:schemeClr val="bg1"/>
                    </a:solidFill>
                  </a:rPr>
                  <a:t>dmux1 = 0</a:t>
                </a:r>
              </a:p>
              <a:p>
                <a:pPr lvl="1"/>
                <a:r>
                  <a:rPr lang="en-US" dirty="0">
                    <a:solidFill>
                      <a:schemeClr val="bg1"/>
                    </a:solidFill>
                  </a:rPr>
                  <a:t>comp = 0</a:t>
                </a: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This explicitly implements: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=∼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84279BD-DE63-B188-C821-8F36B22D8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93" y="2985197"/>
                <a:ext cx="4668520" cy="2862322"/>
              </a:xfrm>
              <a:prstGeom prst="rect">
                <a:avLst/>
              </a:prstGeom>
              <a:blipFill>
                <a:blip r:embed="rId3"/>
                <a:stretch>
                  <a:fillRect l="-1043" t="-849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A083EE99-A1A2-C8C8-6E65-E9337AC39A06}"/>
              </a:ext>
            </a:extLst>
          </p:cNvPr>
          <p:cNvSpPr txBox="1"/>
          <p:nvPr/>
        </p:nvSpPr>
        <p:spPr>
          <a:xfrm>
            <a:off x="6272337" y="4547698"/>
            <a:ext cx="5586572" cy="1200329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</a:t>
            </a:r>
            <a:r>
              <a:rPr lang="en-US" b="1" dirty="0"/>
              <a:t>custom ALU </a:t>
            </a:r>
            <a:r>
              <a:rPr lang="en-US" dirty="0"/>
              <a:t>implements 8-bit addition and subtraction using </a:t>
            </a:r>
            <a:r>
              <a:rPr lang="en-US" b="1" dirty="0"/>
              <a:t>explicit demultiplexing </a:t>
            </a:r>
            <a:r>
              <a:rPr lang="en-US" dirty="0"/>
              <a:t>and </a:t>
            </a:r>
            <a:r>
              <a:rPr lang="en-US" b="1" dirty="0"/>
              <a:t>two’s complement logic</a:t>
            </a:r>
            <a:r>
              <a:rPr lang="en-US" dirty="0"/>
              <a:t>, with tri-state output control to support a shared SAP-1 system bus.</a:t>
            </a:r>
          </a:p>
        </p:txBody>
      </p:sp>
    </p:spTree>
    <p:extLst>
      <p:ext uri="{BB962C8B-B14F-4D97-AF65-F5344CB8AC3E}">
        <p14:creationId xmlns:p14="http://schemas.microsoft.com/office/powerpoint/2010/main" val="1059507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384</TotalTime>
  <Words>559</Words>
  <Application>Microsoft Office PowerPoint</Application>
  <PresentationFormat>Widescreen</PresentationFormat>
  <Paragraphs>60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Wingdings</vt:lpstr>
      <vt:lpstr>Office Theme</vt:lpstr>
      <vt:lpstr>8-Bit SAP-1 CPU</vt:lpstr>
      <vt:lpstr>Motivation</vt:lpstr>
      <vt:lpstr>What is SAP-1? </vt:lpstr>
      <vt:lpstr>SAP-1 Architecture Overview</vt:lpstr>
      <vt:lpstr>8-Bit System Bus</vt:lpstr>
      <vt:lpstr>Instruction Format (8-bit)</vt:lpstr>
      <vt:lpstr>ALU Design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u2024585</dc:creator>
  <cp:lastModifiedBy>u2024585</cp:lastModifiedBy>
  <cp:revision>1</cp:revision>
  <dcterms:created xsi:type="dcterms:W3CDTF">2025-12-18T21:05:46Z</dcterms:created>
  <dcterms:modified xsi:type="dcterms:W3CDTF">2025-12-19T03:30:19Z</dcterms:modified>
</cp:coreProperties>
</file>